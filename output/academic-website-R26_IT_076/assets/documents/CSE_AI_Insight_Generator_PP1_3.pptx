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9" r:id="rId3"/>
    <p:sldId id="290" r:id="rId4"/>
    <p:sldId id="257" r:id="rId5"/>
    <p:sldId id="258" r:id="rId6"/>
    <p:sldId id="262" r:id="rId7"/>
    <p:sldId id="263" r:id="rId8"/>
    <p:sldId id="264" r:id="rId9"/>
    <p:sldId id="276" r:id="rId10"/>
    <p:sldId id="295" r:id="rId11"/>
    <p:sldId id="291" r:id="rId12"/>
    <p:sldId id="286" r:id="rId13"/>
    <p:sldId id="287" r:id="rId14"/>
    <p:sldId id="288" r:id="rId15"/>
    <p:sldId id="308" r:id="rId16"/>
    <p:sldId id="309" r:id="rId17"/>
    <p:sldId id="301" r:id="rId18"/>
    <p:sldId id="266" r:id="rId19"/>
    <p:sldId id="280" r:id="rId20"/>
    <p:sldId id="302" r:id="rId21"/>
    <p:sldId id="303" r:id="rId22"/>
    <p:sldId id="304" r:id="rId23"/>
    <p:sldId id="305" r:id="rId24"/>
    <p:sldId id="306" r:id="rId25"/>
    <p:sldId id="307" r:id="rId26"/>
    <p:sldId id="267" r:id="rId27"/>
  </p:sldIdLst>
  <p:sldSz cx="9144000" cy="5143500" type="screen16x9"/>
  <p:notesSz cx="51435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530"/>
    <a:srgbClr val="0D7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1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3149F4-1BDF-425E-A3E3-1B91F519835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9351EC2-2BB7-4205-B24A-C81528101FEE}">
      <dgm:prSet/>
      <dgm:spPr/>
      <dgm:t>
        <a:bodyPr/>
        <a:lstStyle/>
        <a:p>
          <a:r>
            <a:rPr lang="en-US" b="1" i="1" dirty="0"/>
            <a:t>Sentiment and Event Driven Financial Insight Modeling</a:t>
          </a:r>
          <a:endParaRPr lang="en-US" dirty="0"/>
        </a:p>
      </dgm:t>
    </dgm:pt>
    <dgm:pt modelId="{F8B42FB2-A2A3-4321-B772-F57630BD9E22}" type="parTrans" cxnId="{20F100B3-2AFC-4B4C-92C0-D6564A5D1B8A}">
      <dgm:prSet/>
      <dgm:spPr/>
      <dgm:t>
        <a:bodyPr/>
        <a:lstStyle/>
        <a:p>
          <a:endParaRPr lang="en-US"/>
        </a:p>
      </dgm:t>
    </dgm:pt>
    <dgm:pt modelId="{D16C1679-9A01-486C-8E8F-0B9570F91FE6}" type="sibTrans" cxnId="{20F100B3-2AFC-4B4C-92C0-D6564A5D1B8A}">
      <dgm:prSet/>
      <dgm:spPr/>
      <dgm:t>
        <a:bodyPr/>
        <a:lstStyle/>
        <a:p>
          <a:endParaRPr lang="en-US"/>
        </a:p>
      </dgm:t>
    </dgm:pt>
    <dgm:pt modelId="{6406732F-91A7-4724-83E0-0908B1536FF6}">
      <dgm:prSet/>
      <dgm:spPr/>
      <dgm:t>
        <a:bodyPr/>
        <a:lstStyle/>
        <a:p>
          <a:r>
            <a:rPr lang="en-US" i="1" dirty="0"/>
            <a:t>Novelty: Context‑aware sentiment and macro‑event driven analysis for interpreting stock behavior.</a:t>
          </a:r>
          <a:endParaRPr lang="en-US" dirty="0"/>
        </a:p>
      </dgm:t>
    </dgm:pt>
    <dgm:pt modelId="{8EB60DB9-6D6B-45E8-8AA9-28F5677DCE1D}" type="parTrans" cxnId="{8B41B76D-5C25-491D-9706-DF3D81DDC8AB}">
      <dgm:prSet/>
      <dgm:spPr/>
      <dgm:t>
        <a:bodyPr/>
        <a:lstStyle/>
        <a:p>
          <a:endParaRPr lang="en-US"/>
        </a:p>
      </dgm:t>
    </dgm:pt>
    <dgm:pt modelId="{F70A5CF0-4436-4D86-A2FA-DBDF1CEA55C2}" type="sibTrans" cxnId="{8B41B76D-5C25-491D-9706-DF3D81DDC8AB}">
      <dgm:prSet/>
      <dgm:spPr/>
      <dgm:t>
        <a:bodyPr/>
        <a:lstStyle/>
        <a:p>
          <a:endParaRPr lang="en-US"/>
        </a:p>
      </dgm:t>
    </dgm:pt>
    <dgm:pt modelId="{3FFBA3BA-1F0D-4678-A629-4FA48969CD92}">
      <dgm:prSet/>
      <dgm:spPr/>
      <dgm:t>
        <a:bodyPr/>
        <a:lstStyle/>
        <a:p>
          <a:r>
            <a:rPr lang="en-US" i="1" dirty="0"/>
            <a:t>Contribution to Overall Solution: Provides sentiment and event‑based signals that explain market trends and support the system’s final investor insights.</a:t>
          </a:r>
          <a:endParaRPr lang="en-US" dirty="0"/>
        </a:p>
      </dgm:t>
    </dgm:pt>
    <dgm:pt modelId="{E3F91F56-5436-4ADB-A964-C351EC9ED1F4}" type="parTrans" cxnId="{F1B8A1DA-2A12-42EA-8027-AF4E7ED7C2DA}">
      <dgm:prSet/>
      <dgm:spPr/>
      <dgm:t>
        <a:bodyPr/>
        <a:lstStyle/>
        <a:p>
          <a:endParaRPr lang="en-US"/>
        </a:p>
      </dgm:t>
    </dgm:pt>
    <dgm:pt modelId="{0ED93D37-6ABC-446C-9B37-88A7988A3DB0}" type="sibTrans" cxnId="{F1B8A1DA-2A12-42EA-8027-AF4E7ED7C2DA}">
      <dgm:prSet/>
      <dgm:spPr/>
      <dgm:t>
        <a:bodyPr/>
        <a:lstStyle/>
        <a:p>
          <a:endParaRPr lang="en-US"/>
        </a:p>
      </dgm:t>
    </dgm:pt>
    <dgm:pt modelId="{FBCEC590-DDA6-9F4E-80A7-D0B5B503C263}" type="pres">
      <dgm:prSet presAssocID="{193149F4-1BDF-425E-A3E3-1B91F519835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BA1729-DA4F-A545-9600-2412FAA71F45}" type="pres">
      <dgm:prSet presAssocID="{39351EC2-2BB7-4205-B24A-C81528101FEE}" presName="hierRoot1" presStyleCnt="0"/>
      <dgm:spPr/>
    </dgm:pt>
    <dgm:pt modelId="{444C3C23-76B9-5340-A096-5B82811BCAB2}" type="pres">
      <dgm:prSet presAssocID="{39351EC2-2BB7-4205-B24A-C81528101FEE}" presName="composite" presStyleCnt="0"/>
      <dgm:spPr/>
    </dgm:pt>
    <dgm:pt modelId="{E996FAD3-0EF9-6E4B-8B92-0006D9F32403}" type="pres">
      <dgm:prSet presAssocID="{39351EC2-2BB7-4205-B24A-C81528101FEE}" presName="background" presStyleLbl="node0" presStyleIdx="0" presStyleCnt="3"/>
      <dgm:spPr/>
    </dgm:pt>
    <dgm:pt modelId="{D9638AEB-E103-C345-B7A0-6D707D401E74}" type="pres">
      <dgm:prSet presAssocID="{39351EC2-2BB7-4205-B24A-C81528101FEE}" presName="text" presStyleLbl="fgAcc0" presStyleIdx="0" presStyleCnt="3">
        <dgm:presLayoutVars>
          <dgm:chPref val="3"/>
        </dgm:presLayoutVars>
      </dgm:prSet>
      <dgm:spPr/>
    </dgm:pt>
    <dgm:pt modelId="{17A725EF-0474-CA47-ABCF-59AA1D246245}" type="pres">
      <dgm:prSet presAssocID="{39351EC2-2BB7-4205-B24A-C81528101FEE}" presName="hierChild2" presStyleCnt="0"/>
      <dgm:spPr/>
    </dgm:pt>
    <dgm:pt modelId="{E6A1F269-B0F8-024B-AAF3-C9F6F0CF336F}" type="pres">
      <dgm:prSet presAssocID="{6406732F-91A7-4724-83E0-0908B1536FF6}" presName="hierRoot1" presStyleCnt="0"/>
      <dgm:spPr/>
    </dgm:pt>
    <dgm:pt modelId="{D6D49499-DC24-D843-A41C-8D1EEDBB3B9E}" type="pres">
      <dgm:prSet presAssocID="{6406732F-91A7-4724-83E0-0908B1536FF6}" presName="composite" presStyleCnt="0"/>
      <dgm:spPr/>
    </dgm:pt>
    <dgm:pt modelId="{ACCFE0E6-A72D-7443-8066-FC1263BD5E31}" type="pres">
      <dgm:prSet presAssocID="{6406732F-91A7-4724-83E0-0908B1536FF6}" presName="background" presStyleLbl="node0" presStyleIdx="1" presStyleCnt="3"/>
      <dgm:spPr/>
    </dgm:pt>
    <dgm:pt modelId="{959E7324-4D79-EC48-AD65-F683FB8979FB}" type="pres">
      <dgm:prSet presAssocID="{6406732F-91A7-4724-83E0-0908B1536FF6}" presName="text" presStyleLbl="fgAcc0" presStyleIdx="1" presStyleCnt="3">
        <dgm:presLayoutVars>
          <dgm:chPref val="3"/>
        </dgm:presLayoutVars>
      </dgm:prSet>
      <dgm:spPr/>
    </dgm:pt>
    <dgm:pt modelId="{D359EDAA-A35B-5C46-9ECC-CCBCBD9711DC}" type="pres">
      <dgm:prSet presAssocID="{6406732F-91A7-4724-83E0-0908B1536FF6}" presName="hierChild2" presStyleCnt="0"/>
      <dgm:spPr/>
    </dgm:pt>
    <dgm:pt modelId="{2468EA66-FF7C-024A-9EA9-76FF98523CBF}" type="pres">
      <dgm:prSet presAssocID="{3FFBA3BA-1F0D-4678-A629-4FA48969CD92}" presName="hierRoot1" presStyleCnt="0"/>
      <dgm:spPr/>
    </dgm:pt>
    <dgm:pt modelId="{0BD9D4CF-6C0A-0040-ABCC-5DB678EF9E44}" type="pres">
      <dgm:prSet presAssocID="{3FFBA3BA-1F0D-4678-A629-4FA48969CD92}" presName="composite" presStyleCnt="0"/>
      <dgm:spPr/>
    </dgm:pt>
    <dgm:pt modelId="{8CFA9AB8-3886-0946-A056-B67F1D244F51}" type="pres">
      <dgm:prSet presAssocID="{3FFBA3BA-1F0D-4678-A629-4FA48969CD92}" presName="background" presStyleLbl="node0" presStyleIdx="2" presStyleCnt="3"/>
      <dgm:spPr/>
    </dgm:pt>
    <dgm:pt modelId="{CC81DA2D-6BA2-D940-9377-E30F9F3BDE74}" type="pres">
      <dgm:prSet presAssocID="{3FFBA3BA-1F0D-4678-A629-4FA48969CD92}" presName="text" presStyleLbl="fgAcc0" presStyleIdx="2" presStyleCnt="3">
        <dgm:presLayoutVars>
          <dgm:chPref val="3"/>
        </dgm:presLayoutVars>
      </dgm:prSet>
      <dgm:spPr/>
    </dgm:pt>
    <dgm:pt modelId="{C59AECAE-8BFE-524B-8183-0B11DBD0690E}" type="pres">
      <dgm:prSet presAssocID="{3FFBA3BA-1F0D-4678-A629-4FA48969CD92}" presName="hierChild2" presStyleCnt="0"/>
      <dgm:spPr/>
    </dgm:pt>
  </dgm:ptLst>
  <dgm:cxnLst>
    <dgm:cxn modelId="{0AAB780E-5167-3848-AC5D-4ECAECD75210}" type="presOf" srcId="{3FFBA3BA-1F0D-4678-A629-4FA48969CD92}" destId="{CC81DA2D-6BA2-D940-9377-E30F9F3BDE74}" srcOrd="0" destOrd="0" presId="urn:microsoft.com/office/officeart/2005/8/layout/hierarchy1"/>
    <dgm:cxn modelId="{F2D27A24-5718-704D-9E3D-E0F8E10C479B}" type="presOf" srcId="{193149F4-1BDF-425E-A3E3-1B91F5198353}" destId="{FBCEC590-DDA6-9F4E-80A7-D0B5B503C263}" srcOrd="0" destOrd="0" presId="urn:microsoft.com/office/officeart/2005/8/layout/hierarchy1"/>
    <dgm:cxn modelId="{C1A96865-5CAE-4B49-888F-42F42C6B642F}" type="presOf" srcId="{39351EC2-2BB7-4205-B24A-C81528101FEE}" destId="{D9638AEB-E103-C345-B7A0-6D707D401E74}" srcOrd="0" destOrd="0" presId="urn:microsoft.com/office/officeart/2005/8/layout/hierarchy1"/>
    <dgm:cxn modelId="{8B41B76D-5C25-491D-9706-DF3D81DDC8AB}" srcId="{193149F4-1BDF-425E-A3E3-1B91F5198353}" destId="{6406732F-91A7-4724-83E0-0908B1536FF6}" srcOrd="1" destOrd="0" parTransId="{8EB60DB9-6D6B-45E8-8AA9-28F5677DCE1D}" sibTransId="{F70A5CF0-4436-4D86-A2FA-DBDF1CEA55C2}"/>
    <dgm:cxn modelId="{4EF3AB81-3B2D-5545-8C01-A47C6481D3B7}" type="presOf" srcId="{6406732F-91A7-4724-83E0-0908B1536FF6}" destId="{959E7324-4D79-EC48-AD65-F683FB8979FB}" srcOrd="0" destOrd="0" presId="urn:microsoft.com/office/officeart/2005/8/layout/hierarchy1"/>
    <dgm:cxn modelId="{20F100B3-2AFC-4B4C-92C0-D6564A5D1B8A}" srcId="{193149F4-1BDF-425E-A3E3-1B91F5198353}" destId="{39351EC2-2BB7-4205-B24A-C81528101FEE}" srcOrd="0" destOrd="0" parTransId="{F8B42FB2-A2A3-4321-B772-F57630BD9E22}" sibTransId="{D16C1679-9A01-486C-8E8F-0B9570F91FE6}"/>
    <dgm:cxn modelId="{F1B8A1DA-2A12-42EA-8027-AF4E7ED7C2DA}" srcId="{193149F4-1BDF-425E-A3E3-1B91F5198353}" destId="{3FFBA3BA-1F0D-4678-A629-4FA48969CD92}" srcOrd="2" destOrd="0" parTransId="{E3F91F56-5436-4ADB-A964-C351EC9ED1F4}" sibTransId="{0ED93D37-6ABC-446C-9B37-88A7988A3DB0}"/>
    <dgm:cxn modelId="{DDF41DA6-A4A6-C448-ABDF-A59F07295D12}" type="presParOf" srcId="{FBCEC590-DDA6-9F4E-80A7-D0B5B503C263}" destId="{A9BA1729-DA4F-A545-9600-2412FAA71F45}" srcOrd="0" destOrd="0" presId="urn:microsoft.com/office/officeart/2005/8/layout/hierarchy1"/>
    <dgm:cxn modelId="{ED485AC1-D858-FF4D-82C1-A84A44754A1F}" type="presParOf" srcId="{A9BA1729-DA4F-A545-9600-2412FAA71F45}" destId="{444C3C23-76B9-5340-A096-5B82811BCAB2}" srcOrd="0" destOrd="0" presId="urn:microsoft.com/office/officeart/2005/8/layout/hierarchy1"/>
    <dgm:cxn modelId="{91186C5D-21EC-5245-864B-8D1D28475BB2}" type="presParOf" srcId="{444C3C23-76B9-5340-A096-5B82811BCAB2}" destId="{E996FAD3-0EF9-6E4B-8B92-0006D9F32403}" srcOrd="0" destOrd="0" presId="urn:microsoft.com/office/officeart/2005/8/layout/hierarchy1"/>
    <dgm:cxn modelId="{8E35E19B-DBCE-2444-A03A-A81EF3552FD4}" type="presParOf" srcId="{444C3C23-76B9-5340-A096-5B82811BCAB2}" destId="{D9638AEB-E103-C345-B7A0-6D707D401E74}" srcOrd="1" destOrd="0" presId="urn:microsoft.com/office/officeart/2005/8/layout/hierarchy1"/>
    <dgm:cxn modelId="{8114D3EA-875C-DB45-B7B5-AD7159545BAF}" type="presParOf" srcId="{A9BA1729-DA4F-A545-9600-2412FAA71F45}" destId="{17A725EF-0474-CA47-ABCF-59AA1D246245}" srcOrd="1" destOrd="0" presId="urn:microsoft.com/office/officeart/2005/8/layout/hierarchy1"/>
    <dgm:cxn modelId="{F4794537-7930-CF43-8593-9C8F61062952}" type="presParOf" srcId="{FBCEC590-DDA6-9F4E-80A7-D0B5B503C263}" destId="{E6A1F269-B0F8-024B-AAF3-C9F6F0CF336F}" srcOrd="1" destOrd="0" presId="urn:microsoft.com/office/officeart/2005/8/layout/hierarchy1"/>
    <dgm:cxn modelId="{B278A83B-3796-2948-AE07-E4D09F793C44}" type="presParOf" srcId="{E6A1F269-B0F8-024B-AAF3-C9F6F0CF336F}" destId="{D6D49499-DC24-D843-A41C-8D1EEDBB3B9E}" srcOrd="0" destOrd="0" presId="urn:microsoft.com/office/officeart/2005/8/layout/hierarchy1"/>
    <dgm:cxn modelId="{4010A7E6-D35D-2B46-AE69-2458ACE9CC63}" type="presParOf" srcId="{D6D49499-DC24-D843-A41C-8D1EEDBB3B9E}" destId="{ACCFE0E6-A72D-7443-8066-FC1263BD5E31}" srcOrd="0" destOrd="0" presId="urn:microsoft.com/office/officeart/2005/8/layout/hierarchy1"/>
    <dgm:cxn modelId="{DB055D6E-93AB-864F-B856-B81174F5CFE1}" type="presParOf" srcId="{D6D49499-DC24-D843-A41C-8D1EEDBB3B9E}" destId="{959E7324-4D79-EC48-AD65-F683FB8979FB}" srcOrd="1" destOrd="0" presId="urn:microsoft.com/office/officeart/2005/8/layout/hierarchy1"/>
    <dgm:cxn modelId="{4B1ED449-15D7-1A4B-A56C-6720A84E957D}" type="presParOf" srcId="{E6A1F269-B0F8-024B-AAF3-C9F6F0CF336F}" destId="{D359EDAA-A35B-5C46-9ECC-CCBCBD9711DC}" srcOrd="1" destOrd="0" presId="urn:microsoft.com/office/officeart/2005/8/layout/hierarchy1"/>
    <dgm:cxn modelId="{F83859CF-CB3C-8440-A1E6-52D6535AEBAC}" type="presParOf" srcId="{FBCEC590-DDA6-9F4E-80A7-D0B5B503C263}" destId="{2468EA66-FF7C-024A-9EA9-76FF98523CBF}" srcOrd="2" destOrd="0" presId="urn:microsoft.com/office/officeart/2005/8/layout/hierarchy1"/>
    <dgm:cxn modelId="{DB8DEDE7-120C-6A4F-B852-663F7A728FD3}" type="presParOf" srcId="{2468EA66-FF7C-024A-9EA9-76FF98523CBF}" destId="{0BD9D4CF-6C0A-0040-ABCC-5DB678EF9E44}" srcOrd="0" destOrd="0" presId="urn:microsoft.com/office/officeart/2005/8/layout/hierarchy1"/>
    <dgm:cxn modelId="{56CD5B31-9537-3A43-A257-2332D9C17DC0}" type="presParOf" srcId="{0BD9D4CF-6C0A-0040-ABCC-5DB678EF9E44}" destId="{8CFA9AB8-3886-0946-A056-B67F1D244F51}" srcOrd="0" destOrd="0" presId="urn:microsoft.com/office/officeart/2005/8/layout/hierarchy1"/>
    <dgm:cxn modelId="{B00538E1-234C-4340-8129-DD6E529925DA}" type="presParOf" srcId="{0BD9D4CF-6C0A-0040-ABCC-5DB678EF9E44}" destId="{CC81DA2D-6BA2-D940-9377-E30F9F3BDE74}" srcOrd="1" destOrd="0" presId="urn:microsoft.com/office/officeart/2005/8/layout/hierarchy1"/>
    <dgm:cxn modelId="{3125978C-D761-4846-B22F-4642A7970C4F}" type="presParOf" srcId="{2468EA66-FF7C-024A-9EA9-76FF98523CBF}" destId="{C59AECAE-8BFE-524B-8183-0B11DBD069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62A5D7-52C8-4144-850D-669019D0AB5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00349B-8215-4DAD-B4A5-AF5B51F24646}">
      <dgm:prSet/>
      <dgm:spPr/>
      <dgm:t>
        <a:bodyPr/>
        <a:lstStyle/>
        <a:p>
          <a:pPr>
            <a:buNone/>
          </a:pPr>
          <a:r>
            <a:rPr lang="en-US" dirty="0"/>
            <a:t>Explainable AI-Based Financial Market Risk Impact Engine</a:t>
          </a:r>
        </a:p>
      </dgm:t>
    </dgm:pt>
    <dgm:pt modelId="{D6FFE8EB-1B58-40E0-A1CF-978CF4DA2C74}" type="parTrans" cxnId="{1742B4FD-8A97-467C-AD7B-9F294BFA2E44}">
      <dgm:prSet/>
      <dgm:spPr/>
      <dgm:t>
        <a:bodyPr/>
        <a:lstStyle/>
        <a:p>
          <a:endParaRPr lang="en-US"/>
        </a:p>
      </dgm:t>
    </dgm:pt>
    <dgm:pt modelId="{5A292E41-9777-4B37-8943-65A8A43D81CA}" type="sibTrans" cxnId="{1742B4FD-8A97-467C-AD7B-9F294BFA2E44}">
      <dgm:prSet/>
      <dgm:spPr/>
      <dgm:t>
        <a:bodyPr/>
        <a:lstStyle/>
        <a:p>
          <a:endParaRPr lang="en-US"/>
        </a:p>
      </dgm:t>
    </dgm:pt>
    <dgm:pt modelId="{0D4F861C-0CEA-4CF3-8B7E-BD285FC1D32A}">
      <dgm:prSet/>
      <dgm:spPr/>
      <dgm:t>
        <a:bodyPr/>
        <a:lstStyle/>
        <a:p>
          <a:pPr>
            <a:buNone/>
          </a:pPr>
          <a:r>
            <a:rPr lang="en-US" dirty="0" err="1"/>
            <a:t>Novelty:my</a:t>
          </a:r>
          <a:r>
            <a:rPr lang="en-US" dirty="0"/>
            <a:t> component predicts stock risk and explains why that risk occurs using SHAP Explainable AI. It combines stock data with global indicators like gold price, oil price, and VIX.</a:t>
          </a:r>
        </a:p>
      </dgm:t>
    </dgm:pt>
    <dgm:pt modelId="{3A51223B-BF0D-4258-8D33-4744569612CA}" type="parTrans" cxnId="{C7CA615B-2F39-45EF-8B56-69A1A4AC09F9}">
      <dgm:prSet/>
      <dgm:spPr/>
      <dgm:t>
        <a:bodyPr/>
        <a:lstStyle/>
        <a:p>
          <a:endParaRPr lang="en-US"/>
        </a:p>
      </dgm:t>
    </dgm:pt>
    <dgm:pt modelId="{7CDA17C0-EC85-4FCB-AC53-D83A92240535}" type="sibTrans" cxnId="{C7CA615B-2F39-45EF-8B56-69A1A4AC09F9}">
      <dgm:prSet/>
      <dgm:spPr/>
      <dgm:t>
        <a:bodyPr/>
        <a:lstStyle/>
        <a:p>
          <a:endParaRPr lang="en-US"/>
        </a:p>
      </dgm:t>
    </dgm:pt>
    <dgm:pt modelId="{EA0ED2AB-EACD-4326-A3BC-71B4CD231FF0}">
      <dgm:prSet/>
      <dgm:spPr/>
      <dgm:t>
        <a:bodyPr/>
        <a:lstStyle/>
        <a:p>
          <a:r>
            <a:rPr lang="en-US" i="1" dirty="0"/>
            <a:t>Contribution to Overall Solution: My</a:t>
          </a:r>
          <a:r>
            <a:rPr lang="en-US" dirty="0"/>
            <a:t> component provides risk levels and explanation results to the dashboard. It helps users understand the stock risk clearly and make better financial decisions.</a:t>
          </a:r>
        </a:p>
      </dgm:t>
    </dgm:pt>
    <dgm:pt modelId="{6CD994B8-DA62-41CF-872F-608529B55C03}" type="parTrans" cxnId="{A65D8CDE-AD8F-45EA-8956-1B9F40A29FCF}">
      <dgm:prSet/>
      <dgm:spPr/>
      <dgm:t>
        <a:bodyPr/>
        <a:lstStyle/>
        <a:p>
          <a:endParaRPr lang="en-US"/>
        </a:p>
      </dgm:t>
    </dgm:pt>
    <dgm:pt modelId="{77226E5A-5344-4F71-B93F-0A6F1C2DE591}" type="sibTrans" cxnId="{A65D8CDE-AD8F-45EA-8956-1B9F40A29FCF}">
      <dgm:prSet/>
      <dgm:spPr/>
      <dgm:t>
        <a:bodyPr/>
        <a:lstStyle/>
        <a:p>
          <a:endParaRPr lang="en-US"/>
        </a:p>
      </dgm:t>
    </dgm:pt>
    <dgm:pt modelId="{5835AFC4-061E-0743-BC3E-5C226E20A76C}" type="pres">
      <dgm:prSet presAssocID="{D762A5D7-52C8-4144-850D-669019D0AB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182137-D8EF-1142-894B-800E2BF5132F}" type="pres">
      <dgm:prSet presAssocID="{4A00349B-8215-4DAD-B4A5-AF5B51F24646}" presName="hierRoot1" presStyleCnt="0"/>
      <dgm:spPr/>
    </dgm:pt>
    <dgm:pt modelId="{078760E8-6348-B943-9A6E-777A1798C8FB}" type="pres">
      <dgm:prSet presAssocID="{4A00349B-8215-4DAD-B4A5-AF5B51F24646}" presName="composite" presStyleCnt="0"/>
      <dgm:spPr/>
    </dgm:pt>
    <dgm:pt modelId="{97F1B56F-6E20-6D47-B15A-94E03D7FE69E}" type="pres">
      <dgm:prSet presAssocID="{4A00349B-8215-4DAD-B4A5-AF5B51F24646}" presName="background" presStyleLbl="node0" presStyleIdx="0" presStyleCnt="3"/>
      <dgm:spPr/>
    </dgm:pt>
    <dgm:pt modelId="{2BC79DDB-9C9A-0E45-B1F1-494D5B02E57C}" type="pres">
      <dgm:prSet presAssocID="{4A00349B-8215-4DAD-B4A5-AF5B51F24646}" presName="text" presStyleLbl="fgAcc0" presStyleIdx="0" presStyleCnt="3">
        <dgm:presLayoutVars>
          <dgm:chPref val="3"/>
        </dgm:presLayoutVars>
      </dgm:prSet>
      <dgm:spPr/>
    </dgm:pt>
    <dgm:pt modelId="{BB2E7B0F-4D15-C64C-B521-F6F8D1D08A00}" type="pres">
      <dgm:prSet presAssocID="{4A00349B-8215-4DAD-B4A5-AF5B51F24646}" presName="hierChild2" presStyleCnt="0"/>
      <dgm:spPr/>
    </dgm:pt>
    <dgm:pt modelId="{83DCBFAC-6436-3049-9DB3-9A6A269D820A}" type="pres">
      <dgm:prSet presAssocID="{0D4F861C-0CEA-4CF3-8B7E-BD285FC1D32A}" presName="hierRoot1" presStyleCnt="0"/>
      <dgm:spPr/>
    </dgm:pt>
    <dgm:pt modelId="{591AEC76-1E1B-634D-98F5-DDD3FFE6A72B}" type="pres">
      <dgm:prSet presAssocID="{0D4F861C-0CEA-4CF3-8B7E-BD285FC1D32A}" presName="composite" presStyleCnt="0"/>
      <dgm:spPr/>
    </dgm:pt>
    <dgm:pt modelId="{48176601-7147-FC46-A952-6731C258F54F}" type="pres">
      <dgm:prSet presAssocID="{0D4F861C-0CEA-4CF3-8B7E-BD285FC1D32A}" presName="background" presStyleLbl="node0" presStyleIdx="1" presStyleCnt="3"/>
      <dgm:spPr/>
    </dgm:pt>
    <dgm:pt modelId="{9C65E0AF-1379-4549-A7A6-31D55AED87E8}" type="pres">
      <dgm:prSet presAssocID="{0D4F861C-0CEA-4CF3-8B7E-BD285FC1D32A}" presName="text" presStyleLbl="fgAcc0" presStyleIdx="1" presStyleCnt="3">
        <dgm:presLayoutVars>
          <dgm:chPref val="3"/>
        </dgm:presLayoutVars>
      </dgm:prSet>
      <dgm:spPr/>
    </dgm:pt>
    <dgm:pt modelId="{62426432-8FEC-A146-BC89-D468328DAA9C}" type="pres">
      <dgm:prSet presAssocID="{0D4F861C-0CEA-4CF3-8B7E-BD285FC1D32A}" presName="hierChild2" presStyleCnt="0"/>
      <dgm:spPr/>
    </dgm:pt>
    <dgm:pt modelId="{42C77AF9-DCEF-FB4D-9B4E-DD65FE6356B7}" type="pres">
      <dgm:prSet presAssocID="{EA0ED2AB-EACD-4326-A3BC-71B4CD231FF0}" presName="hierRoot1" presStyleCnt="0"/>
      <dgm:spPr/>
    </dgm:pt>
    <dgm:pt modelId="{1A760F9F-ABA0-9D49-9C2C-0281268E38B1}" type="pres">
      <dgm:prSet presAssocID="{EA0ED2AB-EACD-4326-A3BC-71B4CD231FF0}" presName="composite" presStyleCnt="0"/>
      <dgm:spPr/>
    </dgm:pt>
    <dgm:pt modelId="{60842ACE-BE2C-224D-B25F-A24B68C33F09}" type="pres">
      <dgm:prSet presAssocID="{EA0ED2AB-EACD-4326-A3BC-71B4CD231FF0}" presName="background" presStyleLbl="node0" presStyleIdx="2" presStyleCnt="3"/>
      <dgm:spPr/>
    </dgm:pt>
    <dgm:pt modelId="{7FF6F1CC-96A1-3D48-A2A0-5CEBD9E14DC5}" type="pres">
      <dgm:prSet presAssocID="{EA0ED2AB-EACD-4326-A3BC-71B4CD231FF0}" presName="text" presStyleLbl="fgAcc0" presStyleIdx="2" presStyleCnt="3">
        <dgm:presLayoutVars>
          <dgm:chPref val="3"/>
        </dgm:presLayoutVars>
      </dgm:prSet>
      <dgm:spPr/>
    </dgm:pt>
    <dgm:pt modelId="{D7CFF03C-FEC1-764E-89C8-B1CEA4AAB073}" type="pres">
      <dgm:prSet presAssocID="{EA0ED2AB-EACD-4326-A3BC-71B4CD231FF0}" presName="hierChild2" presStyleCnt="0"/>
      <dgm:spPr/>
    </dgm:pt>
  </dgm:ptLst>
  <dgm:cxnLst>
    <dgm:cxn modelId="{89D5EF04-CF85-264D-AA73-6677F5240F69}" type="presOf" srcId="{EA0ED2AB-EACD-4326-A3BC-71B4CD231FF0}" destId="{7FF6F1CC-96A1-3D48-A2A0-5CEBD9E14DC5}" srcOrd="0" destOrd="0" presId="urn:microsoft.com/office/officeart/2005/8/layout/hierarchy1"/>
    <dgm:cxn modelId="{C75DF817-0AB4-6D4C-924C-0F2DA24B2265}" type="presOf" srcId="{0D4F861C-0CEA-4CF3-8B7E-BD285FC1D32A}" destId="{9C65E0AF-1379-4549-A7A6-31D55AED87E8}" srcOrd="0" destOrd="0" presId="urn:microsoft.com/office/officeart/2005/8/layout/hierarchy1"/>
    <dgm:cxn modelId="{60600924-EAD8-F448-93BA-3AEACF52316B}" type="presOf" srcId="{D762A5D7-52C8-4144-850D-669019D0AB56}" destId="{5835AFC4-061E-0743-BC3E-5C226E20A76C}" srcOrd="0" destOrd="0" presId="urn:microsoft.com/office/officeart/2005/8/layout/hierarchy1"/>
    <dgm:cxn modelId="{C7CA615B-2F39-45EF-8B56-69A1A4AC09F9}" srcId="{D762A5D7-52C8-4144-850D-669019D0AB56}" destId="{0D4F861C-0CEA-4CF3-8B7E-BD285FC1D32A}" srcOrd="1" destOrd="0" parTransId="{3A51223B-BF0D-4258-8D33-4744569612CA}" sibTransId="{7CDA17C0-EC85-4FCB-AC53-D83A92240535}"/>
    <dgm:cxn modelId="{A65D8CDE-AD8F-45EA-8956-1B9F40A29FCF}" srcId="{D762A5D7-52C8-4144-850D-669019D0AB56}" destId="{EA0ED2AB-EACD-4326-A3BC-71B4CD231FF0}" srcOrd="2" destOrd="0" parTransId="{6CD994B8-DA62-41CF-872F-608529B55C03}" sibTransId="{77226E5A-5344-4F71-B93F-0A6F1C2DE591}"/>
    <dgm:cxn modelId="{9A86D2E2-5537-304D-B464-56C2BE6A7577}" type="presOf" srcId="{4A00349B-8215-4DAD-B4A5-AF5B51F24646}" destId="{2BC79DDB-9C9A-0E45-B1F1-494D5B02E57C}" srcOrd="0" destOrd="0" presId="urn:microsoft.com/office/officeart/2005/8/layout/hierarchy1"/>
    <dgm:cxn modelId="{1742B4FD-8A97-467C-AD7B-9F294BFA2E44}" srcId="{D762A5D7-52C8-4144-850D-669019D0AB56}" destId="{4A00349B-8215-4DAD-B4A5-AF5B51F24646}" srcOrd="0" destOrd="0" parTransId="{D6FFE8EB-1B58-40E0-A1CF-978CF4DA2C74}" sibTransId="{5A292E41-9777-4B37-8943-65A8A43D81CA}"/>
    <dgm:cxn modelId="{D67351AE-B49C-C84C-982A-727AF1559618}" type="presParOf" srcId="{5835AFC4-061E-0743-BC3E-5C226E20A76C}" destId="{D6182137-D8EF-1142-894B-800E2BF5132F}" srcOrd="0" destOrd="0" presId="urn:microsoft.com/office/officeart/2005/8/layout/hierarchy1"/>
    <dgm:cxn modelId="{6D06A5D4-C200-B849-9914-69B4BAC1860E}" type="presParOf" srcId="{D6182137-D8EF-1142-894B-800E2BF5132F}" destId="{078760E8-6348-B943-9A6E-777A1798C8FB}" srcOrd="0" destOrd="0" presId="urn:microsoft.com/office/officeart/2005/8/layout/hierarchy1"/>
    <dgm:cxn modelId="{5631F216-D349-004A-B4C3-68E4576C8AC3}" type="presParOf" srcId="{078760E8-6348-B943-9A6E-777A1798C8FB}" destId="{97F1B56F-6E20-6D47-B15A-94E03D7FE69E}" srcOrd="0" destOrd="0" presId="urn:microsoft.com/office/officeart/2005/8/layout/hierarchy1"/>
    <dgm:cxn modelId="{3491CE85-AC15-9E41-B705-6236256CDEC6}" type="presParOf" srcId="{078760E8-6348-B943-9A6E-777A1798C8FB}" destId="{2BC79DDB-9C9A-0E45-B1F1-494D5B02E57C}" srcOrd="1" destOrd="0" presId="urn:microsoft.com/office/officeart/2005/8/layout/hierarchy1"/>
    <dgm:cxn modelId="{AD5EDD6D-AE90-B44D-9EB7-38314D15F214}" type="presParOf" srcId="{D6182137-D8EF-1142-894B-800E2BF5132F}" destId="{BB2E7B0F-4D15-C64C-B521-F6F8D1D08A00}" srcOrd="1" destOrd="0" presId="urn:microsoft.com/office/officeart/2005/8/layout/hierarchy1"/>
    <dgm:cxn modelId="{AE271256-4732-5844-9C1F-146CB4B48A3C}" type="presParOf" srcId="{5835AFC4-061E-0743-BC3E-5C226E20A76C}" destId="{83DCBFAC-6436-3049-9DB3-9A6A269D820A}" srcOrd="1" destOrd="0" presId="urn:microsoft.com/office/officeart/2005/8/layout/hierarchy1"/>
    <dgm:cxn modelId="{46F35FB3-40D1-654A-B2D2-1C9E23A07EFC}" type="presParOf" srcId="{83DCBFAC-6436-3049-9DB3-9A6A269D820A}" destId="{591AEC76-1E1B-634D-98F5-DDD3FFE6A72B}" srcOrd="0" destOrd="0" presId="urn:microsoft.com/office/officeart/2005/8/layout/hierarchy1"/>
    <dgm:cxn modelId="{DFFB3C07-FAEA-D545-A0BE-A84DC9DBFD79}" type="presParOf" srcId="{591AEC76-1E1B-634D-98F5-DDD3FFE6A72B}" destId="{48176601-7147-FC46-A952-6731C258F54F}" srcOrd="0" destOrd="0" presId="urn:microsoft.com/office/officeart/2005/8/layout/hierarchy1"/>
    <dgm:cxn modelId="{F5EFF600-0495-4C4F-AAE4-E79096219863}" type="presParOf" srcId="{591AEC76-1E1B-634D-98F5-DDD3FFE6A72B}" destId="{9C65E0AF-1379-4549-A7A6-31D55AED87E8}" srcOrd="1" destOrd="0" presId="urn:microsoft.com/office/officeart/2005/8/layout/hierarchy1"/>
    <dgm:cxn modelId="{B8180EEA-474A-AD43-B672-DF458204E7AA}" type="presParOf" srcId="{83DCBFAC-6436-3049-9DB3-9A6A269D820A}" destId="{62426432-8FEC-A146-BC89-D468328DAA9C}" srcOrd="1" destOrd="0" presId="urn:microsoft.com/office/officeart/2005/8/layout/hierarchy1"/>
    <dgm:cxn modelId="{1EE4F01D-A0B9-8144-A800-AC752803E346}" type="presParOf" srcId="{5835AFC4-061E-0743-BC3E-5C226E20A76C}" destId="{42C77AF9-DCEF-FB4D-9B4E-DD65FE6356B7}" srcOrd="2" destOrd="0" presId="urn:microsoft.com/office/officeart/2005/8/layout/hierarchy1"/>
    <dgm:cxn modelId="{A6446B74-EB36-6C4C-9CA9-3FB101CFA894}" type="presParOf" srcId="{42C77AF9-DCEF-FB4D-9B4E-DD65FE6356B7}" destId="{1A760F9F-ABA0-9D49-9C2C-0281268E38B1}" srcOrd="0" destOrd="0" presId="urn:microsoft.com/office/officeart/2005/8/layout/hierarchy1"/>
    <dgm:cxn modelId="{733CF13F-1D5F-D944-9A3B-D68751E0C9CB}" type="presParOf" srcId="{1A760F9F-ABA0-9D49-9C2C-0281268E38B1}" destId="{60842ACE-BE2C-224D-B25F-A24B68C33F09}" srcOrd="0" destOrd="0" presId="urn:microsoft.com/office/officeart/2005/8/layout/hierarchy1"/>
    <dgm:cxn modelId="{D826FC96-130B-1542-9509-FF854C8109A7}" type="presParOf" srcId="{1A760F9F-ABA0-9D49-9C2C-0281268E38B1}" destId="{7FF6F1CC-96A1-3D48-A2A0-5CEBD9E14DC5}" srcOrd="1" destOrd="0" presId="urn:microsoft.com/office/officeart/2005/8/layout/hierarchy1"/>
    <dgm:cxn modelId="{E80EEBC4-DE2E-B34B-8DFC-47DC75402020}" type="presParOf" srcId="{42C77AF9-DCEF-FB4D-9B4E-DD65FE6356B7}" destId="{D7CFF03C-FEC1-764E-89C8-B1CEA4AAB07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62A5D7-52C8-4144-850D-669019D0AB5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35AFC4-061E-0743-BC3E-5C226E20A76C}" type="pres">
      <dgm:prSet presAssocID="{D762A5D7-52C8-4144-850D-669019D0AB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60600924-EAD8-F448-93BA-3AEACF52316B}" type="presOf" srcId="{D762A5D7-52C8-4144-850D-669019D0AB56}" destId="{5835AFC4-061E-0743-BC3E-5C226E20A76C}" srcOrd="0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6FAD3-0EF9-6E4B-8B92-0006D9F32403}">
      <dsp:nvSpPr>
        <dsp:cNvPr id="0" name=""/>
        <dsp:cNvSpPr/>
      </dsp:nvSpPr>
      <dsp:spPr>
        <a:xfrm>
          <a:off x="0" y="37669"/>
          <a:ext cx="2499598" cy="1587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38AEB-E103-C345-B7A0-6D707D401E74}">
      <dsp:nvSpPr>
        <dsp:cNvPr id="0" name=""/>
        <dsp:cNvSpPr/>
      </dsp:nvSpPr>
      <dsp:spPr>
        <a:xfrm>
          <a:off x="277733" y="301516"/>
          <a:ext cx="2499598" cy="158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/>
            <a:t>Sentiment and Event Driven Financial Insight Modeling</a:t>
          </a:r>
          <a:endParaRPr lang="en-US" sz="1400" kern="1200" dirty="0"/>
        </a:p>
      </dsp:txBody>
      <dsp:txXfrm>
        <a:off x="324222" y="348005"/>
        <a:ext cx="2406620" cy="1494266"/>
      </dsp:txXfrm>
    </dsp:sp>
    <dsp:sp modelId="{ACCFE0E6-A72D-7443-8066-FC1263BD5E31}">
      <dsp:nvSpPr>
        <dsp:cNvPr id="0" name=""/>
        <dsp:cNvSpPr/>
      </dsp:nvSpPr>
      <dsp:spPr>
        <a:xfrm>
          <a:off x="3055064" y="37669"/>
          <a:ext cx="2499598" cy="1587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E7324-4D79-EC48-AD65-F683FB8979FB}">
      <dsp:nvSpPr>
        <dsp:cNvPr id="0" name=""/>
        <dsp:cNvSpPr/>
      </dsp:nvSpPr>
      <dsp:spPr>
        <a:xfrm>
          <a:off x="3332797" y="301516"/>
          <a:ext cx="2499598" cy="158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Novelty: Context‑aware sentiment and macro‑event driven analysis for interpreting stock behavior.</a:t>
          </a:r>
          <a:endParaRPr lang="en-US" sz="1400" kern="1200" dirty="0"/>
        </a:p>
      </dsp:txBody>
      <dsp:txXfrm>
        <a:off x="3379286" y="348005"/>
        <a:ext cx="2406620" cy="1494266"/>
      </dsp:txXfrm>
    </dsp:sp>
    <dsp:sp modelId="{8CFA9AB8-3886-0946-A056-B67F1D244F51}">
      <dsp:nvSpPr>
        <dsp:cNvPr id="0" name=""/>
        <dsp:cNvSpPr/>
      </dsp:nvSpPr>
      <dsp:spPr>
        <a:xfrm>
          <a:off x="6110128" y="37669"/>
          <a:ext cx="2499598" cy="15872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1DA2D-6BA2-D940-9377-E30F9F3BDE74}">
      <dsp:nvSpPr>
        <dsp:cNvPr id="0" name=""/>
        <dsp:cNvSpPr/>
      </dsp:nvSpPr>
      <dsp:spPr>
        <a:xfrm>
          <a:off x="6387861" y="301516"/>
          <a:ext cx="2499598" cy="158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Contribution to Overall Solution: Provides sentiment and event‑based signals that explain market trends and support the system’s final investor insights.</a:t>
          </a:r>
          <a:endParaRPr lang="en-US" sz="1400" kern="1200" dirty="0"/>
        </a:p>
      </dsp:txBody>
      <dsp:txXfrm>
        <a:off x="6434350" y="348005"/>
        <a:ext cx="2406620" cy="14942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F1B56F-6E20-6D47-B15A-94E03D7FE69E}">
      <dsp:nvSpPr>
        <dsp:cNvPr id="0" name=""/>
        <dsp:cNvSpPr/>
      </dsp:nvSpPr>
      <dsp:spPr>
        <a:xfrm>
          <a:off x="0" y="28147"/>
          <a:ext cx="2525315" cy="16035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79DDB-9C9A-0E45-B1F1-494D5B02E57C}">
      <dsp:nvSpPr>
        <dsp:cNvPr id="0" name=""/>
        <dsp:cNvSpPr/>
      </dsp:nvSpPr>
      <dsp:spPr>
        <a:xfrm>
          <a:off x="280590" y="294708"/>
          <a:ext cx="2525315" cy="16035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Explainable AI-Based Financial Market Risk Impact Engine</a:t>
          </a:r>
        </a:p>
      </dsp:txBody>
      <dsp:txXfrm>
        <a:off x="327557" y="341675"/>
        <a:ext cx="2431381" cy="1509641"/>
      </dsp:txXfrm>
    </dsp:sp>
    <dsp:sp modelId="{48176601-7147-FC46-A952-6731C258F54F}">
      <dsp:nvSpPr>
        <dsp:cNvPr id="0" name=""/>
        <dsp:cNvSpPr/>
      </dsp:nvSpPr>
      <dsp:spPr>
        <a:xfrm>
          <a:off x="3086496" y="28147"/>
          <a:ext cx="2525315" cy="16035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5E0AF-1379-4549-A7A6-31D55AED87E8}">
      <dsp:nvSpPr>
        <dsp:cNvPr id="0" name=""/>
        <dsp:cNvSpPr/>
      </dsp:nvSpPr>
      <dsp:spPr>
        <a:xfrm>
          <a:off x="3367087" y="294708"/>
          <a:ext cx="2525315" cy="16035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Novelty:my</a:t>
          </a:r>
          <a:r>
            <a:rPr lang="en-US" sz="1300" kern="1200" dirty="0"/>
            <a:t> component predicts stock risk and explains why that risk occurs using SHAP Explainable AI. It combines stock data with global indicators like gold price, oil price, and VIX.</a:t>
          </a:r>
        </a:p>
      </dsp:txBody>
      <dsp:txXfrm>
        <a:off x="3414054" y="341675"/>
        <a:ext cx="2431381" cy="1509641"/>
      </dsp:txXfrm>
    </dsp:sp>
    <dsp:sp modelId="{60842ACE-BE2C-224D-B25F-A24B68C33F09}">
      <dsp:nvSpPr>
        <dsp:cNvPr id="0" name=""/>
        <dsp:cNvSpPr/>
      </dsp:nvSpPr>
      <dsp:spPr>
        <a:xfrm>
          <a:off x="6172993" y="28147"/>
          <a:ext cx="2525315" cy="16035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6F1CC-96A1-3D48-A2A0-5CEBD9E14DC5}">
      <dsp:nvSpPr>
        <dsp:cNvPr id="0" name=""/>
        <dsp:cNvSpPr/>
      </dsp:nvSpPr>
      <dsp:spPr>
        <a:xfrm>
          <a:off x="6453584" y="294708"/>
          <a:ext cx="2525315" cy="16035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 dirty="0"/>
            <a:t>Contribution to Overall Solution: My</a:t>
          </a:r>
          <a:r>
            <a:rPr lang="en-US" sz="1300" kern="1200" dirty="0"/>
            <a:t> component provides risk levels and explanation results to the dashboard. It helps users understand the stock risk clearly and make better financial decisions.</a:t>
          </a:r>
        </a:p>
      </dsp:txBody>
      <dsp:txXfrm>
        <a:off x="6500551" y="341675"/>
        <a:ext cx="2431381" cy="15096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F6464-916B-452F-AEC5-49AE5D7AC9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D47E9-B190-4235-9276-007C4C3E4E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A5860-947F-47FB-A6A6-1737C45B07B5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BB543-7DFB-438B-AC1B-812F4C2FB2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87511-9A0B-4D2F-8FD9-9282BCEE37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2762C-6F9A-4A98-A159-A64CF4170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01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972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122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8696-6116-7633-3AA2-5A423080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9145A-26BC-9546-4578-9227E0127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F4257-3A44-FDE4-088D-3673EB42B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9EBF2-18DF-7A5F-62A7-0BB592594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30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51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E739-F613-68A3-09D4-DC4161E15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23B72-3840-80A0-2F21-E5C313597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22826-DDA5-E727-6269-16CF96D6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60162-4AA3-48DF-D419-CC8D2C82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24DEC-7BC2-A9A3-6863-777E98F8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2794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FCDB-B283-9F74-1112-2CF0B923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C662-8678-9253-2BA1-513FD93EB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2FA90-5E18-4323-0294-CCE185F7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FF777-A89E-0D4D-8CE1-7AD033D2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92ABB-4E23-A616-08C0-FDA8E06F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1542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BE7C-E902-FE6E-DE31-71047867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5C90D-3297-8C15-9A46-BFD34BB42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EB309-2F87-A48D-3468-0CF56BE2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AE546-52D4-AEE8-B11C-8C8B53A6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9DFA0-72FA-4CA5-142A-8BA821A3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237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C649-4DB3-F664-6909-9456553E4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373A6-9673-2482-E041-27091428C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7ECBF-6218-ACC1-493B-2E6AC0E8E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C1DBB-F218-B534-32A1-8F3C612B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A71F7-722B-0319-D67D-85876B3C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A8786-6CB2-2C51-E8ED-57645027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88196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6366-B69E-E9FB-C706-868FEC46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2ECF-04A4-CAD1-B16F-7AF4AB6B6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FDEE7-F0B0-2BAC-6DBB-12EBDF9DF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1057-66DC-F4F5-63B0-65C7BDE87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A34CF-EBC9-D47F-67A9-BEB756B75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4B56B-2B1E-ED0C-A5F7-485FE5FF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489D42-32F4-4D64-B1CA-B8AE52F7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B0346F-837E-AEC9-A5FC-AA460293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2571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48E0-78B0-4E5F-42E4-923F11EF3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A64E41-AB27-11EB-42BE-38852285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3C85F-6017-5E9A-05F7-A7605FA2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019DA-2FEB-1B77-D21B-08FDC6BB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10067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841D5D-851F-B2E5-219F-9883CB9C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52275-D092-DD52-196D-72169CDC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37598-6ADE-BA59-A4F9-E758AA24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6198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FC31-8310-28E3-D687-FDA5F462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D9EC2-9204-7630-7C16-A69332C8A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BD83E-CF2A-70E2-8763-614C516FC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8506E-F8AF-5633-34E4-D09C7375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E722D-437D-EB00-9959-A2B71DA4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D0DCC-D822-E6BB-5053-BD71C768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40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4834-E0D9-D09A-7FC7-06348CC47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9B4D8-DCDB-65BC-884C-8101C34B7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29B25-E191-4179-5753-6EFE5EEF7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AB36E-28E5-91B5-F6DD-A26537F0D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D255A-FEF6-EC7F-FDE5-031884BD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8F96C-6E13-8318-2007-26E22D44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34860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2DCB2-0B4E-1C99-74E2-3AA7B4EA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CAA7A-6E7C-D829-97AE-FDBC20758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2795D-D2ED-1DB3-7159-A6D0BEFF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3146E-A3AE-EA47-F1AD-E442A15C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B42CF-5569-2D22-B089-C8F566BA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07998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4FC77-8299-7D03-09ED-336E5CA63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E9AA5-AB5D-828F-036D-BCDE853FA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515F4-D700-349F-B2A1-6BC2624B8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EDFF6-FED1-D9FB-6235-7D93067A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E9395-4083-F253-3FF9-B85D9811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77124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36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71F334-B645-6541-C8F9-B41841C4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A32FD-B257-4D4D-F54D-25C2870A3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205EC-C5FB-F23A-9CB9-771FB65BA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5/10/26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A76AF-14DB-45C6-DB80-CB56C811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84922-F823-10D0-0E00-915BCEC69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45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jpeg"/><Relationship Id="rId9" Type="http://schemas.microsoft.com/office/2007/relationships/diagramDrawing" Target="../diagrams/drawing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6.jpg"/><Relationship Id="rId9" Type="http://schemas.microsoft.com/office/2007/relationships/diagramDrawing" Target="../diagrams/drawing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64592" cy="51435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"/>
            <a:ext cx="8979408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5084065"/>
            <a:ext cx="8979408" cy="594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0" y="1371601"/>
            <a:ext cx="320040" cy="1645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0" y="1828801"/>
            <a:ext cx="320040" cy="1188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0" y="1097281"/>
            <a:ext cx="32004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822961"/>
            <a:ext cx="320040" cy="2194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0" y="1371601"/>
            <a:ext cx="1700784" cy="0"/>
          </a:xfrm>
          <a:prstGeom prst="line">
            <a:avLst/>
          </a:prstGeom>
          <a:noFill/>
          <a:ln w="381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74321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E8C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· Faculty of Computing · Research Proposal Defense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704089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Stock Market</a:t>
            </a:r>
            <a:endParaRPr lang="en-US" sz="3400" dirty="0"/>
          </a:p>
          <a:p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Generator</a:t>
            </a:r>
          </a:p>
          <a:p>
            <a:r>
              <a:rPr lang="en-US" sz="3400" b="1" dirty="0">
                <a:solidFill>
                  <a:schemeClr val="bg1"/>
                </a:solidFill>
              </a:rPr>
              <a:t>(R26-IT-076)</a:t>
            </a:r>
          </a:p>
        </p:txBody>
      </p:sp>
      <p:sp>
        <p:nvSpPr>
          <p:cNvPr id="12" name="Text 10"/>
          <p:cNvSpPr/>
          <p:nvPr/>
        </p:nvSpPr>
        <p:spPr>
          <a:xfrm>
            <a:off x="365760" y="2514601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8C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Colombo Stock Exchange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1"/>
            <a:ext cx="365760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246121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 · </a:t>
            </a: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611881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Institute of Information Technology (SLIIT)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02336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EFD360-7EB4-5623-1C50-145A1EDF0B8D}"/>
              </a:ext>
            </a:extLst>
          </p:cNvPr>
          <p:cNvSpPr/>
          <p:nvPr/>
        </p:nvSpPr>
        <p:spPr>
          <a:xfrm>
            <a:off x="0" y="1"/>
            <a:ext cx="914400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B37802-1667-6477-DF54-99CAD14CCF8D}"/>
              </a:ext>
            </a:extLst>
          </p:cNvPr>
          <p:cNvSpPr/>
          <p:nvPr/>
        </p:nvSpPr>
        <p:spPr>
          <a:xfrm>
            <a:off x="0" y="822961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DF3C7D-4311-1052-1E03-10843F724FB8}"/>
              </a:ext>
            </a:extLst>
          </p:cNvPr>
          <p:cNvSpPr/>
          <p:nvPr/>
        </p:nvSpPr>
        <p:spPr>
          <a:xfrm>
            <a:off x="365760" y="9144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Supervisory Details</a:t>
            </a:r>
            <a:endParaRPr lang="en-US" sz="2400" dirty="0"/>
          </a:p>
        </p:txBody>
      </p:sp>
      <p:pic>
        <p:nvPicPr>
          <p:cNvPr id="8" name="Picture 7" descr="A person in a suit  AI-generated content may be incorrect.">
            <a:extLst>
              <a:ext uri="{FF2B5EF4-FFF2-40B4-BE49-F238E27FC236}">
                <a16:creationId xmlns:a16="http://schemas.microsoft.com/office/drawing/2014/main" id="{582139BA-BA18-CAAD-F3F9-50E05B97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10" y="974839"/>
            <a:ext cx="2765775" cy="3220423"/>
          </a:xfrm>
          <a:prstGeom prst="rect">
            <a:avLst/>
          </a:prstGeom>
        </p:spPr>
      </p:pic>
      <p:pic>
        <p:nvPicPr>
          <p:cNvPr id="12" name="Picture 11" descr="A person in a suit and tie  AI-generated content may be incorrect.">
            <a:extLst>
              <a:ext uri="{FF2B5EF4-FFF2-40B4-BE49-F238E27FC236}">
                <a16:creationId xmlns:a16="http://schemas.microsoft.com/office/drawing/2014/main" id="{1E31C99E-F092-03FB-EA1C-3E8701F64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110" y="948241"/>
            <a:ext cx="2765775" cy="32470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D53DD0-2787-71AC-DAFF-728AEAC827D4}"/>
              </a:ext>
            </a:extLst>
          </p:cNvPr>
          <p:cNvSpPr txBox="1"/>
          <p:nvPr/>
        </p:nvSpPr>
        <p:spPr>
          <a:xfrm>
            <a:off x="998522" y="4198653"/>
            <a:ext cx="2249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Supervisor</a:t>
            </a:r>
          </a:p>
          <a:p>
            <a:r>
              <a:rPr lang="en-GB" dirty="0"/>
              <a:t>Dr. Kapila Dissanayaka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CEEBA-4083-7BAA-75A2-2AD596B1C766}"/>
              </a:ext>
            </a:extLst>
          </p:cNvPr>
          <p:cNvSpPr txBox="1"/>
          <p:nvPr/>
        </p:nvSpPr>
        <p:spPr>
          <a:xfrm>
            <a:off x="5154110" y="4194524"/>
            <a:ext cx="2765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 - Supervisor</a:t>
            </a:r>
          </a:p>
          <a:p>
            <a:r>
              <a:rPr lang="en-GB" dirty="0"/>
              <a:t>Dr. Mahima Weerasinghe</a:t>
            </a:r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10735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9AB201-DBAE-2443-B84F-DBF738D5C3E4}"/>
              </a:ext>
            </a:extLst>
          </p:cNvPr>
          <p:cNvSpPr/>
          <p:nvPr/>
        </p:nvSpPr>
        <p:spPr>
          <a:xfrm>
            <a:off x="0" y="1"/>
            <a:ext cx="914400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1E574A-F040-8B3B-EA90-611BBD53032D}"/>
              </a:ext>
            </a:extLst>
          </p:cNvPr>
          <p:cNvSpPr/>
          <p:nvPr/>
        </p:nvSpPr>
        <p:spPr>
          <a:xfrm>
            <a:off x="0" y="768097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2419D5-FC76-C183-E1E4-D27ADDB6224F}"/>
              </a:ext>
            </a:extLst>
          </p:cNvPr>
          <p:cNvSpPr/>
          <p:nvPr/>
        </p:nvSpPr>
        <p:spPr>
          <a:xfrm>
            <a:off x="365760" y="9144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Team Members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E8F585-F7FC-ADFA-E593-B5CD0BD5967C}"/>
              </a:ext>
            </a:extLst>
          </p:cNvPr>
          <p:cNvGrpSpPr/>
          <p:nvPr/>
        </p:nvGrpSpPr>
        <p:grpSpPr>
          <a:xfrm>
            <a:off x="2441559" y="1560993"/>
            <a:ext cx="2047017" cy="2378569"/>
            <a:chOff x="2441558" y="1591056"/>
            <a:chExt cx="2047017" cy="23486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84E8E5-E1A6-294C-44E3-53FBF0BDF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713" t="34159" b="17757"/>
            <a:stretch>
              <a:fillRect/>
            </a:stretch>
          </p:blipFill>
          <p:spPr>
            <a:xfrm>
              <a:off x="2441558" y="1591056"/>
              <a:ext cx="2047017" cy="172723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1EF374-D424-F836-8008-6CF988B14350}"/>
                </a:ext>
              </a:extLst>
            </p:cNvPr>
            <p:cNvSpPr txBox="1"/>
            <p:nvPr/>
          </p:nvSpPr>
          <p:spPr>
            <a:xfrm>
              <a:off x="2720058" y="3301475"/>
              <a:ext cx="1660839" cy="6381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K" b="1" dirty="0"/>
                <a:t>Fernando K C S </a:t>
              </a:r>
            </a:p>
            <a:p>
              <a:r>
                <a:rPr lang="en-LK" b="1" dirty="0"/>
                <a:t>IT21471162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5CE499-B2A5-06D5-1B77-021417DD2046}"/>
              </a:ext>
            </a:extLst>
          </p:cNvPr>
          <p:cNvGrpSpPr/>
          <p:nvPr/>
        </p:nvGrpSpPr>
        <p:grpSpPr>
          <a:xfrm>
            <a:off x="4935096" y="1400024"/>
            <a:ext cx="1445260" cy="2824782"/>
            <a:chOff x="4935094" y="1400023"/>
            <a:chExt cx="1445260" cy="282478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98070A-543F-F1D3-5BA4-0217817F9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5094" y="1400023"/>
              <a:ext cx="1445260" cy="182478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5C323E-F00A-4521-7F1D-94E9B510F1D8}"/>
                </a:ext>
              </a:extLst>
            </p:cNvPr>
            <p:cNvSpPr txBox="1"/>
            <p:nvPr/>
          </p:nvSpPr>
          <p:spPr>
            <a:xfrm>
              <a:off x="5084807" y="3301475"/>
              <a:ext cx="129554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K" b="1" dirty="0"/>
                <a:t>Harithra K</a:t>
              </a:r>
            </a:p>
            <a:p>
              <a:r>
                <a:rPr lang="en-US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IT22065308</a:t>
              </a:r>
              <a:endParaRPr lang="en-LK" dirty="0"/>
            </a:p>
            <a:p>
              <a:endParaRPr lang="en-LK" b="1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6CC95F-0FB4-3F46-8DA4-2750E3A9B997}"/>
              </a:ext>
            </a:extLst>
          </p:cNvPr>
          <p:cNvGrpSpPr/>
          <p:nvPr/>
        </p:nvGrpSpPr>
        <p:grpSpPr>
          <a:xfrm>
            <a:off x="306457" y="1471157"/>
            <a:ext cx="1688583" cy="2485431"/>
            <a:chOff x="306457" y="1471156"/>
            <a:chExt cx="1688582" cy="2485431"/>
          </a:xfrm>
        </p:grpSpPr>
        <p:pic>
          <p:nvPicPr>
            <p:cNvPr id="11" name="Picture 10" descr="A person in a suit and tie  AI-generated content may be incorrect.">
              <a:extLst>
                <a:ext uri="{FF2B5EF4-FFF2-40B4-BE49-F238E27FC236}">
                  <a16:creationId xmlns:a16="http://schemas.microsoft.com/office/drawing/2014/main" id="{E40E4DDD-0187-D511-F42E-46F575A72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6457" y="1471156"/>
              <a:ext cx="1688582" cy="18391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08DB4F-B5A8-62F5-B3BE-B8F6448DF8CB}"/>
                </a:ext>
              </a:extLst>
            </p:cNvPr>
            <p:cNvSpPr txBox="1"/>
            <p:nvPr/>
          </p:nvSpPr>
          <p:spPr>
            <a:xfrm>
              <a:off x="334200" y="3310256"/>
              <a:ext cx="16608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LK" b="1" dirty="0"/>
                <a:t>Fernando K C S </a:t>
              </a:r>
            </a:p>
            <a:p>
              <a:r>
                <a:rPr lang="en-LK" b="1" dirty="0"/>
                <a:t>IT21471162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A0B5F7-5A33-AD3F-4694-4E335029F7BD}"/>
              </a:ext>
            </a:extLst>
          </p:cNvPr>
          <p:cNvGrpSpPr/>
          <p:nvPr/>
        </p:nvGrpSpPr>
        <p:grpSpPr>
          <a:xfrm>
            <a:off x="6852286" y="1506129"/>
            <a:ext cx="4583431" cy="2450459"/>
            <a:chOff x="6852285" y="1506128"/>
            <a:chExt cx="4583430" cy="245045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9868334-CB5B-DB5D-D259-0A7ED9F56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90080" y="1506128"/>
              <a:ext cx="1605280" cy="171867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2B038E-4868-83B2-9494-FFD641BE086F}"/>
                </a:ext>
              </a:extLst>
            </p:cNvPr>
            <p:cNvSpPr txBox="1"/>
            <p:nvPr/>
          </p:nvSpPr>
          <p:spPr>
            <a:xfrm>
              <a:off x="6852285" y="3310256"/>
              <a:ext cx="458343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LK" b="1" dirty="0"/>
                <a:t>T G R N S Wijesooriya</a:t>
              </a:r>
            </a:p>
            <a:p>
              <a:r>
                <a:rPr lang="en-LK" b="1" dirty="0"/>
                <a:t>IT22547088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073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1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1"/>
            <a:ext cx="256032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1"/>
            <a:ext cx="9144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43001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627633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in Sri Lanka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1"/>
            <a:ext cx="256032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86001"/>
            <a:ext cx="9144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31721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2816353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Colombo Stock Exchange — Emerging Market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1"/>
            <a:ext cx="256032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474721"/>
            <a:ext cx="9144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520441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" y="4005073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lack formal financial literacy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097281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Retail Investing</a:t>
            </a:r>
            <a:endParaRPr lang="en-US" sz="1300" dirty="0"/>
          </a:p>
          <a:p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participation in CSE driven by digital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1920241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Complexity Challenge</a:t>
            </a:r>
            <a:endParaRPr lang="en-US" sz="1300" dirty="0"/>
          </a:p>
          <a:p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trends, financial reports, news, and macro indicators are hard to interpret without expertise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2834641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 Context</a:t>
            </a:r>
            <a:endParaRPr lang="en-US" sz="1300" dirty="0"/>
          </a:p>
          <a:p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presents unique market dynamics — limited analytical tools tailored to local conditions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3749041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Explainability</a:t>
            </a:r>
            <a:endParaRPr lang="en-US" sz="1300" dirty="0"/>
          </a:p>
          <a:p>
            <a:r>
              <a:rPr lang="en-US" sz="13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show 'what' but not 'why' — investors need context-aware explanations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1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1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1"/>
            <a:ext cx="109728" cy="69494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42417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Contextual Interpretation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3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 are shown without plain-language explanations or reasoning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9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01369"/>
            <a:ext cx="109728" cy="69494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837945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1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cannot process financial statements, news, and price data simultaneously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7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96897"/>
            <a:ext cx="109728" cy="69494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633473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Emerging Market Focus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944369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are not calibrated for CSE-specific behavior, regulations, or volatility patterns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92425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392425"/>
            <a:ext cx="109728" cy="69494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429001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(XAI)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73989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 are black-box — investors cannot understand why a trend is predicted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87953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4187953"/>
            <a:ext cx="109728" cy="69494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224529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Document Analysis Gap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35425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 and earnings statements are not leveraged for retail investor insights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82296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1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1"/>
            <a:ext cx="4023360" cy="9144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0" y="1005841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 Generator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Colombo Stock Exchange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1"/>
            <a:ext cx="4206240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148841"/>
            <a:ext cx="4206240" cy="384048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194561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Modeling + XAI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1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 trend &amp; risk analysis. SHAP-based explainability shows key drivers.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1"/>
            <a:ext cx="4206240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2148841"/>
            <a:ext cx="4206240" cy="384048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2194561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Document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606041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GPT-based summarization of annual reports and earnings statements from CSE.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1"/>
            <a:ext cx="4206240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566161"/>
            <a:ext cx="4206240" cy="384048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611881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Event Modeling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023361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processes news headlines and macro events for financial sentiment signals.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566161"/>
            <a:ext cx="4206240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566161"/>
            <a:ext cx="4206240" cy="384048"/>
          </a:xfrm>
          <a:prstGeom prst="rect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3611881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4023361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MERN + Streamlit dashboard with explainable charts and plain-language outputs.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system does NOT provide buy/sell recommendations — it supports data-driven market understanding.</a:t>
            </a:r>
            <a:endParaRPr lang="en-US" sz="105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3"/>
            <a:ext cx="914400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1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7498" y="68579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1"/>
            <a:ext cx="196596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1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51" dirty="0"/>
          </a:p>
        </p:txBody>
      </p:sp>
      <p:sp>
        <p:nvSpPr>
          <p:cNvPr id="8" name="Shape 6"/>
          <p:cNvSpPr/>
          <p:nvPr/>
        </p:nvSpPr>
        <p:spPr>
          <a:xfrm>
            <a:off x="365760" y="1572769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664209"/>
            <a:ext cx="1874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Prices &amp; Volume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PDFs (Annual Reports)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 &amp; Macro Events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743201"/>
            <a:ext cx="228600" cy="0"/>
          </a:xfrm>
          <a:prstGeom prst="line">
            <a:avLst/>
          </a:prstGeom>
          <a:noFill/>
          <a:ln w="3175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005841"/>
            <a:ext cx="1965960" cy="3474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097281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51" dirty="0"/>
          </a:p>
        </p:txBody>
      </p:sp>
      <p:sp>
        <p:nvSpPr>
          <p:cNvPr id="13" name="Shape 11"/>
          <p:cNvSpPr/>
          <p:nvPr/>
        </p:nvSpPr>
        <p:spPr>
          <a:xfrm>
            <a:off x="2560320" y="1572769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1664209"/>
            <a:ext cx="1874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Trend &amp; Risk Models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Document Summarization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1"/>
            <a:ext cx="228600" cy="0"/>
          </a:xfrm>
          <a:prstGeom prst="line">
            <a:avLst/>
          </a:prstGeom>
          <a:noFill/>
          <a:ln w="3175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005841"/>
            <a:ext cx="1965960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097281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1" dirty="0"/>
          </a:p>
        </p:txBody>
      </p:sp>
      <p:sp>
        <p:nvSpPr>
          <p:cNvPr id="18" name="Shape 16"/>
          <p:cNvSpPr/>
          <p:nvPr/>
        </p:nvSpPr>
        <p:spPr>
          <a:xfrm>
            <a:off x="4754880" y="1572769"/>
            <a:ext cx="169164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664209"/>
            <a:ext cx="1874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 Analysis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743201"/>
            <a:ext cx="228600" cy="0"/>
          </a:xfrm>
          <a:prstGeom prst="line">
            <a:avLst/>
          </a:prstGeom>
          <a:noFill/>
          <a:ln w="3175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12280" y="1005841"/>
            <a:ext cx="1965960" cy="34747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1097281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b="1" kern="0" spc="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1" dirty="0"/>
          </a:p>
        </p:txBody>
      </p:sp>
      <p:sp>
        <p:nvSpPr>
          <p:cNvPr id="23" name="Shape 21"/>
          <p:cNvSpPr/>
          <p:nvPr/>
        </p:nvSpPr>
        <p:spPr>
          <a:xfrm>
            <a:off x="6949440" y="1572769"/>
            <a:ext cx="1691640" cy="274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0" y="1664209"/>
            <a:ext cx="1874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Visualizations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Investor-Friendly Reports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645153"/>
            <a:ext cx="8686800" cy="3657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663441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dirty="0">
                <a:solidFill>
                  <a:srgbClr val="E8C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 Python · Scikit-learn · SHAP · HuggingFace Transformers · OpenAI API · MERN Stack · Streamlit</a:t>
            </a:r>
            <a:endParaRPr lang="en-US" sz="105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1"/>
            <a:ext cx="9144000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Components &amp; Contributions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1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1"/>
            <a:ext cx="4206240" cy="4572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69849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1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Market Modeling &amp; Explainable AI</a:t>
            </a:r>
            <a:endParaRPr lang="en-US" sz="1251" dirty="0"/>
          </a:p>
        </p:txBody>
      </p:sp>
      <p:sp>
        <p:nvSpPr>
          <p:cNvPr id="9" name="Text 7"/>
          <p:cNvSpPr/>
          <p:nvPr/>
        </p:nvSpPr>
        <p:spPr>
          <a:xfrm>
            <a:off x="411480" y="1527049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Random Forest for price trend prediction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to explain model outputs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and anomaly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1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05841"/>
            <a:ext cx="420624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69849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Financial Document Understanding</a:t>
            </a:r>
            <a:endParaRPr lang="en-US" sz="1251" dirty="0"/>
          </a:p>
        </p:txBody>
      </p:sp>
      <p:sp>
        <p:nvSpPr>
          <p:cNvPr id="13" name="Text 11"/>
          <p:cNvSpPr/>
          <p:nvPr/>
        </p:nvSpPr>
        <p:spPr>
          <a:xfrm>
            <a:off x="4846320" y="1527049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of CSE annual reports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summarization (key metrics extraction)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Question-answering over financial documents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1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1"/>
            <a:ext cx="4206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990089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Sentiment &amp; Event-Driven Modeling</a:t>
            </a:r>
            <a:endParaRPr lang="en-US" sz="1251" dirty="0"/>
          </a:p>
        </p:txBody>
      </p:sp>
      <p:sp>
        <p:nvSpPr>
          <p:cNvPr id="17" name="Text 15"/>
          <p:cNvSpPr/>
          <p:nvPr/>
        </p:nvSpPr>
        <p:spPr>
          <a:xfrm>
            <a:off x="411480" y="3447289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for news article classification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Macro-economic event impact analysis</a:t>
            </a:r>
            <a:endParaRPr lang="en-US" sz="1100" dirty="0"/>
          </a:p>
          <a:p>
            <a:pPr marL="342891" indent="-342891">
              <a:buSzPct val="100000"/>
              <a:buChar char="•"/>
            </a:pPr>
            <a:r>
              <a:rPr lang="en-US" sz="11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sentiment indicators for CSE stocks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1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1"/>
            <a:ext cx="420624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46320" y="2990089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250" dirty="0">
                <a:solidFill>
                  <a:schemeClr val="bg1"/>
                </a:solidFill>
              </a:rPr>
              <a:t>Explainable AI-Based Financial Market Risk Impact     Engine</a:t>
            </a:r>
          </a:p>
        </p:txBody>
      </p:sp>
      <p:sp>
        <p:nvSpPr>
          <p:cNvPr id="21" name="Text 19"/>
          <p:cNvSpPr/>
          <p:nvPr/>
        </p:nvSpPr>
        <p:spPr>
          <a:xfrm>
            <a:off x="4732020" y="3458769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Predicts stock market risk level as LOW, MEDIUM, or HIGH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Uses stock data with global indicators such as gold price, oil price, and VIX index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Applies Random Forest / LSTM for risk prediction and trend analysis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Uses SHAP Explainable AI to identify the main factors affecting the risk level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Provides simple explanations and visual insights for user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24E20EA-DE3E-47DF-A34D-DAB0A5F4530B}"/>
              </a:ext>
            </a:extLst>
          </p:cNvPr>
          <p:cNvGrpSpPr/>
          <p:nvPr/>
        </p:nvGrpSpPr>
        <p:grpSpPr>
          <a:xfrm>
            <a:off x="0" y="1"/>
            <a:ext cx="9144000" cy="308864"/>
            <a:chOff x="0" y="0"/>
            <a:chExt cx="9144000" cy="308864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254000"/>
            </a:xfrm>
            <a:prstGeom prst="rect">
              <a:avLst/>
            </a:prstGeom>
            <a:solidFill>
              <a:srgbClr val="0D1B40"/>
            </a:solidFill>
            <a:ln w="12700">
              <a:solidFill>
                <a:srgbClr val="0D1B4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254000"/>
              <a:ext cx="9144000" cy="54864"/>
            </a:xfrm>
            <a:prstGeom prst="rect">
              <a:avLst/>
            </a:prstGeom>
            <a:solidFill>
              <a:srgbClr val="C8A84B"/>
            </a:solidFill>
            <a:ln w="12700">
              <a:solidFill>
                <a:srgbClr val="C8A84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 3"/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2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AF9F58-4795-A629-AD38-67E84598E7A7}"/>
              </a:ext>
            </a:extLst>
          </p:cNvPr>
          <p:cNvGrpSpPr/>
          <p:nvPr/>
        </p:nvGrpSpPr>
        <p:grpSpPr>
          <a:xfrm>
            <a:off x="165101" y="4607850"/>
            <a:ext cx="8887460" cy="409549"/>
            <a:chOff x="165100" y="4607849"/>
            <a:chExt cx="7556500" cy="409549"/>
          </a:xfrm>
        </p:grpSpPr>
        <p:sp>
          <p:nvSpPr>
            <p:cNvPr id="24" name="Text 22"/>
            <p:cNvSpPr/>
            <p:nvPr/>
          </p:nvSpPr>
          <p:spPr>
            <a:xfrm>
              <a:off x="2501900" y="4816289"/>
              <a:ext cx="5219700" cy="1464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b="1" dirty="0">
                  <a:solidFill>
                    <a:srgbClr val="0D1B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IT21296482 		R26-IT-076		 16.03.2026        </a:t>
              </a:r>
              <a:endParaRPr lang="en-US" sz="1100" b="1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BE475FB-CE05-4D4B-B635-1DB7F0D64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100" y="4607849"/>
              <a:ext cx="2150792" cy="409549"/>
            </a:xfrm>
            <a:prstGeom prst="rect">
              <a:avLst/>
            </a:prstGeom>
          </p:spPr>
        </p:pic>
      </p:grpSp>
      <p:sp>
        <p:nvSpPr>
          <p:cNvPr id="28" name="Title 4">
            <a:extLst>
              <a:ext uri="{FF2B5EF4-FFF2-40B4-BE49-F238E27FC236}">
                <a16:creationId xmlns:a16="http://schemas.microsoft.com/office/drawing/2014/main" id="{3585BA2C-C471-4D6C-9F71-D6E44C0BEDB4}"/>
              </a:ext>
            </a:extLst>
          </p:cNvPr>
          <p:cNvSpPr txBox="1">
            <a:spLocks/>
          </p:cNvSpPr>
          <p:nvPr/>
        </p:nvSpPr>
        <p:spPr>
          <a:xfrm>
            <a:off x="0" y="446662"/>
            <a:ext cx="10363200" cy="75542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0A1530"/>
                </a:solidFill>
                <a:latin typeface="+mn-lt"/>
              </a:rPr>
              <a:t>Samarathunga A H S |IT21296482</a:t>
            </a:r>
          </a:p>
        </p:txBody>
      </p:sp>
      <p:pic>
        <p:nvPicPr>
          <p:cNvPr id="7" name="Picture 6" descr="A person in a suit and tie  AI-generated content may be incorrect.">
            <a:extLst>
              <a:ext uri="{FF2B5EF4-FFF2-40B4-BE49-F238E27FC236}">
                <a16:creationId xmlns:a16="http://schemas.microsoft.com/office/drawing/2014/main" id="{84877E92-675B-392D-D4C1-F5825A7C1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964" y="446662"/>
            <a:ext cx="1330036" cy="158736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ADECE1C-718B-C10C-3980-D11637F3628D}"/>
              </a:ext>
            </a:extLst>
          </p:cNvPr>
          <p:cNvSpPr/>
          <p:nvPr/>
        </p:nvSpPr>
        <p:spPr>
          <a:xfrm>
            <a:off x="165102" y="2448912"/>
            <a:ext cx="2499599" cy="1587244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D05C23-D077-318F-D2B7-63D738D6993E}"/>
              </a:ext>
            </a:extLst>
          </p:cNvPr>
          <p:cNvGrpSpPr/>
          <p:nvPr/>
        </p:nvGrpSpPr>
        <p:grpSpPr>
          <a:xfrm>
            <a:off x="442834" y="2712757"/>
            <a:ext cx="2499599" cy="1587244"/>
            <a:chOff x="277733" y="301515"/>
            <a:chExt cx="2499598" cy="1587244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FF76F5F-A378-A620-2E11-4FC14ACB1674}"/>
                </a:ext>
              </a:extLst>
            </p:cNvPr>
            <p:cNvSpPr/>
            <p:nvPr/>
          </p:nvSpPr>
          <p:spPr>
            <a:xfrm>
              <a:off x="277733" y="301515"/>
              <a:ext cx="2499598" cy="158724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LK"/>
            </a:p>
          </p:txBody>
        </p:sp>
        <p:sp>
          <p:nvSpPr>
            <p:cNvPr id="20" name="Rounded Rectangle 5">
              <a:extLst>
                <a:ext uri="{FF2B5EF4-FFF2-40B4-BE49-F238E27FC236}">
                  <a16:creationId xmlns:a16="http://schemas.microsoft.com/office/drawing/2014/main" id="{C49854CA-45A4-4D4A-F204-69924D36DCBE}"/>
                </a:ext>
              </a:extLst>
            </p:cNvPr>
            <p:cNvSpPr txBox="1"/>
            <p:nvPr/>
          </p:nvSpPr>
          <p:spPr>
            <a:xfrm>
              <a:off x="324222" y="348004"/>
              <a:ext cx="2406620" cy="14942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57151" rIns="57151" bIns="57151" numCol="1" spcCol="1270" anchor="ctr" anchorCtr="0">
              <a:noAutofit/>
            </a:bodyPr>
            <a:lstStyle/>
            <a:p>
              <a:pPr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00" b="1" i="1" dirty="0"/>
                <a:t>Market Modeling and Explainable AI Insight Generation</a:t>
              </a: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E865E5-3333-2328-9518-F29ECCF027FD}"/>
              </a:ext>
            </a:extLst>
          </p:cNvPr>
          <p:cNvSpPr/>
          <p:nvPr/>
        </p:nvSpPr>
        <p:spPr>
          <a:xfrm>
            <a:off x="3220166" y="2448912"/>
            <a:ext cx="2499599" cy="1587244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D8C6E7-9B7F-FA73-7CAF-ECDED4730A40}"/>
              </a:ext>
            </a:extLst>
          </p:cNvPr>
          <p:cNvGrpSpPr/>
          <p:nvPr/>
        </p:nvGrpSpPr>
        <p:grpSpPr>
          <a:xfrm>
            <a:off x="3497898" y="2712757"/>
            <a:ext cx="2499599" cy="1587244"/>
            <a:chOff x="3332797" y="301515"/>
            <a:chExt cx="2499598" cy="1587244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64490F6A-8C39-151F-D85F-4D692597FF27}"/>
                </a:ext>
              </a:extLst>
            </p:cNvPr>
            <p:cNvSpPr/>
            <p:nvPr/>
          </p:nvSpPr>
          <p:spPr>
            <a:xfrm>
              <a:off x="3332797" y="301515"/>
              <a:ext cx="2499598" cy="158724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LK"/>
            </a:p>
          </p:txBody>
        </p:sp>
        <p:sp>
          <p:nvSpPr>
            <p:cNvPr id="18" name="Rounded Rectangle 8">
              <a:extLst>
                <a:ext uri="{FF2B5EF4-FFF2-40B4-BE49-F238E27FC236}">
                  <a16:creationId xmlns:a16="http://schemas.microsoft.com/office/drawing/2014/main" id="{B2CF9CC8-CFAD-79EE-E484-6A7E861D4F07}"/>
                </a:ext>
              </a:extLst>
            </p:cNvPr>
            <p:cNvSpPr txBox="1"/>
            <p:nvPr/>
          </p:nvSpPr>
          <p:spPr>
            <a:xfrm>
              <a:off x="3379286" y="348004"/>
              <a:ext cx="2406620" cy="14942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57151" rIns="57151" bIns="57151" numCol="1" spcCol="1270" anchor="ctr" anchorCtr="0">
              <a:noAutofit/>
            </a:bodyPr>
            <a:lstStyle/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i="1" dirty="0"/>
                <a:t>Novelty: Integrates machine learning with Explainable AI to analyze stock market trends and provide transparent, interpretable insights instead of black-box predictions.</a:t>
              </a:r>
            </a:p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500" dirty="0"/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E5888E0-EFC2-C5A2-0591-21B43C81CFCA}"/>
              </a:ext>
            </a:extLst>
          </p:cNvPr>
          <p:cNvSpPr/>
          <p:nvPr/>
        </p:nvSpPr>
        <p:spPr>
          <a:xfrm>
            <a:off x="6275230" y="2448912"/>
            <a:ext cx="2499599" cy="1587244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DA5287-6DAB-FD69-CA3A-C4D5C83794D9}"/>
              </a:ext>
            </a:extLst>
          </p:cNvPr>
          <p:cNvGrpSpPr/>
          <p:nvPr/>
        </p:nvGrpSpPr>
        <p:grpSpPr>
          <a:xfrm>
            <a:off x="6552962" y="2712757"/>
            <a:ext cx="2499599" cy="1587244"/>
            <a:chOff x="6387861" y="301515"/>
            <a:chExt cx="2499598" cy="158724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4F43665-01BC-EDF5-6984-411EFF971398}"/>
                </a:ext>
              </a:extLst>
            </p:cNvPr>
            <p:cNvSpPr/>
            <p:nvPr/>
          </p:nvSpPr>
          <p:spPr>
            <a:xfrm>
              <a:off x="6387861" y="301515"/>
              <a:ext cx="2499598" cy="158724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LK"/>
            </a:p>
          </p:txBody>
        </p:sp>
        <p:sp>
          <p:nvSpPr>
            <p:cNvPr id="16" name="Rounded Rectangle 11">
              <a:extLst>
                <a:ext uri="{FF2B5EF4-FFF2-40B4-BE49-F238E27FC236}">
                  <a16:creationId xmlns:a16="http://schemas.microsoft.com/office/drawing/2014/main" id="{4C32F3E6-78AE-A6D8-E2F1-825C253E762B}"/>
                </a:ext>
              </a:extLst>
            </p:cNvPr>
            <p:cNvSpPr txBox="1"/>
            <p:nvPr/>
          </p:nvSpPr>
          <p:spPr>
            <a:xfrm>
              <a:off x="6434350" y="348004"/>
              <a:ext cx="2406620" cy="14942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57151" rIns="57151" bIns="57151" numCol="1" spcCol="1270" anchor="ctr" anchorCtr="0">
              <a:noAutofit/>
            </a:bodyPr>
            <a:lstStyle/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i="1" dirty="0"/>
                <a:t>Analyzes historical market data (prices, volumes, indicators) to</a:t>
              </a:r>
            </a:p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i="1" dirty="0"/>
                <a:t> identify patterns and risk signals, </a:t>
              </a:r>
            </a:p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i="1" dirty="0"/>
                <a:t>supporting other </a:t>
              </a:r>
            </a:p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i="1" dirty="0"/>
                <a:t>components to generate clear and</a:t>
              </a:r>
            </a:p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i="1" dirty="0"/>
                <a:t> data-driven investment insights for </a:t>
              </a:r>
            </a:p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i="1" dirty="0"/>
                <a:t>investors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7558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FA1915-697D-3AC0-4429-C76E91F990D3}"/>
              </a:ext>
            </a:extLst>
          </p:cNvPr>
          <p:cNvSpPr txBox="1"/>
          <p:nvPr/>
        </p:nvSpPr>
        <p:spPr>
          <a:xfrm>
            <a:off x="1808583" y="335179"/>
            <a:ext cx="5526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Market Modeling and Explainable AI Insight Generation</a:t>
            </a:r>
          </a:p>
          <a:p>
            <a:endParaRPr lang="en-LK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BBEF4F0-2293-A5B8-1B0A-49E2B6CA6B31}"/>
              </a:ext>
            </a:extLst>
          </p:cNvPr>
          <p:cNvGrpSpPr/>
          <p:nvPr/>
        </p:nvGrpSpPr>
        <p:grpSpPr>
          <a:xfrm>
            <a:off x="14515" y="13841"/>
            <a:ext cx="9144000" cy="308864"/>
            <a:chOff x="0" y="0"/>
            <a:chExt cx="9144000" cy="308864"/>
          </a:xfrm>
        </p:grpSpPr>
        <p:sp>
          <p:nvSpPr>
            <p:cNvPr id="20" name="Shape 0">
              <a:extLst>
                <a:ext uri="{FF2B5EF4-FFF2-40B4-BE49-F238E27FC236}">
                  <a16:creationId xmlns:a16="http://schemas.microsoft.com/office/drawing/2014/main" id="{FF903B3E-F5A6-A5B2-7D85-4934C21FC739}"/>
                </a:ext>
              </a:extLst>
            </p:cNvPr>
            <p:cNvSpPr/>
            <p:nvPr/>
          </p:nvSpPr>
          <p:spPr>
            <a:xfrm>
              <a:off x="0" y="0"/>
              <a:ext cx="9144000" cy="254000"/>
            </a:xfrm>
            <a:prstGeom prst="rect">
              <a:avLst/>
            </a:prstGeom>
            <a:solidFill>
              <a:srgbClr val="0D1B40"/>
            </a:solidFill>
            <a:ln w="12700">
              <a:solidFill>
                <a:srgbClr val="0D1B4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748DB35E-8C5D-D626-D90C-10483F8790A6}"/>
                </a:ext>
              </a:extLst>
            </p:cNvPr>
            <p:cNvSpPr/>
            <p:nvPr/>
          </p:nvSpPr>
          <p:spPr>
            <a:xfrm>
              <a:off x="0" y="254000"/>
              <a:ext cx="9144000" cy="54864"/>
            </a:xfrm>
            <a:prstGeom prst="rect">
              <a:avLst/>
            </a:prstGeom>
            <a:solidFill>
              <a:srgbClr val="C8A84B"/>
            </a:solidFill>
            <a:ln w="12700">
              <a:solidFill>
                <a:srgbClr val="C8A84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1A1A3AD-2A46-D71C-0E14-F72FE3204A7A}"/>
              </a:ext>
            </a:extLst>
          </p:cNvPr>
          <p:cNvGrpSpPr/>
          <p:nvPr/>
        </p:nvGrpSpPr>
        <p:grpSpPr>
          <a:xfrm>
            <a:off x="204916" y="4700383"/>
            <a:ext cx="8841387" cy="393891"/>
            <a:chOff x="165100" y="4607849"/>
            <a:chExt cx="7556500" cy="409549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46813B71-9C4D-6E97-11D7-12B8C3303AFF}"/>
                </a:ext>
              </a:extLst>
            </p:cNvPr>
            <p:cNvSpPr/>
            <p:nvPr/>
          </p:nvSpPr>
          <p:spPr>
            <a:xfrm>
              <a:off x="2501900" y="4816289"/>
              <a:ext cx="5219700" cy="1464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b="1" dirty="0">
                  <a:solidFill>
                    <a:srgbClr val="0D1B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IT21296482 		R26-IT-076		 16.03.2026        </a:t>
              </a:r>
              <a:endParaRPr lang="en-US" sz="1100" b="1" dirty="0"/>
            </a:p>
          </p:txBody>
        </p:sp>
        <p:pic>
          <p:nvPicPr>
            <p:cNvPr id="25" name="Picture 24" descr="A close up of a sign  AI-generated content may be incorrect.">
              <a:extLst>
                <a:ext uri="{FF2B5EF4-FFF2-40B4-BE49-F238E27FC236}">
                  <a16:creationId xmlns:a16="http://schemas.microsoft.com/office/drawing/2014/main" id="{56EEDB01-2C22-4EE6-6A02-89B44564E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100" y="4607849"/>
              <a:ext cx="2150792" cy="4095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5547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D8EF-4E64-CCE6-47AE-7D45E703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7B773C5-749D-59E6-D066-EBD4EF15E832}"/>
              </a:ext>
            </a:extLst>
          </p:cNvPr>
          <p:cNvGrpSpPr/>
          <p:nvPr/>
        </p:nvGrpSpPr>
        <p:grpSpPr>
          <a:xfrm>
            <a:off x="0" y="1"/>
            <a:ext cx="9144000" cy="308864"/>
            <a:chOff x="0" y="0"/>
            <a:chExt cx="9144000" cy="308864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EC29DDD9-05FD-4836-DD2A-411064FA46B7}"/>
                </a:ext>
              </a:extLst>
            </p:cNvPr>
            <p:cNvSpPr/>
            <p:nvPr/>
          </p:nvSpPr>
          <p:spPr>
            <a:xfrm>
              <a:off x="0" y="0"/>
              <a:ext cx="9144000" cy="254000"/>
            </a:xfrm>
            <a:prstGeom prst="rect">
              <a:avLst/>
            </a:prstGeom>
            <a:solidFill>
              <a:srgbClr val="0D1B40"/>
            </a:solidFill>
            <a:ln w="12700">
              <a:solidFill>
                <a:srgbClr val="0D1B4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D5678FFC-6106-1C67-60B4-D94A3B50AE62}"/>
                </a:ext>
              </a:extLst>
            </p:cNvPr>
            <p:cNvSpPr/>
            <p:nvPr/>
          </p:nvSpPr>
          <p:spPr>
            <a:xfrm>
              <a:off x="0" y="254000"/>
              <a:ext cx="9144000" cy="54864"/>
            </a:xfrm>
            <a:prstGeom prst="rect">
              <a:avLst/>
            </a:prstGeom>
            <a:solidFill>
              <a:srgbClr val="C8A84B"/>
            </a:solidFill>
            <a:ln w="12700">
              <a:solidFill>
                <a:srgbClr val="C8A84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89ED77DE-C7A7-048E-D37D-9DEC2CA26F7E}"/>
              </a:ext>
            </a:extLst>
          </p:cNvPr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2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4BAA7ED-CA26-475F-3D35-07042504A9E1}"/>
              </a:ext>
            </a:extLst>
          </p:cNvPr>
          <p:cNvSpPr/>
          <p:nvPr/>
        </p:nvSpPr>
        <p:spPr>
          <a:xfrm>
            <a:off x="2501901" y="4816290"/>
            <a:ext cx="5219700" cy="14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IT21471162 	                                    R26-IT-076		 16.03.2026        </a:t>
            </a:r>
            <a:endParaRPr lang="en-US" sz="11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391C316-3232-F808-7DFE-A4E6AE2F3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" y="4607850"/>
            <a:ext cx="2150792" cy="409549"/>
          </a:xfrm>
          <a:prstGeom prst="rect">
            <a:avLst/>
          </a:prstGeom>
        </p:spPr>
      </p:pic>
      <p:sp>
        <p:nvSpPr>
          <p:cNvPr id="28" name="Title 4">
            <a:extLst>
              <a:ext uri="{FF2B5EF4-FFF2-40B4-BE49-F238E27FC236}">
                <a16:creationId xmlns:a16="http://schemas.microsoft.com/office/drawing/2014/main" id="{0AAAD5C5-865B-2B34-2BAD-B8866EE51FA3}"/>
              </a:ext>
            </a:extLst>
          </p:cNvPr>
          <p:cNvSpPr txBox="1">
            <a:spLocks/>
          </p:cNvSpPr>
          <p:nvPr/>
        </p:nvSpPr>
        <p:spPr>
          <a:xfrm>
            <a:off x="0" y="455050"/>
            <a:ext cx="10363200" cy="75542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solidFill>
                  <a:srgbClr val="0A1530"/>
                </a:solidFill>
                <a:latin typeface="+mn-lt"/>
              </a:rPr>
              <a:t>Fernando K C S  | IT21471162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8E7BD-B6A1-A962-2C53-EC169A1E43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13" t="34159" b="17757"/>
          <a:stretch>
            <a:fillRect/>
          </a:stretch>
        </p:blipFill>
        <p:spPr>
          <a:xfrm>
            <a:off x="7163321" y="441145"/>
            <a:ext cx="1751447" cy="1477536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06061F-D12A-DAA4-A09C-09F02AAA1C91}"/>
              </a:ext>
            </a:extLst>
          </p:cNvPr>
          <p:cNvSpPr/>
          <p:nvPr/>
        </p:nvSpPr>
        <p:spPr>
          <a:xfrm>
            <a:off x="165102" y="2209773"/>
            <a:ext cx="2499599" cy="1587244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8A738B7-EE2E-C5CD-9FC4-317ED04052E8}"/>
              </a:ext>
            </a:extLst>
          </p:cNvPr>
          <p:cNvGrpSpPr/>
          <p:nvPr/>
        </p:nvGrpSpPr>
        <p:grpSpPr>
          <a:xfrm>
            <a:off x="442834" y="2473620"/>
            <a:ext cx="2499599" cy="1587244"/>
            <a:chOff x="277733" y="301515"/>
            <a:chExt cx="2499598" cy="1587244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8E5DD57-97AE-F9DF-8B50-8668124E49D0}"/>
                </a:ext>
              </a:extLst>
            </p:cNvPr>
            <p:cNvSpPr/>
            <p:nvPr/>
          </p:nvSpPr>
          <p:spPr>
            <a:xfrm>
              <a:off x="277733" y="301515"/>
              <a:ext cx="2499598" cy="158724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LK"/>
            </a:p>
          </p:txBody>
        </p:sp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87A077E0-BDAC-B205-5022-A7AFE1835305}"/>
                </a:ext>
              </a:extLst>
            </p:cNvPr>
            <p:cNvSpPr txBox="1"/>
            <p:nvPr/>
          </p:nvSpPr>
          <p:spPr>
            <a:xfrm>
              <a:off x="324222" y="348004"/>
              <a:ext cx="2406620" cy="14942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57151" rIns="57151" bIns="57151" numCol="1" spcCol="1270" anchor="ctr" anchorCtr="0">
              <a:no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1500" b="1" dirty="0"/>
                <a:t>Financial Document Understanding and Language-Driven Insight Extraction</a:t>
              </a:r>
            </a:p>
          </p:txBody>
        </p:sp>
      </p:grp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E4ED09-D1E4-D751-43A8-A4715981B64A}"/>
              </a:ext>
            </a:extLst>
          </p:cNvPr>
          <p:cNvSpPr/>
          <p:nvPr/>
        </p:nvSpPr>
        <p:spPr>
          <a:xfrm>
            <a:off x="3220166" y="2209773"/>
            <a:ext cx="2499599" cy="1587244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3C2319-7ECA-679D-3646-4D5074939311}"/>
              </a:ext>
            </a:extLst>
          </p:cNvPr>
          <p:cNvGrpSpPr/>
          <p:nvPr/>
        </p:nvGrpSpPr>
        <p:grpSpPr>
          <a:xfrm>
            <a:off x="3497898" y="2473620"/>
            <a:ext cx="2499599" cy="1587244"/>
            <a:chOff x="3332797" y="301515"/>
            <a:chExt cx="2499598" cy="1587244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44667769-52CD-27B2-B60B-0D9D777DFD5D}"/>
                </a:ext>
              </a:extLst>
            </p:cNvPr>
            <p:cNvSpPr/>
            <p:nvPr/>
          </p:nvSpPr>
          <p:spPr>
            <a:xfrm>
              <a:off x="3332797" y="301515"/>
              <a:ext cx="2499598" cy="158724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LK"/>
            </a:p>
          </p:txBody>
        </p:sp>
        <p:sp>
          <p:nvSpPr>
            <p:cNvPr id="17" name="Rounded Rectangle 8">
              <a:extLst>
                <a:ext uri="{FF2B5EF4-FFF2-40B4-BE49-F238E27FC236}">
                  <a16:creationId xmlns:a16="http://schemas.microsoft.com/office/drawing/2014/main" id="{9A601F04-8572-144E-4527-2BF0B2F2AF29}"/>
                </a:ext>
              </a:extLst>
            </p:cNvPr>
            <p:cNvSpPr txBox="1"/>
            <p:nvPr/>
          </p:nvSpPr>
          <p:spPr>
            <a:xfrm>
              <a:off x="3379286" y="348004"/>
              <a:ext cx="2406620" cy="14942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57151" rIns="57151" bIns="57151" numCol="1" spcCol="1270" anchor="ctr" anchorCtr="0">
              <a:noAutofit/>
            </a:bodyPr>
            <a:lstStyle/>
            <a:p>
              <a:pPr lvl="0" algn="ctr"/>
              <a:r>
                <a:rPr lang="en-US" sz="1200" i="1" dirty="0"/>
                <a:t>Novelty: </a:t>
              </a:r>
              <a:r>
                <a:rPr lang="en-US" sz="1200" dirty="0"/>
                <a:t>Uses Large Language Models(LLMs ) to interpret Financial reports</a:t>
              </a:r>
            </a:p>
            <a:p>
              <a:pPr lvl="0" algn="ctr"/>
              <a:r>
                <a:rPr lang="en-US" sz="1200" dirty="0"/>
                <a:t>Converts complex financial information into understandable insights for retail investors.</a:t>
              </a:r>
            </a:p>
            <a:p>
              <a:pPr algn="ctr" defTabSz="66673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i="1" dirty="0"/>
                <a:t>.</a:t>
              </a:r>
              <a:endParaRPr lang="en-US" sz="1400" dirty="0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3D12249-EAB3-4E9E-07F7-5606B3BB1DD6}"/>
              </a:ext>
            </a:extLst>
          </p:cNvPr>
          <p:cNvSpPr/>
          <p:nvPr/>
        </p:nvSpPr>
        <p:spPr>
          <a:xfrm>
            <a:off x="6275230" y="2209773"/>
            <a:ext cx="2499599" cy="1587244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LK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93306-F1F9-C9E0-F6F5-FFC8FB895EB0}"/>
              </a:ext>
            </a:extLst>
          </p:cNvPr>
          <p:cNvGrpSpPr/>
          <p:nvPr/>
        </p:nvGrpSpPr>
        <p:grpSpPr>
          <a:xfrm>
            <a:off x="6552962" y="2473620"/>
            <a:ext cx="2499599" cy="1587244"/>
            <a:chOff x="6387861" y="301515"/>
            <a:chExt cx="2499598" cy="1587244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F55C78E-1F49-C668-A174-DFAEF2873FE4}"/>
                </a:ext>
              </a:extLst>
            </p:cNvPr>
            <p:cNvSpPr/>
            <p:nvPr/>
          </p:nvSpPr>
          <p:spPr>
            <a:xfrm>
              <a:off x="6387861" y="301515"/>
              <a:ext cx="2499598" cy="158724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LK"/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C98558BF-1E1D-5CA2-8A53-AB2570BD041D}"/>
                </a:ext>
              </a:extLst>
            </p:cNvPr>
            <p:cNvSpPr txBox="1"/>
            <p:nvPr/>
          </p:nvSpPr>
          <p:spPr>
            <a:xfrm>
              <a:off x="6434350" y="348004"/>
              <a:ext cx="2406620" cy="14942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7151" tIns="57151" rIns="57151" bIns="57151" numCol="1" spcCol="1270" anchor="ctr" anchorCtr="0">
              <a:noAutofit/>
            </a:bodyPr>
            <a:lstStyle/>
            <a:p>
              <a:pPr lvl="0" algn="ctr"/>
              <a:r>
                <a:rPr lang="en-US" sz="1200" dirty="0"/>
                <a:t>Processes company financial documents such as annual reports and earnings statements</a:t>
              </a:r>
            </a:p>
            <a:p>
              <a:pPr lvl="0" algn="ctr"/>
              <a:r>
                <a:rPr lang="en-US" sz="1200" dirty="0"/>
                <a:t>Extracts important financial indicators and ratios</a:t>
              </a:r>
            </a:p>
            <a:p>
              <a:pPr lvl="0" algn="ctr"/>
              <a:r>
                <a:rPr lang="en-US" sz="1200" dirty="0"/>
                <a:t>Generates simplified investor-friendly explanations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996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Line"/>
          <p:cNvSpPr/>
          <p:nvPr/>
        </p:nvSpPr>
        <p:spPr>
          <a:xfrm>
            <a:off x="0" y="254000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/>
          <p:cNvSpPr txBox="1"/>
          <p:nvPr/>
        </p:nvSpPr>
        <p:spPr>
          <a:xfrm>
            <a:off x="228600" y="360000"/>
            <a:ext cx="86868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200" b="1" dirty="0">
                <a:solidFill>
                  <a:srgbClr val="0D1B40"/>
                </a:solidFill>
                <a:latin typeface="Calibri"/>
              </a:rPr>
              <a:t>Financial Document Understanding and Language-Driven Insight Extraction</a:t>
            </a:r>
          </a:p>
        </p:txBody>
      </p:sp>
      <p:sp>
        <p:nvSpPr>
          <p:cNvPr id="10" name="Card1BG"/>
          <p:cNvSpPr/>
          <p:nvPr/>
        </p:nvSpPr>
        <p:spPr>
          <a:xfrm>
            <a:off x="263769" y="1455159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1Text"/>
          <p:cNvSpPr txBox="1"/>
          <p:nvPr/>
        </p:nvSpPr>
        <p:spPr>
          <a:xfrm>
            <a:off x="320919" y="1399281"/>
            <a:ext cx="26289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/>
              </a:rPr>
              <a:t>Investor Insights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/>
              </a:rPr>
              <a:t>Extracts investor-related information from company annual reports</a:t>
            </a:r>
          </a:p>
        </p:txBody>
      </p:sp>
      <p:sp>
        <p:nvSpPr>
          <p:cNvPr id="12" name="Card2BG"/>
          <p:cNvSpPr/>
          <p:nvPr/>
        </p:nvSpPr>
        <p:spPr>
          <a:xfrm>
            <a:off x="3200400" y="145825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2Text"/>
          <p:cNvSpPr txBox="1"/>
          <p:nvPr/>
        </p:nvSpPr>
        <p:spPr>
          <a:xfrm>
            <a:off x="3217984" y="1354336"/>
            <a:ext cx="26289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/>
              </a:rPr>
              <a:t>Structured Output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/>
              </a:rPr>
              <a:t>Converts unstructured PDF content into structured JSON outputs</a:t>
            </a:r>
          </a:p>
        </p:txBody>
      </p:sp>
      <p:sp>
        <p:nvSpPr>
          <p:cNvPr id="14" name="Card3BG"/>
          <p:cNvSpPr/>
          <p:nvPr/>
        </p:nvSpPr>
        <p:spPr>
          <a:xfrm>
            <a:off x="6172200" y="1440275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3Text"/>
          <p:cNvSpPr txBox="1"/>
          <p:nvPr/>
        </p:nvSpPr>
        <p:spPr>
          <a:xfrm>
            <a:off x="6194181" y="1415042"/>
            <a:ext cx="26289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/>
              </a:rPr>
              <a:t>Financial Health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/>
              </a:rPr>
              <a:t>Helps retail investors understand performance, risks, governance and outlook</a:t>
            </a:r>
          </a:p>
        </p:txBody>
      </p:sp>
      <p:sp>
        <p:nvSpPr>
          <p:cNvPr id="20" name="Card4BG"/>
          <p:cNvSpPr/>
          <p:nvPr/>
        </p:nvSpPr>
        <p:spPr>
          <a:xfrm>
            <a:off x="228600" y="3185136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132347"/>
          </a:solidFill>
          <a:ln w="19050">
            <a:solidFill>
              <a:srgbClr val="C8A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4Text"/>
          <p:cNvSpPr txBox="1"/>
          <p:nvPr/>
        </p:nvSpPr>
        <p:spPr>
          <a:xfrm>
            <a:off x="228600" y="3147036"/>
            <a:ext cx="26289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/>
              </a:rPr>
              <a:t>No Financial Advice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/>
              </a:rPr>
              <a:t>Does not provide buy / sell / hold recommendations</a:t>
            </a:r>
          </a:p>
        </p:txBody>
      </p:sp>
      <p:sp>
        <p:nvSpPr>
          <p:cNvPr id="22" name="Card5BG"/>
          <p:cNvSpPr/>
          <p:nvPr/>
        </p:nvSpPr>
        <p:spPr>
          <a:xfrm>
            <a:off x="3315000" y="3185136"/>
            <a:ext cx="5714400" cy="914400"/>
          </a:xfrm>
          <a:prstGeom prst="roundRect">
            <a:avLst>
              <a:gd name="adj" fmla="val 5000"/>
            </a:avLst>
          </a:prstGeom>
          <a:solidFill>
            <a:srgbClr val="132347"/>
          </a:solidFill>
          <a:ln w="19050">
            <a:solidFill>
              <a:srgbClr val="C8A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Card5Text"/>
          <p:cNvSpPr txBox="1"/>
          <p:nvPr/>
        </p:nvSpPr>
        <p:spPr>
          <a:xfrm>
            <a:off x="3315300" y="3200613"/>
            <a:ext cx="56001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300" b="1" dirty="0">
                <a:solidFill>
                  <a:srgbClr val="C8A84B"/>
                </a:solidFill>
                <a:latin typeface="Calibri"/>
              </a:rPr>
              <a:t>Prompt Benchmarking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/>
              </a:rPr>
              <a:t>Benchmarks 10 prompt strategies and selects the best prompt for the final system, ensuring reliable and consistent outputs</a:t>
            </a:r>
          </a:p>
        </p:txBody>
      </p:sp>
      <p:pic>
        <p:nvPicPr>
          <p:cNvPr id="30" name="SLIIT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684726"/>
            <a:ext cx="2150792" cy="409549"/>
          </a:xfrm>
          <a:prstGeom prst="rect">
            <a:avLst/>
          </a:prstGeom>
        </p:spPr>
      </p:pic>
      <p:sp>
        <p:nvSpPr>
          <p:cNvPr id="31" name="FooterText"/>
          <p:cNvSpPr/>
          <p:nvPr/>
        </p:nvSpPr>
        <p:spPr>
          <a:xfrm>
            <a:off x="2501901" y="4816290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IT21471162          R26-IT-076          16.03.2026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19455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Line"/>
          <p:cNvSpPr/>
          <p:nvPr/>
        </p:nvSpPr>
        <p:spPr>
          <a:xfrm>
            <a:off x="0" y="273455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/>
          <p:cNvSpPr txBox="1"/>
          <p:nvPr/>
        </p:nvSpPr>
        <p:spPr>
          <a:xfrm>
            <a:off x="228600" y="379455"/>
            <a:ext cx="86868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200" b="1" dirty="0">
                <a:solidFill>
                  <a:srgbClr val="0D1B40"/>
                </a:solidFill>
                <a:latin typeface="Calibri"/>
              </a:rPr>
              <a:t>Financial Document Understanding — Problem &amp; User Requirements</a:t>
            </a:r>
          </a:p>
        </p:txBody>
      </p:sp>
      <p:sp>
        <p:nvSpPr>
          <p:cNvPr id="5" name="Col1Header"/>
          <p:cNvSpPr/>
          <p:nvPr/>
        </p:nvSpPr>
        <p:spPr>
          <a:xfrm>
            <a:off x="228600" y="857655"/>
            <a:ext cx="4114800" cy="228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C8A84B"/>
                </a:solidFill>
                <a:latin typeface="Calibri"/>
              </a:rPr>
              <a:t>Sub-Problem Addressed</a:t>
            </a:r>
          </a:p>
        </p:txBody>
      </p:sp>
      <p:sp>
        <p:nvSpPr>
          <p:cNvPr id="6" name="Col1Content"/>
          <p:cNvSpPr txBox="1"/>
          <p:nvPr/>
        </p:nvSpPr>
        <p:spPr>
          <a:xfrm>
            <a:off x="228600" y="1086255"/>
            <a:ext cx="4114800" cy="28956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Annual reports are lengthy and complex for retail investors to interpret.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Key data — revenue, EPS, liabilities, cash flow, risks, auditor opinion — is scattered across many pages.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LLM outputs vary if prompts are not tested systematically.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Some outputs may miss fields, change JSON structure, or include unsupported facts.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A reliable method is needed to select the best prompt using measurable evaluation.</a:t>
            </a:r>
          </a:p>
        </p:txBody>
      </p:sp>
      <p:sp>
        <p:nvSpPr>
          <p:cNvPr id="7" name="Col2Header"/>
          <p:cNvSpPr/>
          <p:nvPr/>
        </p:nvSpPr>
        <p:spPr>
          <a:xfrm>
            <a:off x="4571400" y="857655"/>
            <a:ext cx="4344000" cy="2286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0D1B40"/>
                </a:solidFill>
                <a:latin typeface="Calibri"/>
              </a:rPr>
              <a:t>User Requirements Addressed</a:t>
            </a:r>
          </a:p>
        </p:txBody>
      </p:sp>
      <p:sp>
        <p:nvSpPr>
          <p:cNvPr id="8" name="Col2Content"/>
          <p:cNvSpPr txBox="1"/>
          <p:nvPr/>
        </p:nvSpPr>
        <p:spPr>
          <a:xfrm>
            <a:off x="4571400" y="1086255"/>
            <a:ext cx="4344000" cy="2895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Upload or select an annual report PDF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Extract investor-related information automatically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Maintain source grounding with page references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Compare multiple prompts and identify the best one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Produce investor-friendly insights without financial advice</a:t>
            </a:r>
          </a:p>
        </p:txBody>
      </p:sp>
      <p:pic>
        <p:nvPicPr>
          <p:cNvPr id="30" name="SLIIT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704181"/>
            <a:ext cx="2150792" cy="409549"/>
          </a:xfrm>
          <a:prstGeom prst="rect">
            <a:avLst/>
          </a:prstGeom>
        </p:spPr>
      </p:pic>
      <p:sp>
        <p:nvSpPr>
          <p:cNvPr id="31" name="FooterText"/>
          <p:cNvSpPr/>
          <p:nvPr/>
        </p:nvSpPr>
        <p:spPr>
          <a:xfrm>
            <a:off x="2501901" y="4835745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IT21471162          R26-IT-076          16.03.2026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19455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Line"/>
          <p:cNvSpPr/>
          <p:nvPr/>
        </p:nvSpPr>
        <p:spPr>
          <a:xfrm>
            <a:off x="0" y="273455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/>
          <p:cNvSpPr txBox="1"/>
          <p:nvPr/>
        </p:nvSpPr>
        <p:spPr>
          <a:xfrm>
            <a:off x="228600" y="379455"/>
            <a:ext cx="86868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200" b="1" dirty="0">
                <a:solidFill>
                  <a:srgbClr val="0D1B40"/>
                </a:solidFill>
                <a:latin typeface="Calibri"/>
              </a:rPr>
              <a:t>Methodology and Implementation</a:t>
            </a:r>
          </a:p>
        </p:txBody>
      </p:sp>
      <p:sp>
        <p:nvSpPr>
          <p:cNvPr id="5" name="LeftHeader"/>
          <p:cNvSpPr/>
          <p:nvPr/>
        </p:nvSpPr>
        <p:spPr>
          <a:xfrm>
            <a:off x="228600" y="857655"/>
            <a:ext cx="4267200" cy="228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C8A84B"/>
                </a:solidFill>
                <a:latin typeface="Calibri"/>
              </a:rPr>
              <a:t>Prompt Benchmarking Framework</a:t>
            </a:r>
          </a:p>
        </p:txBody>
      </p:sp>
      <p:sp>
        <p:nvSpPr>
          <p:cNvPr id="6" name="LeftContent"/>
          <p:cNvSpPr txBox="1"/>
          <p:nvPr/>
        </p:nvSpPr>
        <p:spPr>
          <a:xfrm>
            <a:off x="228600" y="1086255"/>
            <a:ext cx="4267200" cy="28194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PDF text extracted using PyMuPDF and pdfplumber</a:t>
            </a:r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Expected outputs generated from actual PDF text with source evidence</a:t>
            </a:r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10 prompt strategies tested on the same annual report content</a:t>
            </a:r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Each prompt output saved separately as JSON</a:t>
            </a:r>
          </a:p>
          <a:p>
            <a:r>
              <a:rPr lang="en-US" sz="1100" dirty="0">
                <a:solidFill>
                  <a:srgbClr val="1A2B5A"/>
                </a:solidFill>
                <a:latin typeface="Calibri"/>
              </a:rPr>
              <a:t>Prompt outputs compared against expected outputs using scoring metrics</a:t>
            </a:r>
          </a:p>
        </p:txBody>
      </p:sp>
      <p:sp>
        <p:nvSpPr>
          <p:cNvPr id="7" name="RightHeader"/>
          <p:cNvSpPr/>
          <p:nvPr/>
        </p:nvSpPr>
        <p:spPr>
          <a:xfrm>
            <a:off x="4648200" y="857655"/>
            <a:ext cx="4267200" cy="2286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0D1B40"/>
                </a:solidFill>
                <a:latin typeface="Calibri"/>
              </a:rPr>
              <a:t>Evaluation Metrics</a:t>
            </a:r>
          </a:p>
        </p:txBody>
      </p:sp>
      <p:sp>
        <p:nvSpPr>
          <p:cNvPr id="8" name="M1"/>
          <p:cNvSpPr/>
          <p:nvPr/>
        </p:nvSpPr>
        <p:spPr>
          <a:xfrm>
            <a:off x="4648200" y="1086255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/>
              </a:rPr>
              <a:t>Field Coverage</a:t>
            </a:r>
          </a:p>
        </p:txBody>
      </p:sp>
      <p:sp>
        <p:nvSpPr>
          <p:cNvPr id="9" name="M2"/>
          <p:cNvSpPr/>
          <p:nvPr/>
        </p:nvSpPr>
        <p:spPr>
          <a:xfrm>
            <a:off x="6857400" y="1086255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/>
              </a:rPr>
              <a:t>Numeric Accuracy</a:t>
            </a:r>
          </a:p>
        </p:txBody>
      </p:sp>
      <p:sp>
        <p:nvSpPr>
          <p:cNvPr id="10" name="M3"/>
          <p:cNvSpPr/>
          <p:nvPr/>
        </p:nvSpPr>
        <p:spPr>
          <a:xfrm>
            <a:off x="4648200" y="1544055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132347"/>
          </a:solidFill>
          <a:ln w="19050">
            <a:solidFill>
              <a:srgbClr val="C8A84B"/>
            </a:solidFill>
          </a:ln>
        </p:spPr>
        <p:txBody>
          <a:bodyPr wrap="square" lIns="91440" tIns="45720" rIns="91440" bIns="4572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/>
              </a:rPr>
              <a:t>Semantic Similarity</a:t>
            </a:r>
          </a:p>
        </p:txBody>
      </p:sp>
      <p:sp>
        <p:nvSpPr>
          <p:cNvPr id="11" name="M4"/>
          <p:cNvSpPr/>
          <p:nvPr/>
        </p:nvSpPr>
        <p:spPr>
          <a:xfrm>
            <a:off x="6857400" y="1544055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132347"/>
          </a:solidFill>
          <a:ln w="19050">
            <a:solidFill>
              <a:srgbClr val="C8A84B"/>
            </a:solidFill>
          </a:ln>
        </p:spPr>
        <p:txBody>
          <a:bodyPr wrap="square" lIns="91440" tIns="45720" rIns="91440" bIns="4572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/>
              </a:rPr>
              <a:t>Source Faithfulness</a:t>
            </a:r>
          </a:p>
        </p:txBody>
      </p:sp>
      <p:sp>
        <p:nvSpPr>
          <p:cNvPr id="12" name="M5"/>
          <p:cNvSpPr/>
          <p:nvPr/>
        </p:nvSpPr>
        <p:spPr>
          <a:xfrm>
            <a:off x="4648200" y="2001855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/>
              </a:rPr>
              <a:t>Investor Relevance</a:t>
            </a:r>
          </a:p>
        </p:txBody>
      </p:sp>
      <p:sp>
        <p:nvSpPr>
          <p:cNvPr id="13" name="M6"/>
          <p:cNvSpPr/>
          <p:nvPr/>
        </p:nvSpPr>
        <p:spPr>
          <a:xfrm>
            <a:off x="6857400" y="2001855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/>
              </a:rPr>
              <a:t>Hallucination Penalty</a:t>
            </a:r>
          </a:p>
        </p:txBody>
      </p:sp>
      <p:pic>
        <p:nvPicPr>
          <p:cNvPr id="30" name="SLIIT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704181"/>
            <a:ext cx="2150792" cy="409549"/>
          </a:xfrm>
          <a:prstGeom prst="rect">
            <a:avLst/>
          </a:prstGeom>
        </p:spPr>
      </p:pic>
      <p:sp>
        <p:nvSpPr>
          <p:cNvPr id="31" name="FooterText"/>
          <p:cNvSpPr/>
          <p:nvPr/>
        </p:nvSpPr>
        <p:spPr>
          <a:xfrm>
            <a:off x="2501901" y="4835745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IT21471162          R26-IT-076          16.03.2026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FD9D727E-4488-CBCC-A1A4-30654D2388B5}"/>
              </a:ext>
            </a:extLst>
          </p:cNvPr>
          <p:cNvSpPr/>
          <p:nvPr/>
        </p:nvSpPr>
        <p:spPr>
          <a:xfrm>
            <a:off x="0" y="19455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Line">
            <a:extLst>
              <a:ext uri="{FF2B5EF4-FFF2-40B4-BE49-F238E27FC236}">
                <a16:creationId xmlns:a16="http://schemas.microsoft.com/office/drawing/2014/main" id="{A783DD69-E2DC-D36A-99F0-5912135F97CE}"/>
              </a:ext>
            </a:extLst>
          </p:cNvPr>
          <p:cNvSpPr/>
          <p:nvPr/>
        </p:nvSpPr>
        <p:spPr>
          <a:xfrm>
            <a:off x="0" y="273455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SLIITLogo">
            <a:extLst>
              <a:ext uri="{FF2B5EF4-FFF2-40B4-BE49-F238E27FC236}">
                <a16:creationId xmlns:a16="http://schemas.microsoft.com/office/drawing/2014/main" id="{1F4F790B-1C00-DEA1-E0E9-DC99FCCC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704181"/>
            <a:ext cx="2150792" cy="409549"/>
          </a:xfrm>
          <a:prstGeom prst="rect">
            <a:avLst/>
          </a:prstGeom>
        </p:spPr>
      </p:pic>
      <p:sp>
        <p:nvSpPr>
          <p:cNvPr id="5" name="FooterText">
            <a:extLst>
              <a:ext uri="{FF2B5EF4-FFF2-40B4-BE49-F238E27FC236}">
                <a16:creationId xmlns:a16="http://schemas.microsoft.com/office/drawing/2014/main" id="{B33CFF97-9CE2-E122-EF78-570FB60E6DD1}"/>
              </a:ext>
            </a:extLst>
          </p:cNvPr>
          <p:cNvSpPr/>
          <p:nvPr/>
        </p:nvSpPr>
        <p:spPr>
          <a:xfrm>
            <a:off x="2501901" y="4835745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IT21471162          R26-IT-076          16.03.2026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D281C8-2C5C-78F0-B410-177B50BF1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34" y="804764"/>
            <a:ext cx="6635931" cy="367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35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5953C571-55D8-A8DD-C07A-7203EF9CDA58}"/>
              </a:ext>
            </a:extLst>
          </p:cNvPr>
          <p:cNvSpPr/>
          <p:nvPr/>
        </p:nvSpPr>
        <p:spPr>
          <a:xfrm>
            <a:off x="0" y="19455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SLIITLogo">
            <a:extLst>
              <a:ext uri="{FF2B5EF4-FFF2-40B4-BE49-F238E27FC236}">
                <a16:creationId xmlns:a16="http://schemas.microsoft.com/office/drawing/2014/main" id="{DD3EAC47-128A-392A-8C2F-C9277167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704181"/>
            <a:ext cx="2150792" cy="409549"/>
          </a:xfrm>
          <a:prstGeom prst="rect">
            <a:avLst/>
          </a:prstGeom>
        </p:spPr>
      </p:pic>
      <p:sp>
        <p:nvSpPr>
          <p:cNvPr id="5" name="FooterText">
            <a:extLst>
              <a:ext uri="{FF2B5EF4-FFF2-40B4-BE49-F238E27FC236}">
                <a16:creationId xmlns:a16="http://schemas.microsoft.com/office/drawing/2014/main" id="{1FB2C854-4A6F-DFD5-DCC0-E9E80726B00D}"/>
              </a:ext>
            </a:extLst>
          </p:cNvPr>
          <p:cNvSpPr/>
          <p:nvPr/>
        </p:nvSpPr>
        <p:spPr>
          <a:xfrm>
            <a:off x="2501901" y="4835745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IT21471162          R26-IT-076          16.03.2026</a:t>
            </a:r>
          </a:p>
        </p:txBody>
      </p:sp>
      <p:sp>
        <p:nvSpPr>
          <p:cNvPr id="6" name="GoldLine">
            <a:extLst>
              <a:ext uri="{FF2B5EF4-FFF2-40B4-BE49-F238E27FC236}">
                <a16:creationId xmlns:a16="http://schemas.microsoft.com/office/drawing/2014/main" id="{10FA2A96-EE1F-A8CE-9C30-7AA66F2D7BB6}"/>
              </a:ext>
            </a:extLst>
          </p:cNvPr>
          <p:cNvSpPr/>
          <p:nvPr/>
        </p:nvSpPr>
        <p:spPr>
          <a:xfrm>
            <a:off x="0" y="273455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CA4235-8C1F-40A6-319B-2A094939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37" b="10371"/>
          <a:stretch>
            <a:fillRect/>
          </a:stretch>
        </p:blipFill>
        <p:spPr>
          <a:xfrm>
            <a:off x="1406434" y="784604"/>
            <a:ext cx="5847805" cy="313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82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Line"/>
          <p:cNvSpPr/>
          <p:nvPr/>
        </p:nvSpPr>
        <p:spPr>
          <a:xfrm>
            <a:off x="0" y="254000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/>
          <p:cNvSpPr txBox="1"/>
          <p:nvPr/>
        </p:nvSpPr>
        <p:spPr>
          <a:xfrm>
            <a:off x="228600" y="360000"/>
            <a:ext cx="86868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200" b="1" dirty="0">
                <a:solidFill>
                  <a:srgbClr val="0D1B40"/>
                </a:solidFill>
                <a:latin typeface="Calibri"/>
              </a:rPr>
              <a:t>Progress Results and Next Steps</a:t>
            </a:r>
          </a:p>
        </p:txBody>
      </p:sp>
      <p:sp>
        <p:nvSpPr>
          <p:cNvPr id="5" name="ResultHeader"/>
          <p:cNvSpPr/>
          <p:nvPr/>
        </p:nvSpPr>
        <p:spPr>
          <a:xfrm>
            <a:off x="228600" y="838200"/>
            <a:ext cx="4267200" cy="228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C8A84B"/>
                </a:solidFill>
                <a:latin typeface="Calibri"/>
              </a:rPr>
              <a:t>Current Results</a:t>
            </a:r>
          </a:p>
        </p:txBody>
      </p:sp>
      <p:sp>
        <p:nvSpPr>
          <p:cNvPr id="6" name="ResultContent"/>
          <p:cNvSpPr txBox="1"/>
          <p:nvPr/>
        </p:nvSpPr>
        <p:spPr>
          <a:xfrm>
            <a:off x="228600" y="1066800"/>
            <a:ext cx="4267200" cy="28194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All 10 prompts were evaluated against expected outputs</a:t>
            </a:r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Best overall prompt selected: </a:t>
            </a:r>
            <a:r>
              <a:rPr lang="en-US" sz="1100" b="1" dirty="0">
                <a:solidFill>
                  <a:srgbClr val="0D1B40"/>
                </a:solidFill>
                <a:latin typeface="Calibri"/>
              </a:rPr>
              <a:t>Prompt 08 — Beginner Investor Explanation</a:t>
            </a:r>
          </a:p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A2B5A"/>
                </a:solidFill>
                <a:latin typeface="Calibri"/>
              </a:rPr>
              <a:t>Selected prompt exported as best_prompt_to_use.txt</a:t>
            </a:r>
          </a:p>
          <a:p>
            <a:r>
              <a:rPr lang="en-US" sz="1100" dirty="0">
                <a:solidFill>
                  <a:srgbClr val="1A2B5A"/>
                </a:solidFill>
                <a:latin typeface="Calibri"/>
              </a:rPr>
              <a:t>Prompt can be reused across the full project pipeline</a:t>
            </a:r>
          </a:p>
        </p:txBody>
      </p:sp>
      <p:sp>
        <p:nvSpPr>
          <p:cNvPr id="7" name="NextHeader"/>
          <p:cNvSpPr/>
          <p:nvPr/>
        </p:nvSpPr>
        <p:spPr>
          <a:xfrm>
            <a:off x="4648200" y="838200"/>
            <a:ext cx="4267200" cy="2286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0D1B40"/>
                </a:solidFill>
                <a:latin typeface="Calibri"/>
              </a:rPr>
              <a:t>Next Step: RAG Integration</a:t>
            </a:r>
          </a:p>
        </p:txBody>
      </p:sp>
      <p:sp>
        <p:nvSpPr>
          <p:cNvPr id="8" name="NextContent"/>
          <p:cNvSpPr txBox="1"/>
          <p:nvPr/>
        </p:nvSpPr>
        <p:spPr>
          <a:xfrm>
            <a:off x="4648200" y="1066800"/>
            <a:ext cx="4267200" cy="28194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Use Prompt 08 inside the RAG pipeline</a:t>
            </a:r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Retrieve relevant annual report chunks before generation</a:t>
            </a:r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Generate structured investor-friendly insights from retrieved evidence</a:t>
            </a:r>
          </a:p>
          <a:p>
            <a:r>
              <a:rPr lang="en-US" sz="1100" dirty="0">
                <a:solidFill>
                  <a:srgbClr val="FFFFFF"/>
                </a:solidFill>
                <a:latin typeface="Calibri"/>
              </a:rPr>
              <a:t>Improve source grounding and reduce hallucination risk</a:t>
            </a:r>
          </a:p>
        </p:txBody>
      </p:sp>
      <p:pic>
        <p:nvPicPr>
          <p:cNvPr id="30" name="SLIIT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684726"/>
            <a:ext cx="2150792" cy="409549"/>
          </a:xfrm>
          <a:prstGeom prst="rect">
            <a:avLst/>
          </a:prstGeom>
        </p:spPr>
      </p:pic>
      <p:sp>
        <p:nvSpPr>
          <p:cNvPr id="31" name="FooterText"/>
          <p:cNvSpPr/>
          <p:nvPr/>
        </p:nvSpPr>
        <p:spPr>
          <a:xfrm>
            <a:off x="2501901" y="4816290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IT21471162          R26-IT-076          16.03.2026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24E20EA-DE3E-47DF-A34D-DAB0A5F4530B}"/>
              </a:ext>
            </a:extLst>
          </p:cNvPr>
          <p:cNvGrpSpPr/>
          <p:nvPr/>
        </p:nvGrpSpPr>
        <p:grpSpPr>
          <a:xfrm>
            <a:off x="0" y="1"/>
            <a:ext cx="9144000" cy="308864"/>
            <a:chOff x="0" y="0"/>
            <a:chExt cx="9144000" cy="308864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254000"/>
            </a:xfrm>
            <a:prstGeom prst="rect">
              <a:avLst/>
            </a:prstGeom>
            <a:solidFill>
              <a:srgbClr val="0D1B40"/>
            </a:solidFill>
            <a:ln w="12700">
              <a:solidFill>
                <a:srgbClr val="0D1B4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254000"/>
              <a:ext cx="9144000" cy="54864"/>
            </a:xfrm>
            <a:prstGeom prst="rect">
              <a:avLst/>
            </a:prstGeom>
            <a:solidFill>
              <a:srgbClr val="C8A84B"/>
            </a:solidFill>
            <a:ln w="12700">
              <a:solidFill>
                <a:srgbClr val="C8A84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 3"/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01901" y="4816290"/>
            <a:ext cx="5219700" cy="14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IT22065308 		R26-IT-076		 16.03.2026        </a:t>
            </a:r>
            <a:endParaRPr lang="en-US" sz="11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BE475FB-CE05-4D4B-B635-1DB7F0D64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" y="4607850"/>
            <a:ext cx="2150792" cy="409549"/>
          </a:xfrm>
          <a:prstGeom prst="rect">
            <a:avLst/>
          </a:prstGeom>
        </p:spPr>
      </p:pic>
      <p:sp>
        <p:nvSpPr>
          <p:cNvPr id="28" name="Title 4">
            <a:extLst>
              <a:ext uri="{FF2B5EF4-FFF2-40B4-BE49-F238E27FC236}">
                <a16:creationId xmlns:a16="http://schemas.microsoft.com/office/drawing/2014/main" id="{3585BA2C-C471-4D6C-9F71-D6E44C0BEDB4}"/>
              </a:ext>
            </a:extLst>
          </p:cNvPr>
          <p:cNvSpPr txBox="1">
            <a:spLocks/>
          </p:cNvSpPr>
          <p:nvPr/>
        </p:nvSpPr>
        <p:spPr>
          <a:xfrm>
            <a:off x="67447" y="464858"/>
            <a:ext cx="10363200" cy="75542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rgbClr val="0A1530"/>
                </a:solidFill>
                <a:latin typeface="+mn-lt"/>
              </a:rPr>
              <a:t>HARITHRA.K  | IT22065308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D24C0D-53B7-41DF-BBE7-7F8A88D42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831" y="319001"/>
            <a:ext cx="1445260" cy="1928499"/>
          </a:xfrm>
          <a:prstGeom prst="rect">
            <a:avLst/>
          </a:prstGeom>
        </p:spPr>
      </p:pic>
      <p:graphicFrame>
        <p:nvGraphicFramePr>
          <p:cNvPr id="33" name="Title 4">
            <a:extLst>
              <a:ext uri="{FF2B5EF4-FFF2-40B4-BE49-F238E27FC236}">
                <a16:creationId xmlns:a16="http://schemas.microsoft.com/office/drawing/2014/main" id="{6C5C63FF-746E-CC36-7401-45DFBBFF2C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8729866"/>
              </p:ext>
            </p:extLst>
          </p:nvPr>
        </p:nvGraphicFramePr>
        <p:xfrm>
          <a:off x="165101" y="2404271"/>
          <a:ext cx="8887460" cy="192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24E20EA-DE3E-47DF-A34D-DAB0A5F4530B}"/>
              </a:ext>
            </a:extLst>
          </p:cNvPr>
          <p:cNvGrpSpPr/>
          <p:nvPr/>
        </p:nvGrpSpPr>
        <p:grpSpPr>
          <a:xfrm>
            <a:off x="0" y="1"/>
            <a:ext cx="9144000" cy="308864"/>
            <a:chOff x="0" y="0"/>
            <a:chExt cx="9144000" cy="308864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9144000" cy="254000"/>
            </a:xfrm>
            <a:prstGeom prst="rect">
              <a:avLst/>
            </a:prstGeom>
            <a:solidFill>
              <a:srgbClr val="0D1B40"/>
            </a:solidFill>
            <a:ln w="12700">
              <a:solidFill>
                <a:srgbClr val="0D1B4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254000"/>
              <a:ext cx="9144000" cy="54864"/>
            </a:xfrm>
            <a:prstGeom prst="rect">
              <a:avLst/>
            </a:prstGeom>
            <a:solidFill>
              <a:srgbClr val="C8A84B"/>
            </a:solidFill>
            <a:ln w="12700">
              <a:solidFill>
                <a:srgbClr val="C8A84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 3"/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501901" y="4816290"/>
            <a:ext cx="5219700" cy="14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IT22547088		R26-IT-076		 10.05.2026        </a:t>
            </a:r>
            <a:endParaRPr lang="en-US" sz="11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BE475FB-CE05-4D4B-B635-1DB7F0D64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" y="4607850"/>
            <a:ext cx="2150792" cy="409549"/>
          </a:xfrm>
          <a:prstGeom prst="rect">
            <a:avLst/>
          </a:prstGeom>
        </p:spPr>
      </p:pic>
      <p:sp>
        <p:nvSpPr>
          <p:cNvPr id="28" name="Title 4">
            <a:extLst>
              <a:ext uri="{FF2B5EF4-FFF2-40B4-BE49-F238E27FC236}">
                <a16:creationId xmlns:a16="http://schemas.microsoft.com/office/drawing/2014/main" id="{3585BA2C-C471-4D6C-9F71-D6E44C0BEDB4}"/>
              </a:ext>
            </a:extLst>
          </p:cNvPr>
          <p:cNvSpPr txBox="1">
            <a:spLocks/>
          </p:cNvSpPr>
          <p:nvPr/>
        </p:nvSpPr>
        <p:spPr>
          <a:xfrm>
            <a:off x="165100" y="507109"/>
            <a:ext cx="10363200" cy="75542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rgbClr val="0A1530"/>
                </a:solidFill>
                <a:latin typeface="+mn-lt"/>
              </a:rPr>
              <a:t>Ruchini  | IT22547088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25B0CB-6E6E-4B2B-A996-9EF4629FD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289" y="531149"/>
            <a:ext cx="1362292" cy="1620012"/>
          </a:xfrm>
          <a:prstGeom prst="rect">
            <a:avLst/>
          </a:prstGeom>
        </p:spPr>
      </p:pic>
      <p:graphicFrame>
        <p:nvGraphicFramePr>
          <p:cNvPr id="31" name="Title 4">
            <a:extLst>
              <a:ext uri="{FF2B5EF4-FFF2-40B4-BE49-F238E27FC236}">
                <a16:creationId xmlns:a16="http://schemas.microsoft.com/office/drawing/2014/main" id="{337DFBA5-05BA-6913-85F4-9D17877985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277045"/>
              </p:ext>
            </p:extLst>
          </p:nvPr>
        </p:nvGraphicFramePr>
        <p:xfrm>
          <a:off x="165101" y="2404271"/>
          <a:ext cx="8978900" cy="192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20309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A3C402-31C6-5C77-801B-A6F6C1475B31}"/>
              </a:ext>
            </a:extLst>
          </p:cNvPr>
          <p:cNvGrpSpPr/>
          <p:nvPr/>
        </p:nvGrpSpPr>
        <p:grpSpPr>
          <a:xfrm>
            <a:off x="0" y="1"/>
            <a:ext cx="9144000" cy="308864"/>
            <a:chOff x="0" y="0"/>
            <a:chExt cx="9144000" cy="308864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4B67BC29-1A64-5ACD-D2EC-F33A380FC08C}"/>
                </a:ext>
              </a:extLst>
            </p:cNvPr>
            <p:cNvSpPr/>
            <p:nvPr/>
          </p:nvSpPr>
          <p:spPr>
            <a:xfrm>
              <a:off x="0" y="0"/>
              <a:ext cx="9144000" cy="254000"/>
            </a:xfrm>
            <a:prstGeom prst="rect">
              <a:avLst/>
            </a:prstGeom>
            <a:solidFill>
              <a:srgbClr val="0D1B40"/>
            </a:solidFill>
            <a:ln w="12700">
              <a:solidFill>
                <a:srgbClr val="0D1B4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FF70C5B4-3C8D-7AD5-5D44-606BA4A8ACE8}"/>
                </a:ext>
              </a:extLst>
            </p:cNvPr>
            <p:cNvSpPr/>
            <p:nvPr/>
          </p:nvSpPr>
          <p:spPr>
            <a:xfrm>
              <a:off x="0" y="254000"/>
              <a:ext cx="9144000" cy="54864"/>
            </a:xfrm>
            <a:prstGeom prst="rect">
              <a:avLst/>
            </a:prstGeom>
            <a:solidFill>
              <a:srgbClr val="C8A84B"/>
            </a:solidFill>
            <a:ln w="12700">
              <a:solidFill>
                <a:srgbClr val="C8A84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5B8F9507-FECE-2F83-2127-03881BC98CD2}"/>
              </a:ext>
            </a:extLst>
          </p:cNvPr>
          <p:cNvSpPr/>
          <p:nvPr/>
        </p:nvSpPr>
        <p:spPr>
          <a:xfrm>
            <a:off x="8503920" y="91441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2000" dirty="0"/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13F24FE2-8862-4133-729E-5735B6E757DA}"/>
              </a:ext>
            </a:extLst>
          </p:cNvPr>
          <p:cNvSpPr/>
          <p:nvPr/>
        </p:nvSpPr>
        <p:spPr>
          <a:xfrm>
            <a:off x="2501901" y="4816290"/>
            <a:ext cx="5219700" cy="14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IT22547088		R26-IT-076		 10.05.2026        </a:t>
            </a:r>
            <a:endParaRPr lang="en-US" sz="11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F50152-C276-788C-B1AA-CDDE31E39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4607850"/>
            <a:ext cx="2150792" cy="409549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ED4668C3-E6BB-27F4-B2C0-07781DE5E1E4}"/>
              </a:ext>
            </a:extLst>
          </p:cNvPr>
          <p:cNvSpPr txBox="1">
            <a:spLocks/>
          </p:cNvSpPr>
          <p:nvPr/>
        </p:nvSpPr>
        <p:spPr>
          <a:xfrm>
            <a:off x="165100" y="507109"/>
            <a:ext cx="8940800" cy="75542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b="1" dirty="0">
              <a:solidFill>
                <a:srgbClr val="0A1530"/>
              </a:solidFill>
              <a:latin typeface="+mn-lt"/>
            </a:endParaRPr>
          </a:p>
        </p:txBody>
      </p:sp>
      <p:graphicFrame>
        <p:nvGraphicFramePr>
          <p:cNvPr id="10" name="Title 4">
            <a:extLst>
              <a:ext uri="{FF2B5EF4-FFF2-40B4-BE49-F238E27FC236}">
                <a16:creationId xmlns:a16="http://schemas.microsoft.com/office/drawing/2014/main" id="{65A283B1-FD5D-7EE8-BC3E-127B51CF2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8288971"/>
              </p:ext>
            </p:extLst>
          </p:nvPr>
        </p:nvGraphicFramePr>
        <p:xfrm>
          <a:off x="165101" y="2404271"/>
          <a:ext cx="8978900" cy="192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0CFD21E-DDC3-CF25-8041-68DB129231E7}"/>
              </a:ext>
            </a:extLst>
          </p:cNvPr>
          <p:cNvSpPr txBox="1"/>
          <p:nvPr/>
        </p:nvSpPr>
        <p:spPr>
          <a:xfrm>
            <a:off x="804153" y="388621"/>
            <a:ext cx="83017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tx2"/>
                </a:solidFill>
              </a:rPr>
              <a:t>Explainable AI-Based Financial Market Risk Impact Engine</a:t>
            </a:r>
          </a:p>
        </p:txBody>
      </p:sp>
      <p:sp>
        <p:nvSpPr>
          <p:cNvPr id="17" name="Card1BG">
            <a:extLst>
              <a:ext uri="{FF2B5EF4-FFF2-40B4-BE49-F238E27FC236}">
                <a16:creationId xmlns:a16="http://schemas.microsoft.com/office/drawing/2014/main" id="{7A47D721-AF6A-306D-FF21-4E637426A437}"/>
              </a:ext>
            </a:extLst>
          </p:cNvPr>
          <p:cNvSpPr/>
          <p:nvPr/>
        </p:nvSpPr>
        <p:spPr>
          <a:xfrm>
            <a:off x="387351" y="1607559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1Text">
            <a:extLst>
              <a:ext uri="{FF2B5EF4-FFF2-40B4-BE49-F238E27FC236}">
                <a16:creationId xmlns:a16="http://schemas.microsoft.com/office/drawing/2014/main" id="{9C876872-474C-0183-B0D6-333D02E535EF}"/>
              </a:ext>
            </a:extLst>
          </p:cNvPr>
          <p:cNvSpPr txBox="1"/>
          <p:nvPr/>
        </p:nvSpPr>
        <p:spPr>
          <a:xfrm>
            <a:off x="473319" y="1551681"/>
            <a:ext cx="26289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400" dirty="0">
                <a:solidFill>
                  <a:srgbClr val="FFC000"/>
                </a:solidFill>
              </a:rPr>
              <a:t>Stock Risk Prediction</a:t>
            </a:r>
          </a:p>
          <a:p>
            <a:r>
              <a:rPr lang="en-US" sz="1100" dirty="0">
                <a:solidFill>
                  <a:schemeClr val="bg1"/>
                </a:solidFill>
              </a:rPr>
              <a:t>Predicts selected stock risk level as </a:t>
            </a:r>
            <a:r>
              <a:rPr lang="en-US" sz="1100" b="1" dirty="0">
                <a:solidFill>
                  <a:schemeClr val="bg1"/>
                </a:solidFill>
              </a:rPr>
              <a:t>LOW, MEDIUM, or HIGH</a:t>
            </a:r>
            <a:r>
              <a:rPr lang="en-US" sz="1100" dirty="0">
                <a:solidFill>
                  <a:schemeClr val="bg1"/>
                </a:solidFill>
              </a:rPr>
              <a:t> using historical market data.</a:t>
            </a:r>
            <a:endParaRPr lang="en-US" sz="11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9" name="Card2BG">
            <a:extLst>
              <a:ext uri="{FF2B5EF4-FFF2-40B4-BE49-F238E27FC236}">
                <a16:creationId xmlns:a16="http://schemas.microsoft.com/office/drawing/2014/main" id="{ED00E758-7FF6-3CB6-77E8-D2FFC4130082}"/>
              </a:ext>
            </a:extLst>
          </p:cNvPr>
          <p:cNvSpPr/>
          <p:nvPr/>
        </p:nvSpPr>
        <p:spPr>
          <a:xfrm>
            <a:off x="3352800" y="161065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2Text">
            <a:extLst>
              <a:ext uri="{FF2B5EF4-FFF2-40B4-BE49-F238E27FC236}">
                <a16:creationId xmlns:a16="http://schemas.microsoft.com/office/drawing/2014/main" id="{01898E6C-A555-4E90-867D-9BF2CB635F39}"/>
              </a:ext>
            </a:extLst>
          </p:cNvPr>
          <p:cNvSpPr txBox="1"/>
          <p:nvPr/>
        </p:nvSpPr>
        <p:spPr>
          <a:xfrm>
            <a:off x="3370384" y="1592675"/>
            <a:ext cx="26289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400" dirty="0">
                <a:solidFill>
                  <a:srgbClr val="FFC000"/>
                </a:solidFill>
              </a:rPr>
              <a:t>Global Factor Analysis</a:t>
            </a:r>
          </a:p>
          <a:p>
            <a:r>
              <a:rPr lang="en-US" sz="1100" dirty="0">
                <a:solidFill>
                  <a:schemeClr val="bg1"/>
                </a:solidFill>
              </a:rPr>
              <a:t>Uses global indicators such as </a:t>
            </a:r>
            <a:r>
              <a:rPr lang="en-US" sz="1100" b="1" dirty="0">
                <a:solidFill>
                  <a:schemeClr val="bg1"/>
                </a:solidFill>
              </a:rPr>
              <a:t>gold price, oil price, VIX index, exchange rate, and inflation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  <a:endParaRPr lang="en-US" sz="11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1" name="Card3BG">
            <a:extLst>
              <a:ext uri="{FF2B5EF4-FFF2-40B4-BE49-F238E27FC236}">
                <a16:creationId xmlns:a16="http://schemas.microsoft.com/office/drawing/2014/main" id="{4C587FCE-7C7D-37C0-7827-16954B37E525}"/>
              </a:ext>
            </a:extLst>
          </p:cNvPr>
          <p:cNvSpPr/>
          <p:nvPr/>
        </p:nvSpPr>
        <p:spPr>
          <a:xfrm>
            <a:off x="6324600" y="1592675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3Text">
            <a:extLst>
              <a:ext uri="{FF2B5EF4-FFF2-40B4-BE49-F238E27FC236}">
                <a16:creationId xmlns:a16="http://schemas.microsoft.com/office/drawing/2014/main" id="{A102FD44-18C4-43C7-1BD7-3A0F4E5F26BA}"/>
              </a:ext>
            </a:extLst>
          </p:cNvPr>
          <p:cNvSpPr txBox="1"/>
          <p:nvPr/>
        </p:nvSpPr>
        <p:spPr>
          <a:xfrm>
            <a:off x="6346581" y="1567442"/>
            <a:ext cx="26289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400" dirty="0">
                <a:solidFill>
                  <a:srgbClr val="FFC000"/>
                </a:solidFill>
              </a:rPr>
              <a:t>Explainable AI</a:t>
            </a:r>
          </a:p>
          <a:p>
            <a:r>
              <a:rPr lang="en-US" sz="1100" dirty="0">
                <a:solidFill>
                  <a:schemeClr val="bg1"/>
                </a:solidFill>
              </a:rPr>
              <a:t>Applies </a:t>
            </a:r>
            <a:r>
              <a:rPr lang="en-US" sz="1100" b="1" dirty="0">
                <a:solidFill>
                  <a:schemeClr val="bg1"/>
                </a:solidFill>
              </a:rPr>
              <a:t>SHAP Explainable AI</a:t>
            </a:r>
            <a:r>
              <a:rPr lang="en-US" sz="1100" dirty="0">
                <a:solidFill>
                  <a:schemeClr val="bg1"/>
                </a:solidFill>
              </a:rPr>
              <a:t> to identify the most important factors affecting the risk prediction.</a:t>
            </a:r>
            <a:endParaRPr lang="en-US" sz="11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" name="Card4BG">
            <a:extLst>
              <a:ext uri="{FF2B5EF4-FFF2-40B4-BE49-F238E27FC236}">
                <a16:creationId xmlns:a16="http://schemas.microsoft.com/office/drawing/2014/main" id="{91324E3E-C661-4FC9-9E3F-1DF41A9A6D87}"/>
              </a:ext>
            </a:extLst>
          </p:cNvPr>
          <p:cNvSpPr/>
          <p:nvPr/>
        </p:nvSpPr>
        <p:spPr>
          <a:xfrm>
            <a:off x="381000" y="3337536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132347"/>
          </a:solidFill>
          <a:ln w="19050">
            <a:solidFill>
              <a:srgbClr val="C8A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4Text">
            <a:extLst>
              <a:ext uri="{FF2B5EF4-FFF2-40B4-BE49-F238E27FC236}">
                <a16:creationId xmlns:a16="http://schemas.microsoft.com/office/drawing/2014/main" id="{BE8D5318-864C-3957-DBAA-8EF3B2204396}"/>
              </a:ext>
            </a:extLst>
          </p:cNvPr>
          <p:cNvSpPr txBox="1"/>
          <p:nvPr/>
        </p:nvSpPr>
        <p:spPr>
          <a:xfrm>
            <a:off x="381000" y="3299436"/>
            <a:ext cx="26289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400" dirty="0">
                <a:solidFill>
                  <a:srgbClr val="FFC000"/>
                </a:solidFill>
              </a:rPr>
              <a:t>Risk Insights</a:t>
            </a:r>
          </a:p>
          <a:p>
            <a:r>
              <a:rPr lang="en-US" sz="1100" dirty="0">
                <a:solidFill>
                  <a:schemeClr val="bg1"/>
                </a:solidFill>
              </a:rPr>
              <a:t>Generates simple risk explanations to help users understand why a stock is risky.</a:t>
            </a:r>
            <a:endParaRPr lang="en-US" sz="11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5" name="Card5BG">
            <a:extLst>
              <a:ext uri="{FF2B5EF4-FFF2-40B4-BE49-F238E27FC236}">
                <a16:creationId xmlns:a16="http://schemas.microsoft.com/office/drawing/2014/main" id="{2FA3B8D8-B70D-5688-4371-408C5EFFE85C}"/>
              </a:ext>
            </a:extLst>
          </p:cNvPr>
          <p:cNvSpPr/>
          <p:nvPr/>
        </p:nvSpPr>
        <p:spPr>
          <a:xfrm>
            <a:off x="3370384" y="3337536"/>
            <a:ext cx="5714400" cy="914400"/>
          </a:xfrm>
          <a:prstGeom prst="roundRect">
            <a:avLst>
              <a:gd name="adj" fmla="val 5000"/>
            </a:avLst>
          </a:prstGeom>
          <a:solidFill>
            <a:srgbClr val="132347"/>
          </a:solidFill>
          <a:ln w="19050">
            <a:solidFill>
              <a:srgbClr val="C8A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5Text">
            <a:extLst>
              <a:ext uri="{FF2B5EF4-FFF2-40B4-BE49-F238E27FC236}">
                <a16:creationId xmlns:a16="http://schemas.microsoft.com/office/drawing/2014/main" id="{6DB785C3-C599-701E-519F-1121C3310DB0}"/>
              </a:ext>
            </a:extLst>
          </p:cNvPr>
          <p:cNvSpPr txBox="1"/>
          <p:nvPr/>
        </p:nvSpPr>
        <p:spPr>
          <a:xfrm>
            <a:off x="3543900" y="3265266"/>
            <a:ext cx="56001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/>
          <a:lstStyle/>
          <a:p>
            <a:r>
              <a:rPr lang="en-US" sz="1400" dirty="0">
                <a:solidFill>
                  <a:srgbClr val="FFC000"/>
                </a:solidFill>
              </a:rPr>
              <a:t>Dashboard Output</a:t>
            </a:r>
          </a:p>
          <a:p>
            <a:r>
              <a:rPr lang="en-US" sz="1100" dirty="0">
                <a:solidFill>
                  <a:schemeClr val="bg1"/>
                </a:solidFill>
              </a:rPr>
              <a:t>Provides risk level, risk score, and top influencing factors for the final CSE AI dashboard</a:t>
            </a:r>
            <a:r>
              <a:rPr lang="en-US" sz="1100" dirty="0"/>
              <a:t>.</a:t>
            </a:r>
            <a:endParaRPr lang="en-US" sz="110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1895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2EC05A63-3E83-7935-9635-EA8362579A98}"/>
              </a:ext>
            </a:extLst>
          </p:cNvPr>
          <p:cNvSpPr/>
          <p:nvPr/>
        </p:nvSpPr>
        <p:spPr>
          <a:xfrm>
            <a:off x="0" y="0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Line">
            <a:extLst>
              <a:ext uri="{FF2B5EF4-FFF2-40B4-BE49-F238E27FC236}">
                <a16:creationId xmlns:a16="http://schemas.microsoft.com/office/drawing/2014/main" id="{77FBC6F7-32FF-A707-D304-BE0378D92E62}"/>
              </a:ext>
            </a:extLst>
          </p:cNvPr>
          <p:cNvSpPr/>
          <p:nvPr/>
        </p:nvSpPr>
        <p:spPr>
          <a:xfrm>
            <a:off x="0" y="254000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>
            <a:extLst>
              <a:ext uri="{FF2B5EF4-FFF2-40B4-BE49-F238E27FC236}">
                <a16:creationId xmlns:a16="http://schemas.microsoft.com/office/drawing/2014/main" id="{2035BE9E-440D-0CEB-1447-DB7F7C01D3E0}"/>
              </a:ext>
            </a:extLst>
          </p:cNvPr>
          <p:cNvSpPr txBox="1"/>
          <p:nvPr/>
        </p:nvSpPr>
        <p:spPr>
          <a:xfrm>
            <a:off x="228599" y="360000"/>
            <a:ext cx="9143999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200" b="1" dirty="0">
                <a:solidFill>
                  <a:srgbClr val="002060"/>
                </a:solidFill>
              </a:rPr>
              <a:t>Explainable Financial Risk Engine — Problem &amp; User Requirements</a:t>
            </a:r>
            <a:endParaRPr lang="en-US" sz="22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5" name="Col1Header">
            <a:extLst>
              <a:ext uri="{FF2B5EF4-FFF2-40B4-BE49-F238E27FC236}">
                <a16:creationId xmlns:a16="http://schemas.microsoft.com/office/drawing/2014/main" id="{A9E425D6-212A-B486-DD8C-9C7A53513BB0}"/>
              </a:ext>
            </a:extLst>
          </p:cNvPr>
          <p:cNvSpPr/>
          <p:nvPr/>
        </p:nvSpPr>
        <p:spPr>
          <a:xfrm>
            <a:off x="228600" y="838200"/>
            <a:ext cx="4114800" cy="228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C8A84B"/>
                </a:solidFill>
                <a:latin typeface="Calibri"/>
              </a:rPr>
              <a:t>Sub-Problem Addressed</a:t>
            </a:r>
          </a:p>
        </p:txBody>
      </p:sp>
      <p:sp>
        <p:nvSpPr>
          <p:cNvPr id="6" name="Col1Content">
            <a:extLst>
              <a:ext uri="{FF2B5EF4-FFF2-40B4-BE49-F238E27FC236}">
                <a16:creationId xmlns:a16="http://schemas.microsoft.com/office/drawing/2014/main" id="{5F343C50-45AC-0F66-5150-EAC3BF240A2E}"/>
              </a:ext>
            </a:extLst>
          </p:cNvPr>
          <p:cNvSpPr txBox="1"/>
          <p:nvPr/>
        </p:nvSpPr>
        <p:spPr>
          <a:xfrm>
            <a:off x="228600" y="1066800"/>
            <a:ext cx="4114800" cy="28956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r>
              <a:rPr lang="en-US" sz="1100" dirty="0"/>
              <a:t>Stock market movements are affected by many internal and external factors, making risk difficult to understand.</a:t>
            </a:r>
          </a:p>
          <a:p>
            <a:endParaRPr lang="en-US" sz="1100" dirty="0"/>
          </a:p>
          <a:p>
            <a:r>
              <a:rPr lang="en-US" sz="1100" dirty="0"/>
              <a:t>Retail investors may see price changes, but they may not know why the risk level is increasing or decreasing.</a:t>
            </a:r>
          </a:p>
          <a:p>
            <a:endParaRPr lang="en-US" sz="1100" dirty="0"/>
          </a:p>
          <a:p>
            <a:r>
              <a:rPr lang="en-US" sz="1100" dirty="0"/>
              <a:t>Traditional prediction models mainly focus on accuracy, but they do not clearly explain the reason behind the prediction.</a:t>
            </a:r>
          </a:p>
          <a:p>
            <a:endParaRPr lang="en-US" sz="1100" dirty="0"/>
          </a:p>
          <a:p>
            <a:r>
              <a:rPr lang="en-US" sz="1100" dirty="0"/>
              <a:t>A reliable method is needed to predict stock risk and explain the key global factors affecting that risk.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endParaRPr lang="en-US" sz="1100" dirty="0">
              <a:solidFill>
                <a:srgbClr val="1A2B5A"/>
              </a:solidFill>
              <a:latin typeface="Calibri"/>
            </a:endParaRPr>
          </a:p>
        </p:txBody>
      </p:sp>
      <p:sp>
        <p:nvSpPr>
          <p:cNvPr id="7" name="Col2Header">
            <a:extLst>
              <a:ext uri="{FF2B5EF4-FFF2-40B4-BE49-F238E27FC236}">
                <a16:creationId xmlns:a16="http://schemas.microsoft.com/office/drawing/2014/main" id="{08D5ED78-D41F-CB13-3A5B-F5B1E1AA633F}"/>
              </a:ext>
            </a:extLst>
          </p:cNvPr>
          <p:cNvSpPr/>
          <p:nvPr/>
        </p:nvSpPr>
        <p:spPr>
          <a:xfrm>
            <a:off x="4571400" y="838200"/>
            <a:ext cx="4344000" cy="2286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0D1B40"/>
                </a:solidFill>
                <a:latin typeface="Calibri"/>
              </a:rPr>
              <a:t>User Requirements Addressed</a:t>
            </a:r>
          </a:p>
        </p:txBody>
      </p:sp>
      <p:sp>
        <p:nvSpPr>
          <p:cNvPr id="8" name="Col2Content">
            <a:extLst>
              <a:ext uri="{FF2B5EF4-FFF2-40B4-BE49-F238E27FC236}">
                <a16:creationId xmlns:a16="http://schemas.microsoft.com/office/drawing/2014/main" id="{14827CEA-CB42-63E1-398C-49EB36166CFD}"/>
              </a:ext>
            </a:extLst>
          </p:cNvPr>
          <p:cNvSpPr txBox="1"/>
          <p:nvPr/>
        </p:nvSpPr>
        <p:spPr>
          <a:xfrm>
            <a:off x="4571400" y="1066800"/>
            <a:ext cx="4344000" cy="28956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Select a stock and view its risk level.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Analyze stock data with global financial indicators.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Classify risk as </a:t>
            </a:r>
            <a:r>
              <a:rPr lang="en-US" sz="1100" b="1" dirty="0">
                <a:solidFill>
                  <a:schemeClr val="bg1"/>
                </a:solidFill>
              </a:rPr>
              <a:t>LOW, MEDIUM, or HIGH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Show the main factors that affected the risk result.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chemeClr val="bg1"/>
                </a:solidFill>
              </a:rPr>
              <a:t>Provide simple explanations and visual insights through the dashboard.</a:t>
            </a:r>
          </a:p>
        </p:txBody>
      </p:sp>
      <p:pic>
        <p:nvPicPr>
          <p:cNvPr id="9" name="SLIITLogo">
            <a:extLst>
              <a:ext uri="{FF2B5EF4-FFF2-40B4-BE49-F238E27FC236}">
                <a16:creationId xmlns:a16="http://schemas.microsoft.com/office/drawing/2014/main" id="{71ED03A5-B80D-81F2-03CD-54A05F004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684726"/>
            <a:ext cx="2150792" cy="409549"/>
          </a:xfrm>
          <a:prstGeom prst="rect">
            <a:avLst/>
          </a:prstGeom>
        </p:spPr>
      </p:pic>
      <p:sp>
        <p:nvSpPr>
          <p:cNvPr id="10" name="FooterText">
            <a:extLst>
              <a:ext uri="{FF2B5EF4-FFF2-40B4-BE49-F238E27FC236}">
                <a16:creationId xmlns:a16="http://schemas.microsoft.com/office/drawing/2014/main" id="{31BE62BD-4E28-9CEB-A9B3-B441616241C0}"/>
              </a:ext>
            </a:extLst>
          </p:cNvPr>
          <p:cNvSpPr/>
          <p:nvPr/>
        </p:nvSpPr>
        <p:spPr>
          <a:xfrm>
            <a:off x="2501901" y="4816290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IT22547088        R26-IT-076          10.05.2026</a:t>
            </a:r>
          </a:p>
        </p:txBody>
      </p:sp>
    </p:spTree>
    <p:extLst>
      <p:ext uri="{BB962C8B-B14F-4D97-AF65-F5344CB8AC3E}">
        <p14:creationId xmlns:p14="http://schemas.microsoft.com/office/powerpoint/2010/main" val="1343061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07A94A99-9FC7-8811-E878-7A14462528EE}"/>
              </a:ext>
            </a:extLst>
          </p:cNvPr>
          <p:cNvSpPr/>
          <p:nvPr/>
        </p:nvSpPr>
        <p:spPr>
          <a:xfrm>
            <a:off x="0" y="0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Line">
            <a:extLst>
              <a:ext uri="{FF2B5EF4-FFF2-40B4-BE49-F238E27FC236}">
                <a16:creationId xmlns:a16="http://schemas.microsoft.com/office/drawing/2014/main" id="{5C952B48-2408-46A1-5673-B7822BA11D4F}"/>
              </a:ext>
            </a:extLst>
          </p:cNvPr>
          <p:cNvSpPr/>
          <p:nvPr/>
        </p:nvSpPr>
        <p:spPr>
          <a:xfrm>
            <a:off x="0" y="254000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>
            <a:extLst>
              <a:ext uri="{FF2B5EF4-FFF2-40B4-BE49-F238E27FC236}">
                <a16:creationId xmlns:a16="http://schemas.microsoft.com/office/drawing/2014/main" id="{F385313C-E0FC-5664-7653-7CD6423E02D1}"/>
              </a:ext>
            </a:extLst>
          </p:cNvPr>
          <p:cNvSpPr txBox="1"/>
          <p:nvPr/>
        </p:nvSpPr>
        <p:spPr>
          <a:xfrm>
            <a:off x="228600" y="360000"/>
            <a:ext cx="86868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200" b="1" dirty="0">
                <a:solidFill>
                  <a:srgbClr val="0D1B40"/>
                </a:solidFill>
                <a:latin typeface="Calibri"/>
              </a:rPr>
              <a:t>Methodology and Implementation</a:t>
            </a:r>
          </a:p>
        </p:txBody>
      </p:sp>
      <p:sp>
        <p:nvSpPr>
          <p:cNvPr id="5" name="LeftHeader">
            <a:extLst>
              <a:ext uri="{FF2B5EF4-FFF2-40B4-BE49-F238E27FC236}">
                <a16:creationId xmlns:a16="http://schemas.microsoft.com/office/drawing/2014/main" id="{7169B693-8BF5-6B89-E3FF-838E04EB81EB}"/>
              </a:ext>
            </a:extLst>
          </p:cNvPr>
          <p:cNvSpPr/>
          <p:nvPr/>
        </p:nvSpPr>
        <p:spPr>
          <a:xfrm>
            <a:off x="228600" y="838200"/>
            <a:ext cx="4267200" cy="228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dirty="0">
                <a:solidFill>
                  <a:srgbClr val="FFC000"/>
                </a:solidFill>
              </a:rPr>
              <a:t>Risk Prediction and Explainability Framework</a:t>
            </a:r>
            <a:endParaRPr lang="en-US" sz="1400" b="1" dirty="0">
              <a:solidFill>
                <a:srgbClr val="FFC000"/>
              </a:solidFill>
              <a:latin typeface="Calibri"/>
            </a:endParaRPr>
          </a:p>
        </p:txBody>
      </p:sp>
      <p:sp>
        <p:nvSpPr>
          <p:cNvPr id="6" name="LeftContent">
            <a:extLst>
              <a:ext uri="{FF2B5EF4-FFF2-40B4-BE49-F238E27FC236}">
                <a16:creationId xmlns:a16="http://schemas.microsoft.com/office/drawing/2014/main" id="{EC226105-77D6-9F9E-284E-0F47680A1196}"/>
              </a:ext>
            </a:extLst>
          </p:cNvPr>
          <p:cNvSpPr txBox="1"/>
          <p:nvPr/>
        </p:nvSpPr>
        <p:spPr>
          <a:xfrm>
            <a:off x="228600" y="1066800"/>
            <a:ext cx="4267200" cy="28194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r>
              <a:rPr lang="en-US" sz="1100" dirty="0"/>
              <a:t>stock data and global financial indicators are collected and cleaned.</a:t>
            </a:r>
          </a:p>
          <a:p>
            <a:endParaRPr lang="en-US" sz="1100" dirty="0"/>
          </a:p>
          <a:p>
            <a:r>
              <a:rPr lang="en-US" sz="1100" dirty="0"/>
              <a:t>Features such as price movement, trading volume, oil price, gold price, and VIX index are prepared.</a:t>
            </a:r>
          </a:p>
          <a:p>
            <a:endParaRPr lang="en-US" sz="1100" dirty="0"/>
          </a:p>
          <a:p>
            <a:r>
              <a:rPr lang="en-US" sz="1100" dirty="0"/>
              <a:t>A machine learning model is trained to classify stock risk levels.</a:t>
            </a:r>
          </a:p>
          <a:p>
            <a:r>
              <a:rPr lang="en-US" sz="1100" dirty="0"/>
              <a:t>SHAP Explainable AI is applied to explain the model prediction.</a:t>
            </a:r>
          </a:p>
          <a:p>
            <a:endParaRPr lang="en-US" sz="1100" dirty="0"/>
          </a:p>
          <a:p>
            <a:r>
              <a:rPr lang="en-US" sz="1100" dirty="0"/>
              <a:t>The final output is saved as risk level, risk score, and top factor explanations.</a:t>
            </a:r>
          </a:p>
        </p:txBody>
      </p:sp>
      <p:sp>
        <p:nvSpPr>
          <p:cNvPr id="7" name="RightHeader">
            <a:extLst>
              <a:ext uri="{FF2B5EF4-FFF2-40B4-BE49-F238E27FC236}">
                <a16:creationId xmlns:a16="http://schemas.microsoft.com/office/drawing/2014/main" id="{D07D588E-9557-3037-1EDA-9EBFEF788591}"/>
              </a:ext>
            </a:extLst>
          </p:cNvPr>
          <p:cNvSpPr/>
          <p:nvPr/>
        </p:nvSpPr>
        <p:spPr>
          <a:xfrm>
            <a:off x="4648200" y="838200"/>
            <a:ext cx="4267200" cy="2286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0D1B40"/>
                </a:solidFill>
                <a:latin typeface="Calibri"/>
              </a:rPr>
              <a:t>Evaluation Metrics</a:t>
            </a:r>
          </a:p>
        </p:txBody>
      </p:sp>
      <p:sp>
        <p:nvSpPr>
          <p:cNvPr id="8" name="M1">
            <a:extLst>
              <a:ext uri="{FF2B5EF4-FFF2-40B4-BE49-F238E27FC236}">
                <a16:creationId xmlns:a16="http://schemas.microsoft.com/office/drawing/2014/main" id="{3A0CF649-2B4A-0D0C-4792-3C9274D31C4F}"/>
              </a:ext>
            </a:extLst>
          </p:cNvPr>
          <p:cNvSpPr/>
          <p:nvPr/>
        </p:nvSpPr>
        <p:spPr>
          <a:xfrm>
            <a:off x="5653874" y="1147945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200" dirty="0">
                <a:solidFill>
                  <a:srgbClr val="FFC000"/>
                </a:solidFill>
              </a:rPr>
              <a:t>Risk Classification Accuracy</a:t>
            </a:r>
            <a:endParaRPr lang="en-US" sz="1200" b="1" dirty="0">
              <a:solidFill>
                <a:srgbClr val="FFC000"/>
              </a:solidFill>
              <a:latin typeface="Calibri"/>
            </a:endParaRPr>
          </a:p>
        </p:txBody>
      </p:sp>
      <p:sp>
        <p:nvSpPr>
          <p:cNvPr id="9" name="M2">
            <a:extLst>
              <a:ext uri="{FF2B5EF4-FFF2-40B4-BE49-F238E27FC236}">
                <a16:creationId xmlns:a16="http://schemas.microsoft.com/office/drawing/2014/main" id="{724D15BE-B71C-6BE3-57C1-37AA140F2F7F}"/>
              </a:ext>
            </a:extLst>
          </p:cNvPr>
          <p:cNvSpPr/>
          <p:nvPr/>
        </p:nvSpPr>
        <p:spPr>
          <a:xfrm>
            <a:off x="5664201" y="1781836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200" dirty="0">
                <a:solidFill>
                  <a:srgbClr val="FFC000"/>
                </a:solidFill>
              </a:rPr>
              <a:t>LOW / MEDIUM / HIGH Confusion Matrix</a:t>
            </a:r>
            <a:endParaRPr lang="en-US" sz="1200" b="1" dirty="0">
              <a:solidFill>
                <a:srgbClr val="FFC000"/>
              </a:solidFill>
              <a:latin typeface="Calibri"/>
            </a:endParaRPr>
          </a:p>
        </p:txBody>
      </p:sp>
      <p:sp>
        <p:nvSpPr>
          <p:cNvPr id="10" name="M3">
            <a:extLst>
              <a:ext uri="{FF2B5EF4-FFF2-40B4-BE49-F238E27FC236}">
                <a16:creationId xmlns:a16="http://schemas.microsoft.com/office/drawing/2014/main" id="{EED63399-0F92-50D4-40E7-D8854E8254D7}"/>
              </a:ext>
            </a:extLst>
          </p:cNvPr>
          <p:cNvSpPr/>
          <p:nvPr/>
        </p:nvSpPr>
        <p:spPr>
          <a:xfrm>
            <a:off x="5653874" y="2398145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132347"/>
          </a:solidFill>
          <a:ln w="19050">
            <a:solidFill>
              <a:srgbClr val="C8A84B"/>
            </a:solidFill>
          </a:ln>
        </p:spPr>
        <p:txBody>
          <a:bodyPr wrap="square" lIns="91440" tIns="45720" rIns="91440" bIns="45720" anchor="ctr"/>
          <a:lstStyle/>
          <a:p>
            <a:r>
              <a:rPr lang="en-US" sz="1200" dirty="0">
                <a:solidFill>
                  <a:srgbClr val="FFC000"/>
                </a:solidFill>
              </a:rPr>
              <a:t>Recall</a:t>
            </a:r>
            <a:endParaRPr lang="en-US" sz="1200" b="1" dirty="0">
              <a:solidFill>
                <a:srgbClr val="FFC000"/>
              </a:solidFill>
              <a:latin typeface="Calibri"/>
            </a:endParaRPr>
          </a:p>
        </p:txBody>
      </p:sp>
      <p:sp>
        <p:nvSpPr>
          <p:cNvPr id="11" name="M4">
            <a:extLst>
              <a:ext uri="{FF2B5EF4-FFF2-40B4-BE49-F238E27FC236}">
                <a16:creationId xmlns:a16="http://schemas.microsoft.com/office/drawing/2014/main" id="{398F406F-32DE-0F37-8B54-A065F76A1D80}"/>
              </a:ext>
            </a:extLst>
          </p:cNvPr>
          <p:cNvSpPr/>
          <p:nvPr/>
        </p:nvSpPr>
        <p:spPr>
          <a:xfrm>
            <a:off x="5653874" y="3053440"/>
            <a:ext cx="2057400" cy="380000"/>
          </a:xfrm>
          <a:prstGeom prst="roundRect">
            <a:avLst>
              <a:gd name="adj" fmla="val 5000"/>
            </a:avLst>
          </a:prstGeom>
          <a:solidFill>
            <a:srgbClr val="132347"/>
          </a:solidFill>
          <a:ln w="19050">
            <a:solidFill>
              <a:srgbClr val="C8A84B"/>
            </a:solidFill>
          </a:ln>
        </p:spPr>
        <p:txBody>
          <a:bodyPr wrap="square" lIns="91440" tIns="45720" rIns="91440" bIns="45720" anchor="ctr"/>
          <a:lstStyle/>
          <a:p>
            <a:r>
              <a:rPr lang="en-US" sz="1200" dirty="0">
                <a:solidFill>
                  <a:srgbClr val="FFC000"/>
                </a:solidFill>
              </a:rPr>
              <a:t>SHAP Feature Importance</a:t>
            </a:r>
            <a:endParaRPr lang="en-US" sz="1200" b="1" dirty="0">
              <a:solidFill>
                <a:srgbClr val="FFC000"/>
              </a:solidFill>
              <a:latin typeface="Calibri"/>
            </a:endParaRPr>
          </a:p>
        </p:txBody>
      </p:sp>
      <p:pic>
        <p:nvPicPr>
          <p:cNvPr id="14" name="SLIITLogo">
            <a:extLst>
              <a:ext uri="{FF2B5EF4-FFF2-40B4-BE49-F238E27FC236}">
                <a16:creationId xmlns:a16="http://schemas.microsoft.com/office/drawing/2014/main" id="{9A1529C4-7407-B7F9-4174-3D1132C8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684726"/>
            <a:ext cx="2150792" cy="409549"/>
          </a:xfrm>
          <a:prstGeom prst="rect">
            <a:avLst/>
          </a:prstGeom>
        </p:spPr>
      </p:pic>
      <p:sp>
        <p:nvSpPr>
          <p:cNvPr id="15" name="FooterText">
            <a:extLst>
              <a:ext uri="{FF2B5EF4-FFF2-40B4-BE49-F238E27FC236}">
                <a16:creationId xmlns:a16="http://schemas.microsoft.com/office/drawing/2014/main" id="{B344DE74-BEAF-7DC4-69BA-0D66E52ACD10}"/>
              </a:ext>
            </a:extLst>
          </p:cNvPr>
          <p:cNvSpPr/>
          <p:nvPr/>
        </p:nvSpPr>
        <p:spPr>
          <a:xfrm>
            <a:off x="2501901" y="4816290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IT21471162          R26-IT-076          16.03.2026</a:t>
            </a:r>
          </a:p>
        </p:txBody>
      </p:sp>
    </p:spTree>
    <p:extLst>
      <p:ext uri="{BB962C8B-B14F-4D97-AF65-F5344CB8AC3E}">
        <p14:creationId xmlns:p14="http://schemas.microsoft.com/office/powerpoint/2010/main" val="429898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C0CA2367-F6BE-C193-2299-A7CA7776579B}"/>
              </a:ext>
            </a:extLst>
          </p:cNvPr>
          <p:cNvSpPr/>
          <p:nvPr/>
        </p:nvSpPr>
        <p:spPr>
          <a:xfrm>
            <a:off x="0" y="-19455"/>
            <a:ext cx="9144000" cy="254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Line">
            <a:extLst>
              <a:ext uri="{FF2B5EF4-FFF2-40B4-BE49-F238E27FC236}">
                <a16:creationId xmlns:a16="http://schemas.microsoft.com/office/drawing/2014/main" id="{DE90715F-9BEE-B84A-1507-1F3DA2B2756C}"/>
              </a:ext>
            </a:extLst>
          </p:cNvPr>
          <p:cNvSpPr/>
          <p:nvPr/>
        </p:nvSpPr>
        <p:spPr>
          <a:xfrm>
            <a:off x="0" y="234545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Title">
            <a:extLst>
              <a:ext uri="{FF2B5EF4-FFF2-40B4-BE49-F238E27FC236}">
                <a16:creationId xmlns:a16="http://schemas.microsoft.com/office/drawing/2014/main" id="{0C829290-3A71-F0BA-9788-D71BA9888170}"/>
              </a:ext>
            </a:extLst>
          </p:cNvPr>
          <p:cNvSpPr txBox="1"/>
          <p:nvPr/>
        </p:nvSpPr>
        <p:spPr>
          <a:xfrm>
            <a:off x="228600" y="340545"/>
            <a:ext cx="86868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200" b="1" dirty="0">
                <a:solidFill>
                  <a:srgbClr val="0D1B40"/>
                </a:solidFill>
                <a:latin typeface="Calibri"/>
              </a:rPr>
              <a:t>Progress Results and Next Steps</a:t>
            </a:r>
          </a:p>
        </p:txBody>
      </p:sp>
      <p:sp>
        <p:nvSpPr>
          <p:cNvPr id="5" name="ResultHeader">
            <a:extLst>
              <a:ext uri="{FF2B5EF4-FFF2-40B4-BE49-F238E27FC236}">
                <a16:creationId xmlns:a16="http://schemas.microsoft.com/office/drawing/2014/main" id="{20BC3152-848F-F578-C93A-B8A612BFF3A4}"/>
              </a:ext>
            </a:extLst>
          </p:cNvPr>
          <p:cNvSpPr/>
          <p:nvPr/>
        </p:nvSpPr>
        <p:spPr>
          <a:xfrm>
            <a:off x="228600" y="818745"/>
            <a:ext cx="4267200" cy="2286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C8A84B"/>
                </a:solidFill>
                <a:latin typeface="Calibri"/>
              </a:rPr>
              <a:t>Current Results</a:t>
            </a:r>
          </a:p>
        </p:txBody>
      </p:sp>
      <p:sp>
        <p:nvSpPr>
          <p:cNvPr id="6" name="ResultContent">
            <a:extLst>
              <a:ext uri="{FF2B5EF4-FFF2-40B4-BE49-F238E27FC236}">
                <a16:creationId xmlns:a16="http://schemas.microsoft.com/office/drawing/2014/main" id="{1843066E-C29B-8CB8-308E-511D1A144A87}"/>
              </a:ext>
            </a:extLst>
          </p:cNvPr>
          <p:cNvSpPr txBox="1"/>
          <p:nvPr/>
        </p:nvSpPr>
        <p:spPr>
          <a:xfrm>
            <a:off x="228600" y="1047345"/>
            <a:ext cx="4267200" cy="28194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r>
              <a:rPr lang="en-US" sz="1100" dirty="0"/>
              <a:t>Dataset cleaned and prepared for model training.</a:t>
            </a:r>
          </a:p>
          <a:p>
            <a:endParaRPr lang="en-US" sz="1100" dirty="0"/>
          </a:p>
          <a:p>
            <a:r>
              <a:rPr lang="en-US" sz="1100" dirty="0"/>
              <a:t>Risk levels were classified as </a:t>
            </a:r>
            <a:r>
              <a:rPr lang="en-US" sz="1100" b="1" dirty="0"/>
              <a:t>LOW, MEDIUM, and HIGH</a:t>
            </a:r>
            <a:r>
              <a:rPr lang="en-US" sz="1100" dirty="0"/>
              <a:t>.</a:t>
            </a:r>
          </a:p>
          <a:p>
            <a:endParaRPr lang="en-US" sz="1100" dirty="0"/>
          </a:p>
          <a:p>
            <a:r>
              <a:rPr lang="en-US" sz="1100" dirty="0"/>
              <a:t>Random Forest model was trained for risk classification.</a:t>
            </a:r>
          </a:p>
          <a:p>
            <a:endParaRPr lang="en-US" sz="1100" dirty="0"/>
          </a:p>
          <a:p>
            <a:r>
              <a:rPr lang="en-US" sz="1100" dirty="0"/>
              <a:t>SHAP explanation was integrated to identify top risk factors.</a:t>
            </a:r>
          </a:p>
          <a:p>
            <a:endParaRPr lang="en-US" sz="1100" dirty="0"/>
          </a:p>
          <a:p>
            <a:r>
              <a:rPr lang="en-US" sz="1100" dirty="0"/>
              <a:t>Initial model accuracy and classification report were generated.</a:t>
            </a:r>
          </a:p>
        </p:txBody>
      </p:sp>
      <p:sp>
        <p:nvSpPr>
          <p:cNvPr id="7" name="NextHeader">
            <a:extLst>
              <a:ext uri="{FF2B5EF4-FFF2-40B4-BE49-F238E27FC236}">
                <a16:creationId xmlns:a16="http://schemas.microsoft.com/office/drawing/2014/main" id="{EC144FE9-F909-4AC2-B48F-1A14F71A839D}"/>
              </a:ext>
            </a:extLst>
          </p:cNvPr>
          <p:cNvSpPr/>
          <p:nvPr/>
        </p:nvSpPr>
        <p:spPr>
          <a:xfrm>
            <a:off x="4648200" y="818745"/>
            <a:ext cx="4267200" cy="2286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r>
              <a:rPr lang="en-US" sz="1400" b="1" dirty="0">
                <a:solidFill>
                  <a:srgbClr val="0D1B40"/>
                </a:solidFill>
                <a:latin typeface="Calibri"/>
              </a:rPr>
              <a:t>Next Step: </a:t>
            </a:r>
            <a:r>
              <a:rPr lang="en-US" sz="1400" b="1" dirty="0"/>
              <a:t>AI-Based User-Friendly Risk Explanation</a:t>
            </a:r>
            <a:endParaRPr lang="en-US" sz="1400" b="1" dirty="0">
              <a:solidFill>
                <a:srgbClr val="0D1B40"/>
              </a:solidFill>
              <a:latin typeface="Calibri"/>
            </a:endParaRPr>
          </a:p>
        </p:txBody>
      </p:sp>
      <p:sp>
        <p:nvSpPr>
          <p:cNvPr id="8" name="NextContent">
            <a:extLst>
              <a:ext uri="{FF2B5EF4-FFF2-40B4-BE49-F238E27FC236}">
                <a16:creationId xmlns:a16="http://schemas.microsoft.com/office/drawing/2014/main" id="{F5473C29-0FF0-32E3-42FD-4AFF3C404E7E}"/>
              </a:ext>
            </a:extLst>
          </p:cNvPr>
          <p:cNvSpPr txBox="1"/>
          <p:nvPr/>
        </p:nvSpPr>
        <p:spPr>
          <a:xfrm>
            <a:off x="4648200" y="1067640"/>
            <a:ext cx="4267200" cy="28194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txBody>
          <a:bodyPr wrap="square" lIns="114300" tIns="114300" rIns="114300" bIns="114300" anchor="t"/>
          <a:lstStyle/>
          <a:p>
            <a:r>
              <a:rPr lang="en-US" sz="1100" dirty="0">
                <a:solidFill>
                  <a:srgbClr val="FFC000"/>
                </a:solidFill>
              </a:rPr>
              <a:t>Display the predicted risk level as </a:t>
            </a:r>
            <a:r>
              <a:rPr lang="en-US" sz="1100" b="1" dirty="0">
                <a:solidFill>
                  <a:srgbClr val="FFC000"/>
                </a:solidFill>
              </a:rPr>
              <a:t>LOW, MEDIUM, or HIGH</a:t>
            </a:r>
            <a:r>
              <a:rPr lang="en-US" sz="1100" dirty="0">
                <a:solidFill>
                  <a:srgbClr val="FFC000"/>
                </a:solidFill>
              </a:rPr>
              <a:t>.</a:t>
            </a:r>
          </a:p>
          <a:p>
            <a:r>
              <a:rPr lang="en-US" sz="1100" dirty="0">
                <a:solidFill>
                  <a:srgbClr val="FFC000"/>
                </a:solidFill>
              </a:rPr>
              <a:t>Use AI to explain the risk result in simple language.</a:t>
            </a:r>
          </a:p>
          <a:p>
            <a:endParaRPr lang="en-US" sz="1100" dirty="0">
              <a:solidFill>
                <a:srgbClr val="FFC000"/>
              </a:solidFill>
            </a:endParaRPr>
          </a:p>
          <a:p>
            <a:r>
              <a:rPr lang="en-US" sz="1100" dirty="0">
                <a:solidFill>
                  <a:srgbClr val="FFC000"/>
                </a:solidFill>
              </a:rPr>
              <a:t>Show the main factors that affected the prediction, such as oil price, gold price, VIX, stock volatility, and volume.</a:t>
            </a:r>
          </a:p>
          <a:p>
            <a:endParaRPr lang="en-US" sz="1100" dirty="0">
              <a:solidFill>
                <a:srgbClr val="FFC000"/>
              </a:solidFill>
            </a:endParaRPr>
          </a:p>
          <a:p>
            <a:r>
              <a:rPr lang="en-US" sz="1100" dirty="0">
                <a:solidFill>
                  <a:srgbClr val="FFC000"/>
                </a:solidFill>
              </a:rPr>
              <a:t>Generate a user-friendly explanation instead of only showing technical model output.</a:t>
            </a:r>
          </a:p>
          <a:p>
            <a:endParaRPr lang="en-US" sz="1100" dirty="0">
              <a:solidFill>
                <a:srgbClr val="FFC000"/>
              </a:solidFill>
            </a:endParaRPr>
          </a:p>
          <a:p>
            <a:r>
              <a:rPr lang="en-US" sz="1100" dirty="0">
                <a:solidFill>
                  <a:srgbClr val="FFC000"/>
                </a:solidFill>
              </a:rPr>
              <a:t>Help users understand </a:t>
            </a:r>
            <a:r>
              <a:rPr lang="en-US" sz="1100" b="1" dirty="0">
                <a:solidFill>
                  <a:srgbClr val="FFC000"/>
                </a:solidFill>
              </a:rPr>
              <a:t>why the stock is risky</a:t>
            </a:r>
            <a:r>
              <a:rPr lang="en-US" sz="1100" dirty="0">
                <a:solidFill>
                  <a:srgbClr val="FFC000"/>
                </a:solidFill>
              </a:rPr>
              <a:t> and support better financial decision-making.</a:t>
            </a:r>
          </a:p>
        </p:txBody>
      </p:sp>
      <p:pic>
        <p:nvPicPr>
          <p:cNvPr id="9" name="SLIITLogo">
            <a:extLst>
              <a:ext uri="{FF2B5EF4-FFF2-40B4-BE49-F238E27FC236}">
                <a16:creationId xmlns:a16="http://schemas.microsoft.com/office/drawing/2014/main" id="{34690BB2-2D1C-D6CC-FE0B-B906AF329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" y="4665271"/>
            <a:ext cx="2150792" cy="409549"/>
          </a:xfrm>
          <a:prstGeom prst="rect">
            <a:avLst/>
          </a:prstGeom>
        </p:spPr>
      </p:pic>
      <p:sp>
        <p:nvSpPr>
          <p:cNvPr id="10" name="FooterText">
            <a:extLst>
              <a:ext uri="{FF2B5EF4-FFF2-40B4-BE49-F238E27FC236}">
                <a16:creationId xmlns:a16="http://schemas.microsoft.com/office/drawing/2014/main" id="{C42D73E5-0C72-96E4-21F2-08E246685F4F}"/>
              </a:ext>
            </a:extLst>
          </p:cNvPr>
          <p:cNvSpPr/>
          <p:nvPr/>
        </p:nvSpPr>
        <p:spPr>
          <a:xfrm>
            <a:off x="2501901" y="4796835"/>
            <a:ext cx="5219700" cy="146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D1B40"/>
                </a:solidFill>
                <a:latin typeface="Calibri"/>
              </a:rPr>
              <a:t>IT22547088          R26-IT-076          10.05.2026</a:t>
            </a:r>
          </a:p>
        </p:txBody>
      </p:sp>
    </p:spTree>
    <p:extLst>
      <p:ext uri="{BB962C8B-B14F-4D97-AF65-F5344CB8AC3E}">
        <p14:creationId xmlns:p14="http://schemas.microsoft.com/office/powerpoint/2010/main" val="3483768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A21F2-327F-BA92-47E1-4132BCF18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22" y="1138758"/>
            <a:ext cx="5881703" cy="385292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F79B0-F770-E8F9-69F4-7F2C32AED297}"/>
              </a:ext>
            </a:extLst>
          </p:cNvPr>
          <p:cNvSpPr txBox="1"/>
          <p:nvPr/>
        </p:nvSpPr>
        <p:spPr>
          <a:xfrm>
            <a:off x="126423" y="83092"/>
            <a:ext cx="7299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Prototype Demonstration – Input Dashboard and Backend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FA2E7-C6EA-2015-AD59-C129B94F2AD1}"/>
              </a:ext>
            </a:extLst>
          </p:cNvPr>
          <p:cNvSpPr txBox="1"/>
          <p:nvPr/>
        </p:nvSpPr>
        <p:spPr>
          <a:xfrm>
            <a:off x="181842" y="535516"/>
            <a:ext cx="7396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User can enter/select stock details through the frontend dashboard.</a:t>
            </a:r>
          </a:p>
          <a:p>
            <a:r>
              <a:rPr lang="en-US" sz="1200" dirty="0">
                <a:solidFill>
                  <a:schemeClr val="tx2"/>
                </a:solidFill>
              </a:rPr>
              <a:t>This is the user input interface of my component.</a:t>
            </a:r>
          </a:p>
        </p:txBody>
      </p:sp>
    </p:spTree>
    <p:extLst>
      <p:ext uri="{BB962C8B-B14F-4D97-AF65-F5344CB8AC3E}">
        <p14:creationId xmlns:p14="http://schemas.microsoft.com/office/powerpoint/2010/main" val="3335742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05A05-0E2D-E347-DD2B-0DE1D84F8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24" y="1077730"/>
            <a:ext cx="6446522" cy="378733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2ED5B-92B7-19B6-7A72-59397F433729}"/>
              </a:ext>
            </a:extLst>
          </p:cNvPr>
          <p:cNvSpPr txBox="1"/>
          <p:nvPr/>
        </p:nvSpPr>
        <p:spPr>
          <a:xfrm>
            <a:off x="136789" y="118475"/>
            <a:ext cx="4575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Postman Backend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A1B43-8E8C-1530-1D71-85455EE04702}"/>
              </a:ext>
            </a:extLst>
          </p:cNvPr>
          <p:cNvSpPr txBox="1"/>
          <p:nvPr/>
        </p:nvSpPr>
        <p:spPr>
          <a:xfrm>
            <a:off x="222271" y="458013"/>
            <a:ext cx="6671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Backend API processes the input using the trained risk model.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It returns predicted risk level, confidence score, and SHAP explanation factors.</a:t>
            </a:r>
          </a:p>
        </p:txBody>
      </p:sp>
    </p:spTree>
    <p:extLst>
      <p:ext uri="{BB962C8B-B14F-4D97-AF65-F5344CB8AC3E}">
        <p14:creationId xmlns:p14="http://schemas.microsoft.com/office/powerpoint/2010/main" val="735798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164592" cy="51435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"/>
            <a:ext cx="8979408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5084065"/>
            <a:ext cx="8979408" cy="5943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28601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1"/>
            <a:ext cx="8412480" cy="11430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709161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· Faculty of Computing · AI-Powered Stock Market Insight Generator for the CSE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</TotalTime>
  <Words>1783</Words>
  <Application>Microsoft Macintosh PowerPoint</Application>
  <PresentationFormat>On-screen Show (16:9)</PresentationFormat>
  <Paragraphs>275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Stock Market Insight Generator for the Colombo Stock Exchange</dc:title>
  <dc:subject>PptxGenJS Presentation</dc:subject>
  <dc:creator>PptxGenJS</dc:creator>
  <cp:lastModifiedBy>a62285</cp:lastModifiedBy>
  <cp:revision>23</cp:revision>
  <dcterms:created xsi:type="dcterms:W3CDTF">2026-03-15T08:34:53Z</dcterms:created>
  <dcterms:modified xsi:type="dcterms:W3CDTF">2026-05-10T15:57:53Z</dcterms:modified>
</cp:coreProperties>
</file>