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Poppins" charset="1" panose="00000500000000000000"/>
      <p:regular r:id="rId20"/>
    </p:embeddedFont>
    <p:embeddedFont>
      <p:font typeface="Archivo Black" charset="1" panose="020B0A03020202020B04"/>
      <p:regular r:id="rId21"/>
    </p:embeddedFont>
    <p:embeddedFont>
      <p:font typeface="Poppins Bold" charset="1" panose="00000800000000000000"/>
      <p:regular r:id="rId22"/>
    </p:embeddedFont>
    <p:embeddedFont>
      <p:font typeface="Poppins Italics" charset="1" panose="00000500000000000000"/>
      <p:regular r:id="rId23"/>
    </p:embeddedFont>
    <p:embeddedFont>
      <p:font typeface="Poppins Semi-Bold" charset="1" panose="000007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499990" y="6504254"/>
            <a:ext cx="5486400" cy="4114800"/>
          </a:xfrm>
          <a:custGeom>
            <a:avLst/>
            <a:gdLst/>
            <a:ahLst/>
            <a:cxnLst/>
            <a:rect r="r" b="b" t="t" l="l"/>
            <a:pathLst>
              <a:path h="4114800" w="5486400">
                <a:moveTo>
                  <a:pt x="0" y="0"/>
                </a:moveTo>
                <a:lnTo>
                  <a:pt x="5486400" y="0"/>
                </a:lnTo>
                <a:lnTo>
                  <a:pt x="54864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3301590" y="6504254"/>
            <a:ext cx="5486400" cy="4114800"/>
          </a:xfrm>
          <a:custGeom>
            <a:avLst/>
            <a:gdLst/>
            <a:ahLst/>
            <a:cxnLst/>
            <a:rect r="r" b="b" t="t" l="l"/>
            <a:pathLst>
              <a:path h="4114800" w="5486400">
                <a:moveTo>
                  <a:pt x="5486400" y="0"/>
                </a:moveTo>
                <a:lnTo>
                  <a:pt x="0" y="0"/>
                </a:lnTo>
                <a:lnTo>
                  <a:pt x="0" y="4114800"/>
                </a:lnTo>
                <a:lnTo>
                  <a:pt x="5486400" y="4114800"/>
                </a:lnTo>
                <a:lnTo>
                  <a:pt x="54864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7500776" y="6896070"/>
            <a:ext cx="3286448" cy="557271"/>
            <a:chOff x="0" y="0"/>
            <a:chExt cx="4381931" cy="743029"/>
          </a:xfrm>
        </p:grpSpPr>
        <p:grpSp>
          <p:nvGrpSpPr>
            <p:cNvPr name="Group 6" id="6"/>
            <p:cNvGrpSpPr/>
            <p:nvPr/>
          </p:nvGrpSpPr>
          <p:grpSpPr>
            <a:xfrm rot="0">
              <a:off x="0" y="0"/>
              <a:ext cx="4381931" cy="743029"/>
              <a:chOff x="0" y="0"/>
              <a:chExt cx="865567" cy="146771"/>
            </a:xfrm>
          </p:grpSpPr>
          <p:sp>
            <p:nvSpPr>
              <p:cNvPr name="Freeform 7" id="7"/>
              <p:cNvSpPr/>
              <p:nvPr/>
            </p:nvSpPr>
            <p:spPr>
              <a:xfrm flipH="false" flipV="false" rot="0">
                <a:off x="0" y="0"/>
                <a:ext cx="865567" cy="146771"/>
              </a:xfrm>
              <a:custGeom>
                <a:avLst/>
                <a:gdLst/>
                <a:ahLst/>
                <a:cxnLst/>
                <a:rect r="r" b="b" t="t" l="l"/>
                <a:pathLst>
                  <a:path h="146771" w="865567">
                    <a:moveTo>
                      <a:pt x="73386" y="0"/>
                    </a:moveTo>
                    <a:lnTo>
                      <a:pt x="792181" y="0"/>
                    </a:lnTo>
                    <a:cubicBezTo>
                      <a:pt x="832711" y="0"/>
                      <a:pt x="865567" y="32856"/>
                      <a:pt x="865567" y="73386"/>
                    </a:cubicBezTo>
                    <a:lnTo>
                      <a:pt x="865567" y="73386"/>
                    </a:lnTo>
                    <a:cubicBezTo>
                      <a:pt x="865567" y="113915"/>
                      <a:pt x="832711" y="146771"/>
                      <a:pt x="792181" y="146771"/>
                    </a:cubicBezTo>
                    <a:lnTo>
                      <a:pt x="73386" y="146771"/>
                    </a:lnTo>
                    <a:cubicBezTo>
                      <a:pt x="32856" y="146771"/>
                      <a:pt x="0" y="113915"/>
                      <a:pt x="0" y="73386"/>
                    </a:cubicBezTo>
                    <a:lnTo>
                      <a:pt x="0" y="73386"/>
                    </a:lnTo>
                    <a:cubicBezTo>
                      <a:pt x="0" y="32856"/>
                      <a:pt x="32856" y="0"/>
                      <a:pt x="73386" y="0"/>
                    </a:cubicBezTo>
                    <a:close/>
                  </a:path>
                </a:pathLst>
              </a:custGeom>
              <a:solidFill>
                <a:srgbClr val="134161"/>
              </a:solidFill>
            </p:spPr>
          </p:sp>
          <p:sp>
            <p:nvSpPr>
              <p:cNvPr name="TextBox 8" id="8"/>
              <p:cNvSpPr txBox="true"/>
              <p:nvPr/>
            </p:nvSpPr>
            <p:spPr>
              <a:xfrm>
                <a:off x="0" y="-57150"/>
                <a:ext cx="865567" cy="203921"/>
              </a:xfrm>
              <a:prstGeom prst="rect">
                <a:avLst/>
              </a:prstGeom>
            </p:spPr>
            <p:txBody>
              <a:bodyPr anchor="ctr" rtlCol="false" tIns="50800" lIns="50800" bIns="50800" rIns="50800"/>
              <a:lstStyle/>
              <a:p>
                <a:pPr algn="ctr">
                  <a:lnSpc>
                    <a:spcPts val="2379"/>
                  </a:lnSpc>
                </a:pPr>
              </a:p>
            </p:txBody>
          </p:sp>
        </p:grpSp>
        <p:sp>
          <p:nvSpPr>
            <p:cNvPr name="TextBox 9" id="9"/>
            <p:cNvSpPr txBox="true"/>
            <p:nvPr/>
          </p:nvSpPr>
          <p:spPr>
            <a:xfrm rot="0">
              <a:off x="404227" y="44065"/>
              <a:ext cx="3573477" cy="588223"/>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R26-I</a:t>
              </a:r>
              <a:r>
                <a:rPr lang="en-US" sz="2599">
                  <a:solidFill>
                    <a:srgbClr val="FFFFFF"/>
                  </a:solidFill>
                  <a:latin typeface="Poppins"/>
                  <a:ea typeface="Poppins"/>
                  <a:cs typeface="Poppins"/>
                  <a:sym typeface="Poppins"/>
                </a:rPr>
                <a:t>T-076</a:t>
              </a:r>
            </a:p>
          </p:txBody>
        </p:sp>
      </p:grpSp>
      <p:sp>
        <p:nvSpPr>
          <p:cNvPr name="TextBox 10" id="10"/>
          <p:cNvSpPr txBox="true"/>
          <p:nvPr/>
        </p:nvSpPr>
        <p:spPr>
          <a:xfrm rot="0">
            <a:off x="1600892" y="2780455"/>
            <a:ext cx="15086216" cy="5030858"/>
          </a:xfrm>
          <a:prstGeom prst="rect">
            <a:avLst/>
          </a:prstGeom>
        </p:spPr>
        <p:txBody>
          <a:bodyPr anchor="t" rtlCol="false" tIns="0" lIns="0" bIns="0" rIns="0">
            <a:spAutoFit/>
          </a:bodyPr>
          <a:lstStyle/>
          <a:p>
            <a:pPr algn="ctr">
              <a:lnSpc>
                <a:spcPts val="10859"/>
              </a:lnSpc>
              <a:spcBef>
                <a:spcPct val="0"/>
              </a:spcBef>
            </a:pPr>
            <a:r>
              <a:rPr lang="en-US" sz="7756">
                <a:solidFill>
                  <a:srgbClr val="FFFFFF"/>
                </a:solidFill>
                <a:latin typeface="Archivo Black"/>
                <a:ea typeface="Archivo Black"/>
                <a:cs typeface="Archivo Black"/>
                <a:sym typeface="Archivo Black"/>
              </a:rPr>
              <a:t>AI-Powered </a:t>
            </a:r>
            <a:r>
              <a:rPr lang="en-US" sz="7756">
                <a:solidFill>
                  <a:srgbClr val="FFFFFF"/>
                </a:solidFill>
                <a:latin typeface="Archivo Black"/>
                <a:ea typeface="Archivo Black"/>
                <a:cs typeface="Archivo Black"/>
                <a:sym typeface="Archivo Black"/>
              </a:rPr>
              <a:t>St</a:t>
            </a:r>
            <a:r>
              <a:rPr lang="en-US" sz="7756">
                <a:solidFill>
                  <a:srgbClr val="FFFFFF"/>
                </a:solidFill>
                <a:latin typeface="Archivo Black"/>
                <a:ea typeface="Archivo Black"/>
                <a:cs typeface="Archivo Black"/>
                <a:sym typeface="Archivo Black"/>
              </a:rPr>
              <a:t>ock Market</a:t>
            </a:r>
          </a:p>
          <a:p>
            <a:pPr algn="ctr">
              <a:lnSpc>
                <a:spcPts val="10859"/>
              </a:lnSpc>
              <a:spcBef>
                <a:spcPct val="0"/>
              </a:spcBef>
            </a:pPr>
            <a:r>
              <a:rPr lang="en-US" sz="7756">
                <a:solidFill>
                  <a:srgbClr val="FFFFFF"/>
                </a:solidFill>
                <a:latin typeface="Archivo Black"/>
                <a:ea typeface="Archivo Black"/>
                <a:cs typeface="Archivo Black"/>
                <a:sym typeface="Archivo Black"/>
              </a:rPr>
              <a:t>Insight Generator</a:t>
            </a:r>
          </a:p>
          <a:p>
            <a:pPr algn="ctr">
              <a:lnSpc>
                <a:spcPts val="7519"/>
              </a:lnSpc>
              <a:spcBef>
                <a:spcPct val="0"/>
              </a:spcBef>
            </a:pPr>
            <a:r>
              <a:rPr lang="en-US" sz="5370">
                <a:solidFill>
                  <a:srgbClr val="FFFFFF"/>
                </a:solidFill>
                <a:latin typeface="Archivo Black"/>
                <a:ea typeface="Archivo Black"/>
                <a:cs typeface="Archivo Black"/>
                <a:sym typeface="Archivo Black"/>
              </a:rPr>
              <a:t>for the Colombo Stock Exchange</a:t>
            </a:r>
          </a:p>
          <a:p>
            <a:pPr algn="ctr">
              <a:lnSpc>
                <a:spcPts val="10859"/>
              </a:lnSpc>
              <a:spcBef>
                <a:spcPct val="0"/>
              </a:spcBef>
            </a:pPr>
          </a:p>
        </p:txBody>
      </p:sp>
      <p:sp>
        <p:nvSpPr>
          <p:cNvPr name="Freeform 11" id="11"/>
          <p:cNvSpPr/>
          <p:nvPr/>
        </p:nvSpPr>
        <p:spPr>
          <a:xfrm flipH="false" flipV="false" rot="5400000">
            <a:off x="15462947" y="5165884"/>
            <a:ext cx="1418014" cy="123078"/>
          </a:xfrm>
          <a:custGeom>
            <a:avLst/>
            <a:gdLst/>
            <a:ahLst/>
            <a:cxnLst/>
            <a:rect r="r" b="b" t="t" l="l"/>
            <a:pathLst>
              <a:path h="123078" w="1418014">
                <a:moveTo>
                  <a:pt x="0" y="0"/>
                </a:moveTo>
                <a:lnTo>
                  <a:pt x="1418013" y="0"/>
                </a:lnTo>
                <a:lnTo>
                  <a:pt x="1418013" y="123078"/>
                </a:lnTo>
                <a:lnTo>
                  <a:pt x="0" y="123078"/>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sp>
        <p:nvSpPr>
          <p:cNvPr name="Freeform 12" id="12"/>
          <p:cNvSpPr/>
          <p:nvPr/>
        </p:nvSpPr>
        <p:spPr>
          <a:xfrm flipH="false" flipV="false" rot="5400000">
            <a:off x="1407040" y="5165884"/>
            <a:ext cx="1418014" cy="123078"/>
          </a:xfrm>
          <a:custGeom>
            <a:avLst/>
            <a:gdLst/>
            <a:ahLst/>
            <a:cxnLst/>
            <a:rect r="r" b="b" t="t" l="l"/>
            <a:pathLst>
              <a:path h="123078" w="1418014">
                <a:moveTo>
                  <a:pt x="0" y="0"/>
                </a:moveTo>
                <a:lnTo>
                  <a:pt x="1418013" y="0"/>
                </a:lnTo>
                <a:lnTo>
                  <a:pt x="1418013" y="123078"/>
                </a:lnTo>
                <a:lnTo>
                  <a:pt x="0" y="123078"/>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sp>
        <p:nvSpPr>
          <p:cNvPr name="Freeform 13" id="13"/>
          <p:cNvSpPr/>
          <p:nvPr/>
        </p:nvSpPr>
        <p:spPr>
          <a:xfrm flipH="false" flipV="false" rot="0">
            <a:off x="8200446" y="8697139"/>
            <a:ext cx="2157541" cy="187266"/>
          </a:xfrm>
          <a:custGeom>
            <a:avLst/>
            <a:gdLst/>
            <a:ahLst/>
            <a:cxnLst/>
            <a:rect r="r" b="b" t="t" l="l"/>
            <a:pathLst>
              <a:path h="187266" w="2157541">
                <a:moveTo>
                  <a:pt x="0" y="0"/>
                </a:moveTo>
                <a:lnTo>
                  <a:pt x="2157540" y="0"/>
                </a:lnTo>
                <a:lnTo>
                  <a:pt x="2157540" y="187266"/>
                </a:lnTo>
                <a:lnTo>
                  <a:pt x="0" y="187266"/>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sp>
        <p:nvSpPr>
          <p:cNvPr name="Freeform 14" id="14"/>
          <p:cNvSpPr/>
          <p:nvPr/>
        </p:nvSpPr>
        <p:spPr>
          <a:xfrm flipH="false" flipV="false" rot="0">
            <a:off x="853189" y="551306"/>
            <a:ext cx="11323203" cy="505124"/>
          </a:xfrm>
          <a:custGeom>
            <a:avLst/>
            <a:gdLst/>
            <a:ahLst/>
            <a:cxnLst/>
            <a:rect r="r" b="b" t="t" l="l"/>
            <a:pathLst>
              <a:path h="505124" w="11323203">
                <a:moveTo>
                  <a:pt x="0" y="0"/>
                </a:moveTo>
                <a:lnTo>
                  <a:pt x="11323203" y="0"/>
                </a:lnTo>
                <a:lnTo>
                  <a:pt x="11323203" y="505124"/>
                </a:lnTo>
                <a:lnTo>
                  <a:pt x="0" y="505124"/>
                </a:lnTo>
                <a:lnTo>
                  <a:pt x="0" y="0"/>
                </a:lnTo>
                <a:close/>
              </a:path>
            </a:pathLst>
          </a:custGeom>
          <a:blipFill>
            <a:blip r:embed="rId7"/>
            <a:stretch>
              <a:fillRect l="0" t="0" r="0" b="0"/>
            </a:stretch>
          </a:blipFill>
        </p:spPr>
      </p:sp>
      <p:sp>
        <p:nvSpPr>
          <p:cNvPr name="TextBox 15" id="15"/>
          <p:cNvSpPr txBox="true"/>
          <p:nvPr/>
        </p:nvSpPr>
        <p:spPr>
          <a:xfrm rot="0">
            <a:off x="8069690" y="7754164"/>
            <a:ext cx="2419052" cy="309245"/>
          </a:xfrm>
          <a:prstGeom prst="rect">
            <a:avLst/>
          </a:prstGeom>
        </p:spPr>
        <p:txBody>
          <a:bodyPr anchor="t" rtlCol="false" tIns="0" lIns="0" bIns="0" rIns="0">
            <a:spAutoFit/>
          </a:bodyPr>
          <a:lstStyle/>
          <a:p>
            <a:pPr algn="ctr">
              <a:lnSpc>
                <a:spcPts val="2379"/>
              </a:lnSpc>
              <a:spcBef>
                <a:spcPct val="0"/>
              </a:spcBef>
            </a:pPr>
            <a:r>
              <a:rPr lang="en-US" b="true" sz="1699">
                <a:solidFill>
                  <a:srgbClr val="FFFFFF"/>
                </a:solidFill>
                <a:latin typeface="Poppins Bold"/>
                <a:ea typeface="Poppins Bold"/>
                <a:cs typeface="Poppins Bold"/>
                <a:sym typeface="Poppins Bold"/>
              </a:rPr>
              <a:t>faculty </a:t>
            </a:r>
            <a:r>
              <a:rPr lang="en-US" b="true" sz="1699">
                <a:solidFill>
                  <a:srgbClr val="FFFFFF"/>
                </a:solidFill>
                <a:latin typeface="Poppins Bold"/>
                <a:ea typeface="Poppins Bold"/>
                <a:cs typeface="Poppins Bold"/>
                <a:sym typeface="Poppins Bold"/>
              </a:rPr>
              <a:t>of  computing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true" flipV="false" rot="0">
            <a:off x="13104792" y="6172200"/>
            <a:ext cx="5477271" cy="4114800"/>
          </a:xfrm>
          <a:custGeom>
            <a:avLst/>
            <a:gdLst/>
            <a:ahLst/>
            <a:cxnLst/>
            <a:rect r="r" b="b" t="t" l="l"/>
            <a:pathLst>
              <a:path h="4114800" w="5477271">
                <a:moveTo>
                  <a:pt x="5477271" y="0"/>
                </a:moveTo>
                <a:lnTo>
                  <a:pt x="0" y="0"/>
                </a:lnTo>
                <a:lnTo>
                  <a:pt x="0" y="4114800"/>
                </a:lnTo>
                <a:lnTo>
                  <a:pt x="5477271" y="4114800"/>
                </a:lnTo>
                <a:lnTo>
                  <a:pt x="54772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590840" y="1833527"/>
            <a:ext cx="15106320" cy="7223125"/>
          </a:xfrm>
          <a:prstGeom prst="rect">
            <a:avLst/>
          </a:prstGeom>
        </p:spPr>
        <p:txBody>
          <a:bodyPr anchor="t" rtlCol="false" tIns="0" lIns="0" bIns="0" rIns="0">
            <a:spAutoFit/>
          </a:bodyPr>
          <a:lstStyle/>
          <a:p>
            <a:pPr algn="l">
              <a:lnSpc>
                <a:spcPts val="2799"/>
              </a:lnSpc>
            </a:pPr>
            <a:r>
              <a:rPr lang="en-US" sz="1999" b="true">
                <a:solidFill>
                  <a:srgbClr val="FFFFFF"/>
                </a:solidFill>
                <a:latin typeface="Poppins Bold"/>
                <a:ea typeface="Poppins Bold"/>
                <a:cs typeface="Poppins Bold"/>
                <a:sym typeface="Poppins Bold"/>
              </a:rPr>
              <a:t>Why This System Is Needed</a:t>
            </a:r>
          </a:p>
          <a:p>
            <a:pPr algn="l" marL="431796" indent="-215898" lvl="1">
              <a:lnSpc>
                <a:spcPts val="2799"/>
              </a:lnSpc>
              <a:buFont typeface="Arial"/>
              <a:buChar char="•"/>
            </a:pPr>
            <a:r>
              <a:rPr lang="en-US" sz="1999">
                <a:solidFill>
                  <a:srgbClr val="FFFFFF"/>
                </a:solidFill>
                <a:latin typeface="Poppins"/>
                <a:ea typeface="Poppins"/>
                <a:cs typeface="Poppins"/>
                <a:sym typeface="Poppins"/>
              </a:rPr>
              <a:t>Growing investor participation has increased the need for trustworthy and understandable CSE analysis.</a:t>
            </a:r>
          </a:p>
          <a:p>
            <a:pPr algn="l">
              <a:lnSpc>
                <a:spcPts val="2799"/>
              </a:lnSpc>
            </a:pPr>
          </a:p>
          <a:p>
            <a:pPr algn="l">
              <a:lnSpc>
                <a:spcPts val="2799"/>
              </a:lnSpc>
            </a:pPr>
            <a:r>
              <a:rPr lang="en-US" sz="1999" b="true">
                <a:solidFill>
                  <a:srgbClr val="FFFFFF"/>
                </a:solidFill>
                <a:latin typeface="Poppins Bold"/>
                <a:ea typeface="Poppins Bold"/>
                <a:cs typeface="Poppins Bold"/>
                <a:sym typeface="Poppins Bold"/>
              </a:rPr>
              <a:t>Growing Participation</a:t>
            </a:r>
          </a:p>
          <a:p>
            <a:pPr algn="l" marL="431796" indent="-215898" lvl="1">
              <a:lnSpc>
                <a:spcPts val="2799"/>
              </a:lnSpc>
              <a:buFont typeface="Arial"/>
              <a:buChar char="•"/>
            </a:pPr>
            <a:r>
              <a:rPr lang="en-US" sz="1999">
                <a:solidFill>
                  <a:srgbClr val="FFFFFF"/>
                </a:solidFill>
                <a:latin typeface="Poppins"/>
                <a:ea typeface="Poppins"/>
                <a:cs typeface="Poppins"/>
                <a:sym typeface="Poppins"/>
              </a:rPr>
              <a:t>44,047 new CDS accounts were opened from January to October 2025—over three times the same period in 2024.</a:t>
            </a:r>
          </a:p>
          <a:p>
            <a:pPr algn="l">
              <a:lnSpc>
                <a:spcPts val="2799"/>
              </a:lnSpc>
            </a:pPr>
          </a:p>
          <a:p>
            <a:pPr algn="l">
              <a:lnSpc>
                <a:spcPts val="2799"/>
              </a:lnSpc>
            </a:pPr>
            <a:r>
              <a:rPr lang="en-US" sz="1999" b="true">
                <a:solidFill>
                  <a:srgbClr val="FFFFFF"/>
                </a:solidFill>
                <a:latin typeface="Poppins Bold"/>
                <a:ea typeface="Poppins Bold"/>
                <a:cs typeface="Poppins Bold"/>
                <a:sym typeface="Poppins Bold"/>
              </a:rPr>
              <a:t>Strong Local Activity</a:t>
            </a:r>
          </a:p>
          <a:p>
            <a:pPr algn="l" marL="431796" indent="-215898" lvl="1">
              <a:lnSpc>
                <a:spcPts val="2799"/>
              </a:lnSpc>
              <a:buFont typeface="Arial"/>
              <a:buChar char="•"/>
            </a:pPr>
            <a:r>
              <a:rPr lang="en-US" sz="1999">
                <a:solidFill>
                  <a:srgbClr val="FFFFFF"/>
                </a:solidFill>
                <a:latin typeface="Poppins"/>
                <a:ea typeface="Poppins"/>
                <a:cs typeface="Poppins"/>
                <a:sym typeface="Poppins"/>
              </a:rPr>
              <a:t>Local investors generated 88.8% of total CSE turnover in 2024.</a:t>
            </a:r>
          </a:p>
          <a:p>
            <a:pPr algn="l">
              <a:lnSpc>
                <a:spcPts val="2799"/>
              </a:lnSpc>
            </a:pPr>
          </a:p>
          <a:p>
            <a:pPr algn="l">
              <a:lnSpc>
                <a:spcPts val="2799"/>
              </a:lnSpc>
            </a:pPr>
            <a:r>
              <a:rPr lang="en-US" sz="1999" b="true">
                <a:solidFill>
                  <a:srgbClr val="FFFFFF"/>
                </a:solidFill>
                <a:latin typeface="Poppins Bold"/>
                <a:ea typeface="Poppins Bold"/>
                <a:cs typeface="Poppins Bold"/>
                <a:sym typeface="Poppins Bold"/>
              </a:rPr>
              <a:t>Complex Information</a:t>
            </a:r>
          </a:p>
          <a:p>
            <a:pPr algn="l" marL="431796" indent="-215898" lvl="1">
              <a:lnSpc>
                <a:spcPts val="2799"/>
              </a:lnSpc>
              <a:buFont typeface="Arial"/>
              <a:buChar char="•"/>
            </a:pPr>
            <a:r>
              <a:rPr lang="en-US" sz="1999">
                <a:solidFill>
                  <a:srgbClr val="FFFFFF"/>
                </a:solidFill>
                <a:latin typeface="Poppins"/>
                <a:ea typeface="Poppins"/>
                <a:cs typeface="Poppins"/>
                <a:sym typeface="Poppins"/>
              </a:rPr>
              <a:t>Investors must analys</a:t>
            </a:r>
            <a:r>
              <a:rPr lang="en-US" sz="1999">
                <a:solidFill>
                  <a:srgbClr val="FFFFFF"/>
                </a:solidFill>
                <a:latin typeface="Poppins"/>
                <a:ea typeface="Poppins"/>
                <a:cs typeface="Poppins"/>
                <a:sym typeface="Poppins"/>
              </a:rPr>
              <a:t>e prices, indicators, financial reports, news and external events.</a:t>
            </a:r>
          </a:p>
          <a:p>
            <a:pPr algn="l">
              <a:lnSpc>
                <a:spcPts val="2799"/>
              </a:lnSpc>
            </a:pPr>
          </a:p>
          <a:p>
            <a:pPr algn="l">
              <a:lnSpc>
                <a:spcPts val="2799"/>
              </a:lnSpc>
              <a:spcBef>
                <a:spcPct val="0"/>
              </a:spcBef>
            </a:pPr>
            <a:r>
              <a:rPr lang="en-US" b="true" sz="1999">
                <a:solidFill>
                  <a:srgbClr val="FFFFFF"/>
                </a:solidFill>
                <a:latin typeface="Poppins Bold"/>
                <a:ea typeface="Poppins Bold"/>
                <a:cs typeface="Poppins Bold"/>
                <a:sym typeface="Poppins Bold"/>
              </a:rPr>
              <a:t>Unreliable Analysis</a:t>
            </a:r>
          </a:p>
          <a:p>
            <a:pPr algn="l" marL="431796" indent="-215898" lvl="1">
              <a:lnSpc>
                <a:spcPts val="2799"/>
              </a:lnSpc>
              <a:buFont typeface="Arial"/>
              <a:buChar char="•"/>
            </a:pPr>
            <a:r>
              <a:rPr lang="en-US" sz="1999">
                <a:solidFill>
                  <a:srgbClr val="FFFFFF"/>
                </a:solidFill>
                <a:latin typeface="Poppins"/>
                <a:ea typeface="Poppins"/>
                <a:cs typeface="Poppins"/>
                <a:sym typeface="Poppins"/>
              </a:rPr>
              <a:t>Non-expert investors may rely on rumours, social-media opinions and unsupported predictions.</a:t>
            </a:r>
          </a:p>
          <a:p>
            <a:pPr algn="l">
              <a:lnSpc>
                <a:spcPts val="2799"/>
              </a:lnSpc>
            </a:pPr>
          </a:p>
          <a:p>
            <a:pPr algn="l">
              <a:lnSpc>
                <a:spcPts val="2799"/>
              </a:lnSpc>
              <a:spcBef>
                <a:spcPct val="0"/>
              </a:spcBef>
            </a:pPr>
            <a:r>
              <a:rPr lang="en-US" b="true" sz="1999">
                <a:solidFill>
                  <a:srgbClr val="FFFFFF"/>
                </a:solidFill>
                <a:latin typeface="Poppins Bold"/>
                <a:ea typeface="Poppins Bold"/>
                <a:cs typeface="Poppins Bold"/>
                <a:sym typeface="Poppins Bold"/>
              </a:rPr>
              <a:t>Core Motivation</a:t>
            </a:r>
          </a:p>
          <a:p>
            <a:pPr algn="l" marL="431796" indent="-215898" lvl="1">
              <a:lnSpc>
                <a:spcPts val="2799"/>
              </a:lnSpc>
              <a:buFont typeface="Arial"/>
              <a:buChar char="•"/>
            </a:pPr>
            <a:r>
              <a:rPr lang="en-US" sz="1999">
                <a:solidFill>
                  <a:srgbClr val="FFFFFF"/>
                </a:solidFill>
                <a:latin typeface="Poppins"/>
                <a:ea typeface="Poppins"/>
                <a:cs typeface="Poppins"/>
                <a:sym typeface="Poppins"/>
              </a:rPr>
              <a:t>Develop a transparent AI decision-support system that transforms fragmented CSE information into clear, evidence-based investor insights.</a:t>
            </a:r>
          </a:p>
          <a:p>
            <a:pPr algn="l">
              <a:lnSpc>
                <a:spcPts val="2799"/>
              </a:lnSpc>
            </a:pPr>
          </a:p>
          <a:p>
            <a:pPr algn="l">
              <a:lnSpc>
                <a:spcPts val="2099"/>
              </a:lnSpc>
            </a:pPr>
            <a:r>
              <a:rPr lang="en-US" sz="1499" i="true">
                <a:solidFill>
                  <a:srgbClr val="FFFFFF"/>
                </a:solidFill>
                <a:latin typeface="Poppins Italics"/>
                <a:ea typeface="Poppins Italics"/>
                <a:cs typeface="Poppins Italics"/>
                <a:sym typeface="Poppins Italics"/>
              </a:rPr>
              <a:t>Sources: CDS Monthly Report, October 2025; CSE Annual Report 2024.</a:t>
            </a:r>
          </a:p>
          <a:p>
            <a:pPr algn="l">
              <a:lnSpc>
                <a:spcPts val="2099"/>
              </a:lnSpc>
              <a:spcBef>
                <a:spcPct val="0"/>
              </a:spcBef>
            </a:pPr>
          </a:p>
        </p:txBody>
      </p:sp>
      <p:sp>
        <p:nvSpPr>
          <p:cNvPr name="TextBox 5" id="5"/>
          <p:cNvSpPr txBox="true"/>
          <p:nvPr/>
        </p:nvSpPr>
        <p:spPr>
          <a:xfrm rot="0">
            <a:off x="5331543" y="221292"/>
            <a:ext cx="10511885" cy="921708"/>
          </a:xfrm>
          <a:prstGeom prst="rect">
            <a:avLst/>
          </a:prstGeom>
        </p:spPr>
        <p:txBody>
          <a:bodyPr anchor="t" rtlCol="false" tIns="0" lIns="0" bIns="0" rIns="0">
            <a:spAutoFit/>
          </a:bodyPr>
          <a:lstStyle/>
          <a:p>
            <a:pPr algn="l">
              <a:lnSpc>
                <a:spcPts val="7472"/>
              </a:lnSpc>
              <a:spcBef>
                <a:spcPct val="0"/>
              </a:spcBef>
            </a:pPr>
            <a:r>
              <a:rPr lang="en-US" sz="5337">
                <a:solidFill>
                  <a:srgbClr val="FFFFFF"/>
                </a:solidFill>
                <a:latin typeface="Archivo Black"/>
                <a:ea typeface="Archivo Black"/>
                <a:cs typeface="Archivo Black"/>
                <a:sym typeface="Archivo Black"/>
              </a:rPr>
              <a:t>P</a:t>
            </a:r>
            <a:r>
              <a:rPr lang="en-US" sz="5337">
                <a:solidFill>
                  <a:srgbClr val="FFFFFF"/>
                </a:solidFill>
                <a:latin typeface="Archivo Black"/>
                <a:ea typeface="Archivo Black"/>
                <a:cs typeface="Archivo Black"/>
                <a:sym typeface="Archivo Black"/>
              </a:rPr>
              <a:t>r</a:t>
            </a:r>
            <a:r>
              <a:rPr lang="en-US" sz="5337">
                <a:solidFill>
                  <a:srgbClr val="FFFFFF"/>
                </a:solidFill>
                <a:latin typeface="Archivo Black"/>
                <a:ea typeface="Archivo Black"/>
                <a:cs typeface="Archivo Black"/>
                <a:sym typeface="Archivo Black"/>
              </a:rPr>
              <a:t>oblem &amp; Motivation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540166" y="2978328"/>
            <a:ext cx="5053371" cy="613257"/>
            <a:chOff x="0" y="0"/>
            <a:chExt cx="1186874" cy="144034"/>
          </a:xfrm>
        </p:grpSpPr>
        <p:sp>
          <p:nvSpPr>
            <p:cNvPr name="Freeform 4" id="4"/>
            <p:cNvSpPr/>
            <p:nvPr/>
          </p:nvSpPr>
          <p:spPr>
            <a:xfrm flipH="false" flipV="false" rot="0">
              <a:off x="0" y="0"/>
              <a:ext cx="1186874" cy="144034"/>
            </a:xfrm>
            <a:custGeom>
              <a:avLst/>
              <a:gdLst/>
              <a:ahLst/>
              <a:cxnLst/>
              <a:rect r="r" b="b" t="t" l="l"/>
              <a:pathLst>
                <a:path h="144034" w="1186874">
                  <a:moveTo>
                    <a:pt x="72017" y="0"/>
                  </a:moveTo>
                  <a:lnTo>
                    <a:pt x="1114857" y="0"/>
                  </a:lnTo>
                  <a:cubicBezTo>
                    <a:pt x="1154631" y="0"/>
                    <a:pt x="1186874" y="32243"/>
                    <a:pt x="1186874" y="72017"/>
                  </a:cubicBezTo>
                  <a:lnTo>
                    <a:pt x="1186874" y="72017"/>
                  </a:lnTo>
                  <a:cubicBezTo>
                    <a:pt x="1186874" y="111791"/>
                    <a:pt x="1154631" y="144034"/>
                    <a:pt x="1114857" y="144034"/>
                  </a:cubicBezTo>
                  <a:lnTo>
                    <a:pt x="72017" y="144034"/>
                  </a:lnTo>
                  <a:cubicBezTo>
                    <a:pt x="32243" y="144034"/>
                    <a:pt x="0" y="111791"/>
                    <a:pt x="0" y="72017"/>
                  </a:cubicBezTo>
                  <a:lnTo>
                    <a:pt x="0" y="72017"/>
                  </a:lnTo>
                  <a:cubicBezTo>
                    <a:pt x="0" y="32243"/>
                    <a:pt x="32243" y="0"/>
                    <a:pt x="72017" y="0"/>
                  </a:cubicBezTo>
                  <a:close/>
                </a:path>
              </a:pathLst>
            </a:custGeom>
            <a:solidFill>
              <a:srgbClr val="134161"/>
            </a:solidFill>
          </p:spPr>
        </p:sp>
        <p:sp>
          <p:nvSpPr>
            <p:cNvPr name="TextBox 5" id="5"/>
            <p:cNvSpPr txBox="true"/>
            <p:nvPr/>
          </p:nvSpPr>
          <p:spPr>
            <a:xfrm>
              <a:off x="0" y="-57150"/>
              <a:ext cx="1186874" cy="201184"/>
            </a:xfrm>
            <a:prstGeom prst="rect">
              <a:avLst/>
            </a:prstGeom>
          </p:spPr>
          <p:txBody>
            <a:bodyPr anchor="ctr" rtlCol="false" tIns="50800" lIns="50800" bIns="50800" rIns="50800"/>
            <a:lstStyle/>
            <a:p>
              <a:pPr algn="ctr">
                <a:lnSpc>
                  <a:spcPts val="2379"/>
                </a:lnSpc>
              </a:pPr>
            </a:p>
          </p:txBody>
        </p:sp>
      </p:grpSp>
      <p:sp>
        <p:nvSpPr>
          <p:cNvPr name="Freeform 6" id="6"/>
          <p:cNvSpPr/>
          <p:nvPr/>
        </p:nvSpPr>
        <p:spPr>
          <a:xfrm flipH="true" flipV="true" rot="0">
            <a:off x="15596411" y="-291888"/>
            <a:ext cx="3048970" cy="2286728"/>
          </a:xfrm>
          <a:custGeom>
            <a:avLst/>
            <a:gdLst/>
            <a:ahLst/>
            <a:cxnLst/>
            <a:rect r="r" b="b" t="t" l="l"/>
            <a:pathLst>
              <a:path h="2286728" w="3048970">
                <a:moveTo>
                  <a:pt x="3048970" y="2286728"/>
                </a:moveTo>
                <a:lnTo>
                  <a:pt x="0" y="2286728"/>
                </a:lnTo>
                <a:lnTo>
                  <a:pt x="0" y="0"/>
                </a:lnTo>
                <a:lnTo>
                  <a:pt x="3048970" y="0"/>
                </a:lnTo>
                <a:lnTo>
                  <a:pt x="3048970" y="228672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66871" y="2989170"/>
            <a:ext cx="3999960" cy="505849"/>
          </a:xfrm>
          <a:prstGeom prst="rect">
            <a:avLst/>
          </a:prstGeom>
        </p:spPr>
        <p:txBody>
          <a:bodyPr anchor="t" rtlCol="false" tIns="0" lIns="0" bIns="0" rIns="0">
            <a:spAutoFit/>
          </a:bodyPr>
          <a:lstStyle/>
          <a:p>
            <a:pPr algn="ctr">
              <a:lnSpc>
                <a:spcPts val="3924"/>
              </a:lnSpc>
              <a:spcBef>
                <a:spcPct val="0"/>
              </a:spcBef>
            </a:pPr>
            <a:r>
              <a:rPr lang="en-US" b="true" sz="2803">
                <a:solidFill>
                  <a:srgbClr val="FFFFFF"/>
                </a:solidFill>
                <a:latin typeface="Poppins Bold"/>
                <a:ea typeface="Poppins Bold"/>
                <a:cs typeface="Poppins Bold"/>
                <a:sym typeface="Poppins Bold"/>
              </a:rPr>
              <a:t>Ex</a:t>
            </a:r>
            <a:r>
              <a:rPr lang="en-US" b="true" sz="2803">
                <a:solidFill>
                  <a:srgbClr val="FFFFFF"/>
                </a:solidFill>
                <a:latin typeface="Poppins Bold"/>
                <a:ea typeface="Poppins Bold"/>
                <a:cs typeface="Poppins Bold"/>
                <a:sym typeface="Poppins Bold"/>
              </a:rPr>
              <a:t>isting Systems</a:t>
            </a:r>
          </a:p>
        </p:txBody>
      </p:sp>
      <p:sp>
        <p:nvSpPr>
          <p:cNvPr name="TextBox 8" id="8"/>
          <p:cNvSpPr txBox="true"/>
          <p:nvPr/>
        </p:nvSpPr>
        <p:spPr>
          <a:xfrm rot="0">
            <a:off x="6012378" y="727651"/>
            <a:ext cx="6263243" cy="1036976"/>
          </a:xfrm>
          <a:prstGeom prst="rect">
            <a:avLst/>
          </a:prstGeom>
        </p:spPr>
        <p:txBody>
          <a:bodyPr anchor="t" rtlCol="false" tIns="0" lIns="0" bIns="0" rIns="0">
            <a:spAutoFit/>
          </a:bodyPr>
          <a:lstStyle/>
          <a:p>
            <a:pPr algn="l">
              <a:lnSpc>
                <a:spcPts val="8468"/>
              </a:lnSpc>
              <a:spcBef>
                <a:spcPct val="0"/>
              </a:spcBef>
            </a:pPr>
            <a:r>
              <a:rPr lang="en-US" sz="6049">
                <a:solidFill>
                  <a:srgbClr val="FFFFFF"/>
                </a:solidFill>
                <a:latin typeface="Archivo Black"/>
                <a:ea typeface="Archivo Black"/>
                <a:cs typeface="Archivo Black"/>
                <a:sym typeface="Archivo Black"/>
              </a:rPr>
              <a:t>Re</a:t>
            </a:r>
            <a:r>
              <a:rPr lang="en-US" sz="6049">
                <a:solidFill>
                  <a:srgbClr val="FFFFFF"/>
                </a:solidFill>
                <a:latin typeface="Archivo Black"/>
                <a:ea typeface="Archivo Black"/>
                <a:cs typeface="Archivo Black"/>
                <a:sym typeface="Archivo Black"/>
              </a:rPr>
              <a:t>search Gap</a:t>
            </a:r>
          </a:p>
        </p:txBody>
      </p:sp>
      <p:sp>
        <p:nvSpPr>
          <p:cNvPr name="TextBox 9" id="9"/>
          <p:cNvSpPr txBox="true"/>
          <p:nvPr/>
        </p:nvSpPr>
        <p:spPr>
          <a:xfrm rot="0">
            <a:off x="751440" y="3797707"/>
            <a:ext cx="4630822" cy="2316999"/>
          </a:xfrm>
          <a:prstGeom prst="rect">
            <a:avLst/>
          </a:prstGeom>
        </p:spPr>
        <p:txBody>
          <a:bodyPr anchor="t" rtlCol="false" tIns="0" lIns="0" bIns="0" rIns="0">
            <a:spAutoFit/>
          </a:bodyPr>
          <a:lstStyle/>
          <a:p>
            <a:pPr algn="just" marL="411575" indent="-205787" lvl="1">
              <a:lnSpc>
                <a:spcPts val="2668"/>
              </a:lnSpc>
              <a:buFont typeface="Arial"/>
              <a:buChar char="•"/>
            </a:pPr>
            <a:r>
              <a:rPr lang="en-US" sz="1906">
                <a:solidFill>
                  <a:srgbClr val="FFFFFF"/>
                </a:solidFill>
                <a:latin typeface="Poppins"/>
                <a:ea typeface="Poppins"/>
                <a:cs typeface="Poppins"/>
                <a:sym typeface="Poppins"/>
              </a:rPr>
              <a:t>Historical price charts</a:t>
            </a:r>
          </a:p>
          <a:p>
            <a:pPr algn="just" marL="411575" indent="-205787" lvl="1">
              <a:lnSpc>
                <a:spcPts val="2668"/>
              </a:lnSpc>
              <a:buFont typeface="Arial"/>
              <a:buChar char="•"/>
            </a:pPr>
            <a:r>
              <a:rPr lang="en-US" sz="1906">
                <a:solidFill>
                  <a:srgbClr val="FFFFFF"/>
                </a:solidFill>
                <a:latin typeface="Poppins"/>
                <a:ea typeface="Poppins"/>
                <a:cs typeface="Poppins"/>
                <a:sym typeface="Poppins"/>
              </a:rPr>
              <a:t>Technical indicators</a:t>
            </a:r>
          </a:p>
          <a:p>
            <a:pPr algn="just" marL="411575" indent="-205787" lvl="1">
              <a:lnSpc>
                <a:spcPts val="2668"/>
              </a:lnSpc>
              <a:spcBef>
                <a:spcPct val="0"/>
              </a:spcBef>
              <a:buFont typeface="Arial"/>
              <a:buChar char="•"/>
            </a:pPr>
            <a:r>
              <a:rPr lang="en-US" sz="1906">
                <a:solidFill>
                  <a:srgbClr val="FFFFFF"/>
                </a:solidFill>
                <a:latin typeface="Poppins"/>
                <a:ea typeface="Poppins"/>
                <a:cs typeface="Poppins"/>
                <a:sym typeface="Poppins"/>
              </a:rPr>
              <a:t>Separate finan</a:t>
            </a:r>
            <a:r>
              <a:rPr lang="en-US" sz="1906">
                <a:solidFill>
                  <a:srgbClr val="FFFFFF"/>
                </a:solidFill>
                <a:latin typeface="Poppins"/>
                <a:ea typeface="Poppins"/>
                <a:cs typeface="Poppins"/>
                <a:sym typeface="Poppins"/>
              </a:rPr>
              <a:t>cial reports</a:t>
            </a:r>
          </a:p>
          <a:p>
            <a:pPr algn="just" marL="411575" indent="-205787" lvl="1">
              <a:lnSpc>
                <a:spcPts val="2668"/>
              </a:lnSpc>
              <a:spcBef>
                <a:spcPct val="0"/>
              </a:spcBef>
              <a:buFont typeface="Arial"/>
              <a:buChar char="•"/>
            </a:pPr>
            <a:r>
              <a:rPr lang="en-US" sz="1906">
                <a:solidFill>
                  <a:srgbClr val="FFFFFF"/>
                </a:solidFill>
                <a:latin typeface="Poppins"/>
                <a:ea typeface="Poppins"/>
                <a:cs typeface="Poppins"/>
                <a:sym typeface="Poppins"/>
              </a:rPr>
              <a:t>News and sentiment feeds</a:t>
            </a:r>
          </a:p>
          <a:p>
            <a:pPr algn="just" marL="411575" indent="-205787" lvl="1">
              <a:lnSpc>
                <a:spcPts val="2668"/>
              </a:lnSpc>
              <a:spcBef>
                <a:spcPct val="0"/>
              </a:spcBef>
              <a:buFont typeface="Arial"/>
              <a:buChar char="•"/>
            </a:pPr>
            <a:r>
              <a:rPr lang="en-US" sz="1906">
                <a:solidFill>
                  <a:srgbClr val="FFFFFF"/>
                </a:solidFill>
                <a:latin typeface="Poppins"/>
                <a:ea typeface="Poppins"/>
                <a:cs typeface="Poppins"/>
                <a:sym typeface="Poppins"/>
              </a:rPr>
              <a:t>Black-box predictions</a:t>
            </a:r>
          </a:p>
          <a:p>
            <a:pPr algn="just" marL="411575" indent="-205787" lvl="1">
              <a:lnSpc>
                <a:spcPts val="2668"/>
              </a:lnSpc>
              <a:spcBef>
                <a:spcPct val="0"/>
              </a:spcBef>
              <a:buFont typeface="Arial"/>
              <a:buChar char="•"/>
            </a:pPr>
            <a:r>
              <a:rPr lang="en-US" sz="1906">
                <a:solidFill>
                  <a:srgbClr val="FFFFFF"/>
                </a:solidFill>
                <a:latin typeface="Poppins"/>
                <a:ea typeface="Poppins"/>
                <a:cs typeface="Poppins"/>
                <a:sym typeface="Poppins"/>
              </a:rPr>
              <a:t>Generic global-market analysis</a:t>
            </a:r>
          </a:p>
          <a:p>
            <a:pPr algn="just">
              <a:lnSpc>
                <a:spcPts val="2668"/>
              </a:lnSpc>
              <a:spcBef>
                <a:spcPct val="0"/>
              </a:spcBef>
            </a:pPr>
          </a:p>
        </p:txBody>
      </p:sp>
      <p:sp>
        <p:nvSpPr>
          <p:cNvPr name="Freeform 10" id="10"/>
          <p:cNvSpPr/>
          <p:nvPr/>
        </p:nvSpPr>
        <p:spPr>
          <a:xfrm flipH="false" flipV="false" rot="0">
            <a:off x="-291325" y="7331977"/>
            <a:ext cx="4092916" cy="3069687"/>
          </a:xfrm>
          <a:custGeom>
            <a:avLst/>
            <a:gdLst/>
            <a:ahLst/>
            <a:cxnLst/>
            <a:rect r="r" b="b" t="t" l="l"/>
            <a:pathLst>
              <a:path h="3069687" w="4092916">
                <a:moveTo>
                  <a:pt x="0" y="0"/>
                </a:moveTo>
                <a:lnTo>
                  <a:pt x="4092916" y="0"/>
                </a:lnTo>
                <a:lnTo>
                  <a:pt x="4092916" y="3069687"/>
                </a:lnTo>
                <a:lnTo>
                  <a:pt x="0" y="30696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4698443" y="9380013"/>
            <a:ext cx="2157541" cy="187266"/>
          </a:xfrm>
          <a:custGeom>
            <a:avLst/>
            <a:gdLst/>
            <a:ahLst/>
            <a:cxnLst/>
            <a:rect r="r" b="b" t="t" l="l"/>
            <a:pathLst>
              <a:path h="187266" w="2157541">
                <a:moveTo>
                  <a:pt x="0" y="0"/>
                </a:moveTo>
                <a:lnTo>
                  <a:pt x="2157540" y="0"/>
                </a:lnTo>
                <a:lnTo>
                  <a:pt x="2157540" y="187266"/>
                </a:lnTo>
                <a:lnTo>
                  <a:pt x="0" y="187266"/>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grpSp>
        <p:nvGrpSpPr>
          <p:cNvPr name="Group 12" id="12"/>
          <p:cNvGrpSpPr/>
          <p:nvPr/>
        </p:nvGrpSpPr>
        <p:grpSpPr>
          <a:xfrm rot="0">
            <a:off x="6271517" y="2978328"/>
            <a:ext cx="5053371" cy="613257"/>
            <a:chOff x="0" y="0"/>
            <a:chExt cx="1186874" cy="144034"/>
          </a:xfrm>
        </p:grpSpPr>
        <p:sp>
          <p:nvSpPr>
            <p:cNvPr name="Freeform 13" id="13"/>
            <p:cNvSpPr/>
            <p:nvPr/>
          </p:nvSpPr>
          <p:spPr>
            <a:xfrm flipH="false" flipV="false" rot="0">
              <a:off x="0" y="0"/>
              <a:ext cx="1186874" cy="144034"/>
            </a:xfrm>
            <a:custGeom>
              <a:avLst/>
              <a:gdLst/>
              <a:ahLst/>
              <a:cxnLst/>
              <a:rect r="r" b="b" t="t" l="l"/>
              <a:pathLst>
                <a:path h="144034" w="1186874">
                  <a:moveTo>
                    <a:pt x="72017" y="0"/>
                  </a:moveTo>
                  <a:lnTo>
                    <a:pt x="1114857" y="0"/>
                  </a:lnTo>
                  <a:cubicBezTo>
                    <a:pt x="1154631" y="0"/>
                    <a:pt x="1186874" y="32243"/>
                    <a:pt x="1186874" y="72017"/>
                  </a:cubicBezTo>
                  <a:lnTo>
                    <a:pt x="1186874" y="72017"/>
                  </a:lnTo>
                  <a:cubicBezTo>
                    <a:pt x="1186874" y="111791"/>
                    <a:pt x="1154631" y="144034"/>
                    <a:pt x="1114857" y="144034"/>
                  </a:cubicBezTo>
                  <a:lnTo>
                    <a:pt x="72017" y="144034"/>
                  </a:lnTo>
                  <a:cubicBezTo>
                    <a:pt x="32243" y="144034"/>
                    <a:pt x="0" y="111791"/>
                    <a:pt x="0" y="72017"/>
                  </a:cubicBezTo>
                  <a:lnTo>
                    <a:pt x="0" y="72017"/>
                  </a:lnTo>
                  <a:cubicBezTo>
                    <a:pt x="0" y="32243"/>
                    <a:pt x="32243" y="0"/>
                    <a:pt x="72017" y="0"/>
                  </a:cubicBezTo>
                  <a:close/>
                </a:path>
              </a:pathLst>
            </a:custGeom>
            <a:solidFill>
              <a:srgbClr val="134161"/>
            </a:solidFill>
          </p:spPr>
        </p:sp>
        <p:sp>
          <p:nvSpPr>
            <p:cNvPr name="TextBox 14" id="14"/>
            <p:cNvSpPr txBox="true"/>
            <p:nvPr/>
          </p:nvSpPr>
          <p:spPr>
            <a:xfrm>
              <a:off x="0" y="-57150"/>
              <a:ext cx="1186874" cy="201184"/>
            </a:xfrm>
            <a:prstGeom prst="rect">
              <a:avLst/>
            </a:prstGeom>
          </p:spPr>
          <p:txBody>
            <a:bodyPr anchor="ctr" rtlCol="false" tIns="50800" lIns="50800" bIns="50800" rIns="50800"/>
            <a:lstStyle/>
            <a:p>
              <a:pPr algn="ctr">
                <a:lnSpc>
                  <a:spcPts val="2379"/>
                </a:lnSpc>
              </a:pPr>
            </a:p>
          </p:txBody>
        </p:sp>
      </p:grpSp>
      <p:sp>
        <p:nvSpPr>
          <p:cNvPr name="TextBox 15" id="15"/>
          <p:cNvSpPr txBox="true"/>
          <p:nvPr/>
        </p:nvSpPr>
        <p:spPr>
          <a:xfrm rot="0">
            <a:off x="6798222" y="2989170"/>
            <a:ext cx="3999960" cy="505849"/>
          </a:xfrm>
          <a:prstGeom prst="rect">
            <a:avLst/>
          </a:prstGeom>
        </p:spPr>
        <p:txBody>
          <a:bodyPr anchor="t" rtlCol="false" tIns="0" lIns="0" bIns="0" rIns="0">
            <a:spAutoFit/>
          </a:bodyPr>
          <a:lstStyle/>
          <a:p>
            <a:pPr algn="ctr">
              <a:lnSpc>
                <a:spcPts val="3924"/>
              </a:lnSpc>
              <a:spcBef>
                <a:spcPct val="0"/>
              </a:spcBef>
            </a:pPr>
            <a:r>
              <a:rPr lang="en-US" b="true" sz="2803">
                <a:solidFill>
                  <a:srgbClr val="FFFFFF"/>
                </a:solidFill>
                <a:latin typeface="Poppins Bold"/>
                <a:ea typeface="Poppins Bold"/>
                <a:cs typeface="Poppins Bold"/>
                <a:sym typeface="Poppins Bold"/>
              </a:rPr>
              <a:t>Identified Gap</a:t>
            </a:r>
          </a:p>
        </p:txBody>
      </p:sp>
      <p:sp>
        <p:nvSpPr>
          <p:cNvPr name="TextBox 16" id="16"/>
          <p:cNvSpPr txBox="true"/>
          <p:nvPr/>
        </p:nvSpPr>
        <p:spPr>
          <a:xfrm rot="0">
            <a:off x="6271517" y="3797707"/>
            <a:ext cx="6004104" cy="2979227"/>
          </a:xfrm>
          <a:prstGeom prst="rect">
            <a:avLst/>
          </a:prstGeom>
        </p:spPr>
        <p:txBody>
          <a:bodyPr anchor="t" rtlCol="false" tIns="0" lIns="0" bIns="0" rIns="0">
            <a:spAutoFit/>
          </a:bodyPr>
          <a:lstStyle/>
          <a:p>
            <a:pPr algn="l" marL="411575" indent="-205787" lvl="1">
              <a:lnSpc>
                <a:spcPts val="2668"/>
              </a:lnSpc>
              <a:buFont typeface="Arial"/>
              <a:buChar char="•"/>
            </a:pPr>
            <a:r>
              <a:rPr lang="en-US" sz="1906">
                <a:solidFill>
                  <a:srgbClr val="FFFFFF"/>
                </a:solidFill>
                <a:latin typeface="Poppins"/>
                <a:ea typeface="Poppins"/>
                <a:cs typeface="Poppins"/>
                <a:sym typeface="Poppins"/>
              </a:rPr>
              <a:t>Information sources are analysed separately</a:t>
            </a:r>
          </a:p>
          <a:p>
            <a:pPr algn="l" marL="411575" indent="-205787" lvl="1">
              <a:lnSpc>
                <a:spcPts val="2668"/>
              </a:lnSpc>
              <a:buFont typeface="Arial"/>
              <a:buChar char="•"/>
            </a:pPr>
            <a:r>
              <a:rPr lang="en-US" sz="1906">
                <a:solidFill>
                  <a:srgbClr val="FFFFFF"/>
                </a:solidFill>
                <a:latin typeface="Poppins"/>
                <a:ea typeface="Poppins"/>
                <a:cs typeface="Poppins"/>
                <a:sym typeface="Poppins"/>
              </a:rPr>
              <a:t>Limited support for the CSE context</a:t>
            </a:r>
          </a:p>
          <a:p>
            <a:pPr algn="l" marL="411575" indent="-205787" lvl="1">
              <a:lnSpc>
                <a:spcPts val="2668"/>
              </a:lnSpc>
              <a:spcBef>
                <a:spcPct val="0"/>
              </a:spcBef>
              <a:buFont typeface="Arial"/>
              <a:buChar char="•"/>
            </a:pPr>
            <a:r>
              <a:rPr lang="en-US" sz="1906">
                <a:solidFill>
                  <a:srgbClr val="FFFFFF"/>
                </a:solidFill>
                <a:latin typeface="Poppins"/>
                <a:ea typeface="Poppins"/>
                <a:cs typeface="Poppins"/>
                <a:sym typeface="Poppins"/>
              </a:rPr>
              <a:t>Predictions lack understandable reason</a:t>
            </a:r>
            <a:r>
              <a:rPr lang="en-US" sz="1906">
                <a:solidFill>
                  <a:srgbClr val="FFFFFF"/>
                </a:solidFill>
                <a:latin typeface="Poppins"/>
                <a:ea typeface="Poppins"/>
                <a:cs typeface="Poppins"/>
                <a:sym typeface="Poppins"/>
              </a:rPr>
              <a:t>ing</a:t>
            </a:r>
          </a:p>
          <a:p>
            <a:pPr algn="l" marL="411575" indent="-205787" lvl="1">
              <a:lnSpc>
                <a:spcPts val="2668"/>
              </a:lnSpc>
              <a:spcBef>
                <a:spcPct val="0"/>
              </a:spcBef>
              <a:buFont typeface="Arial"/>
              <a:buChar char="•"/>
            </a:pPr>
            <a:r>
              <a:rPr lang="en-US" sz="1906">
                <a:solidFill>
                  <a:srgbClr val="FFFFFF"/>
                </a:solidFill>
                <a:latin typeface="Poppins"/>
                <a:ea typeface="Poppins"/>
                <a:cs typeface="Poppins"/>
                <a:sym typeface="Poppins"/>
              </a:rPr>
              <a:t>Annual reports remain difficult to interpret</a:t>
            </a:r>
          </a:p>
          <a:p>
            <a:pPr algn="l" marL="411575" indent="-205787" lvl="1">
              <a:lnSpc>
                <a:spcPts val="2668"/>
              </a:lnSpc>
              <a:spcBef>
                <a:spcPct val="0"/>
              </a:spcBef>
              <a:buFont typeface="Arial"/>
              <a:buChar char="•"/>
            </a:pPr>
            <a:r>
              <a:rPr lang="en-US" sz="1906">
                <a:solidFill>
                  <a:srgbClr val="FFFFFF"/>
                </a:solidFill>
                <a:latin typeface="Poppins"/>
                <a:ea typeface="Poppins"/>
                <a:cs typeface="Poppins"/>
                <a:sym typeface="Poppins"/>
              </a:rPr>
              <a:t>AI summaries may contain unsupported information</a:t>
            </a:r>
          </a:p>
          <a:p>
            <a:pPr algn="l" marL="411575" indent="-205787" lvl="1">
              <a:lnSpc>
                <a:spcPts val="2668"/>
              </a:lnSpc>
              <a:spcBef>
                <a:spcPct val="0"/>
              </a:spcBef>
              <a:buFont typeface="Arial"/>
              <a:buChar char="•"/>
            </a:pPr>
            <a:r>
              <a:rPr lang="en-US" sz="1906">
                <a:solidFill>
                  <a:srgbClr val="FFFFFF"/>
                </a:solidFill>
                <a:latin typeface="Poppins"/>
                <a:ea typeface="Poppins"/>
                <a:cs typeface="Poppins"/>
                <a:sym typeface="Poppins"/>
              </a:rPr>
              <a:t>Dashboa</a:t>
            </a:r>
            <a:r>
              <a:rPr lang="en-US" sz="1906">
                <a:solidFill>
                  <a:srgbClr val="FFFFFF"/>
                </a:solidFill>
                <a:latin typeface="Poppins"/>
                <a:ea typeface="Poppins"/>
                <a:cs typeface="Poppins"/>
                <a:sym typeface="Poppins"/>
              </a:rPr>
              <a:t>rds are rarely evaluated for human understanding</a:t>
            </a:r>
          </a:p>
          <a:p>
            <a:pPr algn="l">
              <a:lnSpc>
                <a:spcPts val="2668"/>
              </a:lnSpc>
              <a:spcBef>
                <a:spcPct val="0"/>
              </a:spcBef>
            </a:pPr>
          </a:p>
        </p:txBody>
      </p:sp>
      <p:grpSp>
        <p:nvGrpSpPr>
          <p:cNvPr name="Group 17" id="17"/>
          <p:cNvGrpSpPr/>
          <p:nvPr/>
        </p:nvGrpSpPr>
        <p:grpSpPr>
          <a:xfrm rot="0">
            <a:off x="12594359" y="2978328"/>
            <a:ext cx="5053371" cy="613257"/>
            <a:chOff x="0" y="0"/>
            <a:chExt cx="1186874" cy="144034"/>
          </a:xfrm>
        </p:grpSpPr>
        <p:sp>
          <p:nvSpPr>
            <p:cNvPr name="Freeform 18" id="18"/>
            <p:cNvSpPr/>
            <p:nvPr/>
          </p:nvSpPr>
          <p:spPr>
            <a:xfrm flipH="false" flipV="false" rot="0">
              <a:off x="0" y="0"/>
              <a:ext cx="1186874" cy="144034"/>
            </a:xfrm>
            <a:custGeom>
              <a:avLst/>
              <a:gdLst/>
              <a:ahLst/>
              <a:cxnLst/>
              <a:rect r="r" b="b" t="t" l="l"/>
              <a:pathLst>
                <a:path h="144034" w="1186874">
                  <a:moveTo>
                    <a:pt x="72017" y="0"/>
                  </a:moveTo>
                  <a:lnTo>
                    <a:pt x="1114857" y="0"/>
                  </a:lnTo>
                  <a:cubicBezTo>
                    <a:pt x="1154631" y="0"/>
                    <a:pt x="1186874" y="32243"/>
                    <a:pt x="1186874" y="72017"/>
                  </a:cubicBezTo>
                  <a:lnTo>
                    <a:pt x="1186874" y="72017"/>
                  </a:lnTo>
                  <a:cubicBezTo>
                    <a:pt x="1186874" y="111791"/>
                    <a:pt x="1154631" y="144034"/>
                    <a:pt x="1114857" y="144034"/>
                  </a:cubicBezTo>
                  <a:lnTo>
                    <a:pt x="72017" y="144034"/>
                  </a:lnTo>
                  <a:cubicBezTo>
                    <a:pt x="32243" y="144034"/>
                    <a:pt x="0" y="111791"/>
                    <a:pt x="0" y="72017"/>
                  </a:cubicBezTo>
                  <a:lnTo>
                    <a:pt x="0" y="72017"/>
                  </a:lnTo>
                  <a:cubicBezTo>
                    <a:pt x="0" y="32243"/>
                    <a:pt x="32243" y="0"/>
                    <a:pt x="72017" y="0"/>
                  </a:cubicBezTo>
                  <a:close/>
                </a:path>
              </a:pathLst>
            </a:custGeom>
            <a:solidFill>
              <a:srgbClr val="134161"/>
            </a:solidFill>
          </p:spPr>
        </p:sp>
        <p:sp>
          <p:nvSpPr>
            <p:cNvPr name="TextBox 19" id="19"/>
            <p:cNvSpPr txBox="true"/>
            <p:nvPr/>
          </p:nvSpPr>
          <p:spPr>
            <a:xfrm>
              <a:off x="0" y="-57150"/>
              <a:ext cx="1186874" cy="201184"/>
            </a:xfrm>
            <a:prstGeom prst="rect">
              <a:avLst/>
            </a:prstGeom>
          </p:spPr>
          <p:txBody>
            <a:bodyPr anchor="ctr" rtlCol="false" tIns="50800" lIns="50800" bIns="50800" rIns="50800"/>
            <a:lstStyle/>
            <a:p>
              <a:pPr algn="ctr">
                <a:lnSpc>
                  <a:spcPts val="2379"/>
                </a:lnSpc>
              </a:pPr>
            </a:p>
          </p:txBody>
        </p:sp>
      </p:grpSp>
      <p:sp>
        <p:nvSpPr>
          <p:cNvPr name="TextBox 20" id="20"/>
          <p:cNvSpPr txBox="true"/>
          <p:nvPr/>
        </p:nvSpPr>
        <p:spPr>
          <a:xfrm rot="0">
            <a:off x="12857711" y="2989170"/>
            <a:ext cx="4526665" cy="505849"/>
          </a:xfrm>
          <a:prstGeom prst="rect">
            <a:avLst/>
          </a:prstGeom>
        </p:spPr>
        <p:txBody>
          <a:bodyPr anchor="t" rtlCol="false" tIns="0" lIns="0" bIns="0" rIns="0">
            <a:spAutoFit/>
          </a:bodyPr>
          <a:lstStyle/>
          <a:p>
            <a:pPr algn="ctr">
              <a:lnSpc>
                <a:spcPts val="3924"/>
              </a:lnSpc>
              <a:spcBef>
                <a:spcPct val="0"/>
              </a:spcBef>
            </a:pPr>
            <a:r>
              <a:rPr lang="en-US" b="true" sz="2803">
                <a:solidFill>
                  <a:srgbClr val="FFFFFF"/>
                </a:solidFill>
                <a:latin typeface="Poppins Bold"/>
                <a:ea typeface="Poppins Bold"/>
                <a:cs typeface="Poppins Bold"/>
                <a:sym typeface="Poppins Bold"/>
              </a:rPr>
              <a:t>Proposed Contribution</a:t>
            </a:r>
          </a:p>
        </p:txBody>
      </p:sp>
      <p:sp>
        <p:nvSpPr>
          <p:cNvPr name="TextBox 21" id="21"/>
          <p:cNvSpPr txBox="true"/>
          <p:nvPr/>
        </p:nvSpPr>
        <p:spPr>
          <a:xfrm rot="0">
            <a:off x="12594359" y="3797707"/>
            <a:ext cx="6004104" cy="2316999"/>
          </a:xfrm>
          <a:prstGeom prst="rect">
            <a:avLst/>
          </a:prstGeom>
        </p:spPr>
        <p:txBody>
          <a:bodyPr anchor="t" rtlCol="false" tIns="0" lIns="0" bIns="0" rIns="0">
            <a:spAutoFit/>
          </a:bodyPr>
          <a:lstStyle/>
          <a:p>
            <a:pPr algn="l" marL="411575" indent="-205787" lvl="1">
              <a:lnSpc>
                <a:spcPts val="2668"/>
              </a:lnSpc>
              <a:buFont typeface="Arial"/>
              <a:buChar char="•"/>
            </a:pPr>
            <a:r>
              <a:rPr lang="en-US" sz="1906">
                <a:solidFill>
                  <a:srgbClr val="FFFFFF"/>
                </a:solidFill>
                <a:latin typeface="Poppins"/>
                <a:ea typeface="Poppins"/>
                <a:cs typeface="Poppins"/>
                <a:sym typeface="Poppins"/>
              </a:rPr>
              <a:t>Multimodal financial-data integration</a:t>
            </a:r>
          </a:p>
          <a:p>
            <a:pPr algn="l" marL="411575" indent="-205787" lvl="1">
              <a:lnSpc>
                <a:spcPts val="2668"/>
              </a:lnSpc>
              <a:spcBef>
                <a:spcPct val="0"/>
              </a:spcBef>
              <a:buFont typeface="Arial"/>
              <a:buChar char="•"/>
            </a:pPr>
            <a:r>
              <a:rPr lang="en-US" sz="1906">
                <a:solidFill>
                  <a:srgbClr val="FFFFFF"/>
                </a:solidFill>
                <a:latin typeface="Poppins"/>
                <a:ea typeface="Poppins"/>
                <a:cs typeface="Poppins"/>
                <a:sym typeface="Poppins"/>
              </a:rPr>
              <a:t>CSE-specific analyt</a:t>
            </a:r>
            <a:r>
              <a:rPr lang="en-US" sz="1906">
                <a:solidFill>
                  <a:srgbClr val="FFFFFF"/>
                </a:solidFill>
                <a:latin typeface="Poppins"/>
                <a:ea typeface="Poppins"/>
                <a:cs typeface="Poppins"/>
                <a:sym typeface="Poppins"/>
              </a:rPr>
              <a:t>ical framework</a:t>
            </a:r>
          </a:p>
          <a:p>
            <a:pPr algn="l" marL="411575" indent="-205787" lvl="1">
              <a:lnSpc>
                <a:spcPts val="2668"/>
              </a:lnSpc>
              <a:spcBef>
                <a:spcPct val="0"/>
              </a:spcBef>
              <a:buFont typeface="Arial"/>
              <a:buChar char="•"/>
            </a:pPr>
            <a:r>
              <a:rPr lang="en-US" sz="1906">
                <a:solidFill>
                  <a:srgbClr val="FFFFFF"/>
                </a:solidFill>
                <a:latin typeface="Poppins"/>
                <a:ea typeface="Poppins"/>
                <a:cs typeface="Poppins"/>
                <a:sym typeface="Poppins"/>
              </a:rPr>
              <a:t>Explainable machine-learning outputs</a:t>
            </a:r>
          </a:p>
          <a:p>
            <a:pPr algn="l" marL="411575" indent="-205787" lvl="1">
              <a:lnSpc>
                <a:spcPts val="2668"/>
              </a:lnSpc>
              <a:spcBef>
                <a:spcPct val="0"/>
              </a:spcBef>
              <a:buFont typeface="Arial"/>
              <a:buChar char="•"/>
            </a:pPr>
            <a:r>
              <a:rPr lang="en-US" sz="1906">
                <a:solidFill>
                  <a:srgbClr val="FFFFFF"/>
                </a:solidFill>
                <a:latin typeface="Poppins"/>
                <a:ea typeface="Poppins"/>
                <a:cs typeface="Poppins"/>
                <a:sym typeface="Poppins"/>
              </a:rPr>
              <a:t>Source-grounded document in</a:t>
            </a:r>
            <a:r>
              <a:rPr lang="en-US" sz="1906">
                <a:solidFill>
                  <a:srgbClr val="FFFFFF"/>
                </a:solidFill>
                <a:latin typeface="Poppins"/>
                <a:ea typeface="Poppins"/>
                <a:cs typeface="Poppins"/>
                <a:sym typeface="Poppins"/>
              </a:rPr>
              <a:t>sight</a:t>
            </a:r>
            <a:r>
              <a:rPr lang="en-US" sz="1906">
                <a:solidFill>
                  <a:srgbClr val="FFFFFF"/>
                </a:solidFill>
                <a:latin typeface="Poppins"/>
                <a:ea typeface="Poppins"/>
                <a:cs typeface="Poppins"/>
                <a:sym typeface="Poppins"/>
              </a:rPr>
              <a:t>s</a:t>
            </a:r>
          </a:p>
          <a:p>
            <a:pPr algn="l" marL="411575" indent="-205787" lvl="1">
              <a:lnSpc>
                <a:spcPts val="2668"/>
              </a:lnSpc>
              <a:spcBef>
                <a:spcPct val="0"/>
              </a:spcBef>
              <a:buFont typeface="Arial"/>
              <a:buChar char="•"/>
            </a:pPr>
            <a:r>
              <a:rPr lang="en-US" sz="1906">
                <a:solidFill>
                  <a:srgbClr val="FFFFFF"/>
                </a:solidFill>
                <a:latin typeface="Poppins"/>
                <a:ea typeface="Poppins"/>
                <a:cs typeface="Poppins"/>
                <a:sym typeface="Poppins"/>
              </a:rPr>
              <a:t>Sentiment and event-based context</a:t>
            </a:r>
          </a:p>
          <a:p>
            <a:pPr algn="l" marL="411575" indent="-205787" lvl="1">
              <a:lnSpc>
                <a:spcPts val="2668"/>
              </a:lnSpc>
              <a:spcBef>
                <a:spcPct val="0"/>
              </a:spcBef>
              <a:buFont typeface="Arial"/>
              <a:buChar char="•"/>
            </a:pPr>
            <a:r>
              <a:rPr lang="en-US" sz="1906">
                <a:solidFill>
                  <a:srgbClr val="FFFFFF"/>
                </a:solidFill>
                <a:latin typeface="Poppins"/>
                <a:ea typeface="Poppins"/>
                <a:cs typeface="Poppins"/>
                <a:sym typeface="Poppins"/>
              </a:rPr>
              <a:t>Human-centred investor dashboard</a:t>
            </a:r>
          </a:p>
          <a:p>
            <a:pPr algn="l">
              <a:lnSpc>
                <a:spcPts val="2668"/>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true" rot="0">
            <a:off x="-174795" y="-179576"/>
            <a:ext cx="3178362" cy="2886106"/>
          </a:xfrm>
          <a:custGeom>
            <a:avLst/>
            <a:gdLst/>
            <a:ahLst/>
            <a:cxnLst/>
            <a:rect r="r" b="b" t="t" l="l"/>
            <a:pathLst>
              <a:path h="2886106" w="3178362">
                <a:moveTo>
                  <a:pt x="0" y="2886106"/>
                </a:moveTo>
                <a:lnTo>
                  <a:pt x="3178362" y="2886106"/>
                </a:lnTo>
                <a:lnTo>
                  <a:pt x="3178362" y="0"/>
                </a:lnTo>
                <a:lnTo>
                  <a:pt x="0" y="0"/>
                </a:lnTo>
                <a:lnTo>
                  <a:pt x="0" y="2886106"/>
                </a:lnTo>
                <a:close/>
              </a:path>
            </a:pathLst>
          </a:custGeom>
          <a:blipFill>
            <a:blip r:embed="rId3">
              <a:extLst>
                <a:ext uri="{96DAC541-7B7A-43D3-8B79-37D633B846F1}">
                  <asvg:svgBlip xmlns:asvg="http://schemas.microsoft.com/office/drawing/2016/SVG/main" r:embed="rId4"/>
                </a:ext>
              </a:extLst>
            </a:blip>
            <a:stretch>
              <a:fillRect l="0" t="0" r="0" b="-10126"/>
            </a:stretch>
          </a:blipFill>
        </p:spPr>
      </p:sp>
      <p:sp>
        <p:nvSpPr>
          <p:cNvPr name="Freeform 4" id="4"/>
          <p:cNvSpPr/>
          <p:nvPr/>
        </p:nvSpPr>
        <p:spPr>
          <a:xfrm flipH="true" flipV="false" rot="0">
            <a:off x="14442668" y="6808596"/>
            <a:ext cx="4114800" cy="3736437"/>
          </a:xfrm>
          <a:custGeom>
            <a:avLst/>
            <a:gdLst/>
            <a:ahLst/>
            <a:cxnLst/>
            <a:rect r="r" b="b" t="t" l="l"/>
            <a:pathLst>
              <a:path h="3736437" w="4114800">
                <a:moveTo>
                  <a:pt x="4114800" y="0"/>
                </a:moveTo>
                <a:lnTo>
                  <a:pt x="0" y="0"/>
                </a:lnTo>
                <a:lnTo>
                  <a:pt x="0" y="3736437"/>
                </a:lnTo>
                <a:lnTo>
                  <a:pt x="4114800" y="3736437"/>
                </a:lnTo>
                <a:lnTo>
                  <a:pt x="4114800" y="0"/>
                </a:lnTo>
                <a:close/>
              </a:path>
            </a:pathLst>
          </a:custGeom>
          <a:blipFill>
            <a:blip r:embed="rId3">
              <a:extLst>
                <a:ext uri="{96DAC541-7B7A-43D3-8B79-37D633B846F1}">
                  <asvg:svgBlip xmlns:asvg="http://schemas.microsoft.com/office/drawing/2016/SVG/main" r:embed="rId4"/>
                </a:ext>
              </a:extLst>
            </a:blip>
            <a:stretch>
              <a:fillRect l="0" t="0" r="0" b="-10126"/>
            </a:stretch>
          </a:blipFill>
        </p:spPr>
      </p:sp>
      <p:sp>
        <p:nvSpPr>
          <p:cNvPr name="TextBox 5" id="5"/>
          <p:cNvSpPr txBox="true"/>
          <p:nvPr/>
        </p:nvSpPr>
        <p:spPr>
          <a:xfrm rot="0">
            <a:off x="2784145" y="717587"/>
            <a:ext cx="13257009" cy="954426"/>
          </a:xfrm>
          <a:prstGeom prst="rect">
            <a:avLst/>
          </a:prstGeom>
        </p:spPr>
        <p:txBody>
          <a:bodyPr anchor="t" rtlCol="false" tIns="0" lIns="0" bIns="0" rIns="0">
            <a:spAutoFit/>
          </a:bodyPr>
          <a:lstStyle/>
          <a:p>
            <a:pPr algn="ctr">
              <a:lnSpc>
                <a:spcPts val="7768"/>
              </a:lnSpc>
              <a:spcBef>
                <a:spcPct val="0"/>
              </a:spcBef>
            </a:pPr>
            <a:r>
              <a:rPr lang="en-US" sz="5549">
                <a:solidFill>
                  <a:srgbClr val="FFFFFF"/>
                </a:solidFill>
                <a:latin typeface="Archivo Black"/>
                <a:ea typeface="Archivo Black"/>
                <a:cs typeface="Archivo Black"/>
                <a:sym typeface="Archivo Black"/>
              </a:rPr>
              <a:t>Overall System</a:t>
            </a:r>
            <a:r>
              <a:rPr lang="en-US" sz="5549">
                <a:solidFill>
                  <a:srgbClr val="FFFFFF"/>
                </a:solidFill>
                <a:latin typeface="Archivo Black"/>
                <a:ea typeface="Archivo Black"/>
                <a:cs typeface="Archivo Black"/>
                <a:sym typeface="Archivo Black"/>
              </a:rPr>
              <a:t> Overview</a:t>
            </a:r>
          </a:p>
        </p:txBody>
      </p:sp>
      <p:grpSp>
        <p:nvGrpSpPr>
          <p:cNvPr name="Group 6" id="6"/>
          <p:cNvGrpSpPr/>
          <p:nvPr/>
        </p:nvGrpSpPr>
        <p:grpSpPr>
          <a:xfrm rot="0">
            <a:off x="1712641" y="2529264"/>
            <a:ext cx="6628505" cy="546880"/>
            <a:chOff x="0" y="0"/>
            <a:chExt cx="1745779" cy="144034"/>
          </a:xfrm>
        </p:grpSpPr>
        <p:sp>
          <p:nvSpPr>
            <p:cNvPr name="Freeform 7" id="7"/>
            <p:cNvSpPr/>
            <p:nvPr/>
          </p:nvSpPr>
          <p:spPr>
            <a:xfrm flipH="false" flipV="false" rot="0">
              <a:off x="0" y="0"/>
              <a:ext cx="1745779" cy="144034"/>
            </a:xfrm>
            <a:custGeom>
              <a:avLst/>
              <a:gdLst/>
              <a:ahLst/>
              <a:cxnLst/>
              <a:rect r="r" b="b" t="t" l="l"/>
              <a:pathLst>
                <a:path h="144034" w="1745779">
                  <a:moveTo>
                    <a:pt x="59129" y="0"/>
                  </a:moveTo>
                  <a:lnTo>
                    <a:pt x="1686650" y="0"/>
                  </a:lnTo>
                  <a:cubicBezTo>
                    <a:pt x="1719306" y="0"/>
                    <a:pt x="1745779" y="26473"/>
                    <a:pt x="1745779" y="59129"/>
                  </a:cubicBezTo>
                  <a:lnTo>
                    <a:pt x="1745779" y="84906"/>
                  </a:lnTo>
                  <a:cubicBezTo>
                    <a:pt x="1745779" y="117562"/>
                    <a:pt x="1719306" y="144034"/>
                    <a:pt x="1686650" y="144034"/>
                  </a:cubicBezTo>
                  <a:lnTo>
                    <a:pt x="59129" y="144034"/>
                  </a:lnTo>
                  <a:cubicBezTo>
                    <a:pt x="26473" y="144034"/>
                    <a:pt x="0" y="117562"/>
                    <a:pt x="0" y="84906"/>
                  </a:cubicBezTo>
                  <a:lnTo>
                    <a:pt x="0" y="59129"/>
                  </a:lnTo>
                  <a:cubicBezTo>
                    <a:pt x="0" y="26473"/>
                    <a:pt x="26473" y="0"/>
                    <a:pt x="59129" y="0"/>
                  </a:cubicBezTo>
                  <a:close/>
                </a:path>
              </a:pathLst>
            </a:custGeom>
            <a:solidFill>
              <a:srgbClr val="134161"/>
            </a:solidFill>
          </p:spPr>
        </p:sp>
        <p:sp>
          <p:nvSpPr>
            <p:cNvPr name="TextBox 8" id="8"/>
            <p:cNvSpPr txBox="true"/>
            <p:nvPr/>
          </p:nvSpPr>
          <p:spPr>
            <a:xfrm>
              <a:off x="0" y="-57150"/>
              <a:ext cx="1745779" cy="201184"/>
            </a:xfrm>
            <a:prstGeom prst="rect">
              <a:avLst/>
            </a:prstGeom>
          </p:spPr>
          <p:txBody>
            <a:bodyPr anchor="ctr" rtlCol="false" tIns="50800" lIns="50800" bIns="50800" rIns="50800"/>
            <a:lstStyle/>
            <a:p>
              <a:pPr algn="ctr">
                <a:lnSpc>
                  <a:spcPts val="2379"/>
                </a:lnSpc>
              </a:pPr>
            </a:p>
          </p:txBody>
        </p:sp>
      </p:grpSp>
      <p:sp>
        <p:nvSpPr>
          <p:cNvPr name="TextBox 9" id="9"/>
          <p:cNvSpPr txBox="true"/>
          <p:nvPr/>
        </p:nvSpPr>
        <p:spPr>
          <a:xfrm rot="0">
            <a:off x="1722328" y="2559008"/>
            <a:ext cx="6551982" cy="424816"/>
          </a:xfrm>
          <a:prstGeom prst="rect">
            <a:avLst/>
          </a:prstGeom>
        </p:spPr>
        <p:txBody>
          <a:bodyPr anchor="t" rtlCol="false" tIns="0" lIns="0" bIns="0" rIns="0">
            <a:spAutoFit/>
          </a:bodyPr>
          <a:lstStyle/>
          <a:p>
            <a:pPr algn="ctr">
              <a:lnSpc>
                <a:spcPts val="3359"/>
              </a:lnSpc>
              <a:spcBef>
                <a:spcPct val="0"/>
              </a:spcBef>
            </a:pPr>
            <a:r>
              <a:rPr lang="en-US" b="true" sz="2399">
                <a:solidFill>
                  <a:srgbClr val="FFFFFF"/>
                </a:solidFill>
                <a:latin typeface="Poppins Bold"/>
                <a:ea typeface="Poppins Bold"/>
                <a:cs typeface="Poppins Bold"/>
                <a:sym typeface="Poppins Bold"/>
              </a:rPr>
              <a:t>Mark</a:t>
            </a:r>
            <a:r>
              <a:rPr lang="en-US" b="true" sz="2399">
                <a:solidFill>
                  <a:srgbClr val="FFFFFF"/>
                </a:solidFill>
                <a:latin typeface="Poppins Bold"/>
                <a:ea typeface="Poppins Bold"/>
                <a:cs typeface="Poppins Bold"/>
                <a:sym typeface="Poppins Bold"/>
              </a:rPr>
              <a:t>et Modelling &amp; Explainable AI</a:t>
            </a:r>
          </a:p>
        </p:txBody>
      </p:sp>
      <p:sp>
        <p:nvSpPr>
          <p:cNvPr name="TextBox 10" id="10"/>
          <p:cNvSpPr txBox="true"/>
          <p:nvPr/>
        </p:nvSpPr>
        <p:spPr>
          <a:xfrm rot="0">
            <a:off x="1821932" y="3206319"/>
            <a:ext cx="6519214" cy="1063626"/>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ML based price prediction, deviation based</a:t>
            </a:r>
            <a:r>
              <a:rPr lang="en-US" sz="1999">
                <a:solidFill>
                  <a:srgbClr val="FFFFFF"/>
                </a:solidFill>
                <a:latin typeface="Poppins"/>
                <a:ea typeface="Poppins"/>
                <a:cs typeface="Poppins"/>
                <a:sym typeface="Poppins"/>
              </a:rPr>
              <a:t> anomaly scoring, and SHAP explanations of the factors influencing detected anomalies</a:t>
            </a:r>
          </a:p>
        </p:txBody>
      </p:sp>
      <p:sp>
        <p:nvSpPr>
          <p:cNvPr name="AutoShape 11" id="11"/>
          <p:cNvSpPr/>
          <p:nvPr/>
        </p:nvSpPr>
        <p:spPr>
          <a:xfrm>
            <a:off x="1524235" y="8863192"/>
            <a:ext cx="2339072" cy="0"/>
          </a:xfrm>
          <a:prstGeom prst="line">
            <a:avLst/>
          </a:prstGeom>
          <a:ln cap="flat" w="38100">
            <a:solidFill>
              <a:srgbClr val="FFFFFF"/>
            </a:solidFill>
            <a:prstDash val="solid"/>
            <a:headEnd type="none" len="sm" w="sm"/>
            <a:tailEnd type="none" len="sm" w="sm"/>
          </a:ln>
        </p:spPr>
      </p:sp>
      <p:sp>
        <p:nvSpPr>
          <p:cNvPr name="AutoShape 12" id="12"/>
          <p:cNvSpPr/>
          <p:nvPr/>
        </p:nvSpPr>
        <p:spPr>
          <a:xfrm>
            <a:off x="6758819" y="8863192"/>
            <a:ext cx="2339072" cy="0"/>
          </a:xfrm>
          <a:prstGeom prst="line">
            <a:avLst/>
          </a:prstGeom>
          <a:ln cap="flat" w="38100">
            <a:solidFill>
              <a:srgbClr val="FFFFFF"/>
            </a:solidFill>
            <a:prstDash val="solid"/>
            <a:headEnd type="none" len="sm" w="sm"/>
            <a:tailEnd type="none" len="sm" w="sm"/>
          </a:ln>
        </p:spPr>
      </p:sp>
      <p:sp>
        <p:nvSpPr>
          <p:cNvPr name="AutoShape 13" id="13"/>
          <p:cNvSpPr/>
          <p:nvPr/>
        </p:nvSpPr>
        <p:spPr>
          <a:xfrm>
            <a:off x="11947295" y="8863192"/>
            <a:ext cx="2339072" cy="0"/>
          </a:xfrm>
          <a:prstGeom prst="line">
            <a:avLst/>
          </a:prstGeom>
          <a:ln cap="flat" w="38100">
            <a:solidFill>
              <a:srgbClr val="FFFFFF"/>
            </a:solidFill>
            <a:prstDash val="solid"/>
            <a:headEnd type="none" len="sm" w="sm"/>
            <a:tailEnd type="none" len="sm" w="sm"/>
          </a:ln>
        </p:spPr>
      </p:sp>
      <p:sp>
        <p:nvSpPr>
          <p:cNvPr name="Freeform 14" id="14"/>
          <p:cNvSpPr/>
          <p:nvPr/>
        </p:nvSpPr>
        <p:spPr>
          <a:xfrm flipH="false" flipV="false" rot="0">
            <a:off x="16763765" y="309706"/>
            <a:ext cx="2157541" cy="187266"/>
          </a:xfrm>
          <a:custGeom>
            <a:avLst/>
            <a:gdLst/>
            <a:ahLst/>
            <a:cxnLst/>
            <a:rect r="r" b="b" t="t" l="l"/>
            <a:pathLst>
              <a:path h="187266" w="2157541">
                <a:moveTo>
                  <a:pt x="0" y="0"/>
                </a:moveTo>
                <a:lnTo>
                  <a:pt x="2157541" y="0"/>
                </a:lnTo>
                <a:lnTo>
                  <a:pt x="2157541" y="187266"/>
                </a:lnTo>
                <a:lnTo>
                  <a:pt x="0" y="187266"/>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sp>
        <p:nvSpPr>
          <p:cNvPr name="Freeform 15" id="15"/>
          <p:cNvSpPr/>
          <p:nvPr/>
        </p:nvSpPr>
        <p:spPr>
          <a:xfrm flipH="false" flipV="false" rot="0">
            <a:off x="-598365" y="9463267"/>
            <a:ext cx="2157541" cy="187266"/>
          </a:xfrm>
          <a:custGeom>
            <a:avLst/>
            <a:gdLst/>
            <a:ahLst/>
            <a:cxnLst/>
            <a:rect r="r" b="b" t="t" l="l"/>
            <a:pathLst>
              <a:path h="187266" w="2157541">
                <a:moveTo>
                  <a:pt x="0" y="0"/>
                </a:moveTo>
                <a:lnTo>
                  <a:pt x="2157540" y="0"/>
                </a:lnTo>
                <a:lnTo>
                  <a:pt x="2157540" y="187266"/>
                </a:lnTo>
                <a:lnTo>
                  <a:pt x="0" y="187266"/>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grpSp>
        <p:nvGrpSpPr>
          <p:cNvPr name="Group 16" id="16"/>
          <p:cNvGrpSpPr/>
          <p:nvPr/>
        </p:nvGrpSpPr>
        <p:grpSpPr>
          <a:xfrm rot="0">
            <a:off x="10135260" y="2529264"/>
            <a:ext cx="6628505" cy="546880"/>
            <a:chOff x="0" y="0"/>
            <a:chExt cx="1745779" cy="144034"/>
          </a:xfrm>
        </p:grpSpPr>
        <p:sp>
          <p:nvSpPr>
            <p:cNvPr name="Freeform 17" id="17"/>
            <p:cNvSpPr/>
            <p:nvPr/>
          </p:nvSpPr>
          <p:spPr>
            <a:xfrm flipH="false" flipV="false" rot="0">
              <a:off x="0" y="0"/>
              <a:ext cx="1745779" cy="144034"/>
            </a:xfrm>
            <a:custGeom>
              <a:avLst/>
              <a:gdLst/>
              <a:ahLst/>
              <a:cxnLst/>
              <a:rect r="r" b="b" t="t" l="l"/>
              <a:pathLst>
                <a:path h="144034" w="1745779">
                  <a:moveTo>
                    <a:pt x="59129" y="0"/>
                  </a:moveTo>
                  <a:lnTo>
                    <a:pt x="1686650" y="0"/>
                  </a:lnTo>
                  <a:cubicBezTo>
                    <a:pt x="1719306" y="0"/>
                    <a:pt x="1745779" y="26473"/>
                    <a:pt x="1745779" y="59129"/>
                  </a:cubicBezTo>
                  <a:lnTo>
                    <a:pt x="1745779" y="84906"/>
                  </a:lnTo>
                  <a:cubicBezTo>
                    <a:pt x="1745779" y="117562"/>
                    <a:pt x="1719306" y="144034"/>
                    <a:pt x="1686650" y="144034"/>
                  </a:cubicBezTo>
                  <a:lnTo>
                    <a:pt x="59129" y="144034"/>
                  </a:lnTo>
                  <a:cubicBezTo>
                    <a:pt x="26473" y="144034"/>
                    <a:pt x="0" y="117562"/>
                    <a:pt x="0" y="84906"/>
                  </a:cubicBezTo>
                  <a:lnTo>
                    <a:pt x="0" y="59129"/>
                  </a:lnTo>
                  <a:cubicBezTo>
                    <a:pt x="0" y="26473"/>
                    <a:pt x="26473" y="0"/>
                    <a:pt x="59129" y="0"/>
                  </a:cubicBezTo>
                  <a:close/>
                </a:path>
              </a:pathLst>
            </a:custGeom>
            <a:solidFill>
              <a:srgbClr val="134161"/>
            </a:solidFill>
          </p:spPr>
        </p:sp>
        <p:sp>
          <p:nvSpPr>
            <p:cNvPr name="TextBox 18" id="18"/>
            <p:cNvSpPr txBox="true"/>
            <p:nvPr/>
          </p:nvSpPr>
          <p:spPr>
            <a:xfrm>
              <a:off x="0" y="-57150"/>
              <a:ext cx="1745779" cy="201184"/>
            </a:xfrm>
            <a:prstGeom prst="rect">
              <a:avLst/>
            </a:prstGeom>
          </p:spPr>
          <p:txBody>
            <a:bodyPr anchor="ctr" rtlCol="false" tIns="50800" lIns="50800" bIns="50800" rIns="50800"/>
            <a:lstStyle/>
            <a:p>
              <a:pPr algn="ctr">
                <a:lnSpc>
                  <a:spcPts val="2379"/>
                </a:lnSpc>
              </a:pPr>
            </a:p>
          </p:txBody>
        </p:sp>
      </p:grpSp>
      <p:sp>
        <p:nvSpPr>
          <p:cNvPr name="TextBox 19" id="19"/>
          <p:cNvSpPr txBox="true"/>
          <p:nvPr/>
        </p:nvSpPr>
        <p:spPr>
          <a:xfrm rot="0">
            <a:off x="10144947" y="2559008"/>
            <a:ext cx="6551982" cy="424816"/>
          </a:xfrm>
          <a:prstGeom prst="rect">
            <a:avLst/>
          </a:prstGeom>
        </p:spPr>
        <p:txBody>
          <a:bodyPr anchor="t" rtlCol="false" tIns="0" lIns="0" bIns="0" rIns="0">
            <a:spAutoFit/>
          </a:bodyPr>
          <a:lstStyle/>
          <a:p>
            <a:pPr algn="ctr">
              <a:lnSpc>
                <a:spcPts val="3359"/>
              </a:lnSpc>
              <a:spcBef>
                <a:spcPct val="0"/>
              </a:spcBef>
            </a:pPr>
            <a:r>
              <a:rPr lang="en-US" b="true" sz="2399">
                <a:solidFill>
                  <a:srgbClr val="FFFFFF"/>
                </a:solidFill>
                <a:latin typeface="Poppins Bold"/>
                <a:ea typeface="Poppins Bold"/>
                <a:cs typeface="Poppins Bold"/>
                <a:sym typeface="Poppins Bold"/>
              </a:rPr>
              <a:t>LLM</a:t>
            </a:r>
            <a:r>
              <a:rPr lang="en-US" b="true" sz="2399">
                <a:solidFill>
                  <a:srgbClr val="FFFFFF"/>
                </a:solidFill>
                <a:latin typeface="Poppins Bold"/>
                <a:ea typeface="Poppins Bold"/>
                <a:cs typeface="Poppins Bold"/>
                <a:sym typeface="Poppins Bold"/>
              </a:rPr>
              <a:t> Document Analysis</a:t>
            </a:r>
          </a:p>
        </p:txBody>
      </p:sp>
      <p:sp>
        <p:nvSpPr>
          <p:cNvPr name="TextBox 20" id="20"/>
          <p:cNvSpPr txBox="true"/>
          <p:nvPr/>
        </p:nvSpPr>
        <p:spPr>
          <a:xfrm rot="0">
            <a:off x="10244551" y="3206319"/>
            <a:ext cx="6519214" cy="1063626"/>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OpenAI-based summarization of</a:t>
            </a:r>
            <a:r>
              <a:rPr lang="en-US" sz="1999">
                <a:solidFill>
                  <a:srgbClr val="FFFFFF"/>
                </a:solidFill>
                <a:latin typeface="Poppins"/>
                <a:ea typeface="Poppins"/>
                <a:cs typeface="Poppins"/>
                <a:sym typeface="Poppins"/>
              </a:rPr>
              <a:t> CSE annual reports and earnings statements using prompt engineering</a:t>
            </a:r>
          </a:p>
        </p:txBody>
      </p:sp>
      <p:grpSp>
        <p:nvGrpSpPr>
          <p:cNvPr name="Group 21" id="21"/>
          <p:cNvGrpSpPr/>
          <p:nvPr/>
        </p:nvGrpSpPr>
        <p:grpSpPr>
          <a:xfrm rot="0">
            <a:off x="1722328" y="4822395"/>
            <a:ext cx="6628505" cy="546880"/>
            <a:chOff x="0" y="0"/>
            <a:chExt cx="1745779" cy="144034"/>
          </a:xfrm>
        </p:grpSpPr>
        <p:sp>
          <p:nvSpPr>
            <p:cNvPr name="Freeform 22" id="22"/>
            <p:cNvSpPr/>
            <p:nvPr/>
          </p:nvSpPr>
          <p:spPr>
            <a:xfrm flipH="false" flipV="false" rot="0">
              <a:off x="0" y="0"/>
              <a:ext cx="1745779" cy="144034"/>
            </a:xfrm>
            <a:custGeom>
              <a:avLst/>
              <a:gdLst/>
              <a:ahLst/>
              <a:cxnLst/>
              <a:rect r="r" b="b" t="t" l="l"/>
              <a:pathLst>
                <a:path h="144034" w="1745779">
                  <a:moveTo>
                    <a:pt x="59129" y="0"/>
                  </a:moveTo>
                  <a:lnTo>
                    <a:pt x="1686650" y="0"/>
                  </a:lnTo>
                  <a:cubicBezTo>
                    <a:pt x="1719306" y="0"/>
                    <a:pt x="1745779" y="26473"/>
                    <a:pt x="1745779" y="59129"/>
                  </a:cubicBezTo>
                  <a:lnTo>
                    <a:pt x="1745779" y="84906"/>
                  </a:lnTo>
                  <a:cubicBezTo>
                    <a:pt x="1745779" y="117562"/>
                    <a:pt x="1719306" y="144034"/>
                    <a:pt x="1686650" y="144034"/>
                  </a:cubicBezTo>
                  <a:lnTo>
                    <a:pt x="59129" y="144034"/>
                  </a:lnTo>
                  <a:cubicBezTo>
                    <a:pt x="26473" y="144034"/>
                    <a:pt x="0" y="117562"/>
                    <a:pt x="0" y="84906"/>
                  </a:cubicBezTo>
                  <a:lnTo>
                    <a:pt x="0" y="59129"/>
                  </a:lnTo>
                  <a:cubicBezTo>
                    <a:pt x="0" y="26473"/>
                    <a:pt x="26473" y="0"/>
                    <a:pt x="59129" y="0"/>
                  </a:cubicBezTo>
                  <a:close/>
                </a:path>
              </a:pathLst>
            </a:custGeom>
            <a:solidFill>
              <a:srgbClr val="134161"/>
            </a:solidFill>
          </p:spPr>
        </p:sp>
        <p:sp>
          <p:nvSpPr>
            <p:cNvPr name="TextBox 23" id="23"/>
            <p:cNvSpPr txBox="true"/>
            <p:nvPr/>
          </p:nvSpPr>
          <p:spPr>
            <a:xfrm>
              <a:off x="0" y="-57150"/>
              <a:ext cx="1745779" cy="201184"/>
            </a:xfrm>
            <a:prstGeom prst="rect">
              <a:avLst/>
            </a:prstGeom>
          </p:spPr>
          <p:txBody>
            <a:bodyPr anchor="ctr" rtlCol="false" tIns="50800" lIns="50800" bIns="50800" rIns="50800"/>
            <a:lstStyle/>
            <a:p>
              <a:pPr algn="ctr">
                <a:lnSpc>
                  <a:spcPts val="2379"/>
                </a:lnSpc>
              </a:pPr>
            </a:p>
          </p:txBody>
        </p:sp>
      </p:grpSp>
      <p:sp>
        <p:nvSpPr>
          <p:cNvPr name="TextBox 24" id="24"/>
          <p:cNvSpPr txBox="true"/>
          <p:nvPr/>
        </p:nvSpPr>
        <p:spPr>
          <a:xfrm rot="0">
            <a:off x="1732014" y="4852139"/>
            <a:ext cx="6551982" cy="424816"/>
          </a:xfrm>
          <a:prstGeom prst="rect">
            <a:avLst/>
          </a:prstGeom>
        </p:spPr>
        <p:txBody>
          <a:bodyPr anchor="t" rtlCol="false" tIns="0" lIns="0" bIns="0" rIns="0">
            <a:spAutoFit/>
          </a:bodyPr>
          <a:lstStyle/>
          <a:p>
            <a:pPr algn="ctr">
              <a:lnSpc>
                <a:spcPts val="3359"/>
              </a:lnSpc>
              <a:spcBef>
                <a:spcPct val="0"/>
              </a:spcBef>
            </a:pPr>
            <a:r>
              <a:rPr lang="en-US" b="true" sz="2399">
                <a:solidFill>
                  <a:srgbClr val="FFFFFF"/>
                </a:solidFill>
                <a:latin typeface="Poppins Bold"/>
                <a:ea typeface="Poppins Bold"/>
                <a:cs typeface="Poppins Bold"/>
                <a:sym typeface="Poppins Bold"/>
              </a:rPr>
              <a:t>S</a:t>
            </a:r>
            <a:r>
              <a:rPr lang="en-US" b="true" sz="2399">
                <a:solidFill>
                  <a:srgbClr val="FFFFFF"/>
                </a:solidFill>
                <a:latin typeface="Poppins Bold"/>
                <a:ea typeface="Poppins Bold"/>
                <a:cs typeface="Poppins Bold"/>
                <a:sym typeface="Poppins Bold"/>
              </a:rPr>
              <a:t>entiment &amp; Event Modeling</a:t>
            </a:r>
          </a:p>
        </p:txBody>
      </p:sp>
      <p:sp>
        <p:nvSpPr>
          <p:cNvPr name="TextBox 25" id="25"/>
          <p:cNvSpPr txBox="true"/>
          <p:nvPr/>
        </p:nvSpPr>
        <p:spPr>
          <a:xfrm rot="0">
            <a:off x="1831619" y="5499451"/>
            <a:ext cx="6519214" cy="1063626"/>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NLP pipeline processes news</a:t>
            </a:r>
            <a:r>
              <a:rPr lang="en-US" sz="1999">
                <a:solidFill>
                  <a:srgbClr val="FFFFFF"/>
                </a:solidFill>
                <a:latin typeface="Poppins"/>
                <a:ea typeface="Poppins"/>
                <a:cs typeface="Poppins"/>
                <a:sym typeface="Poppins"/>
              </a:rPr>
              <a:t> headlines and macro events for financial sentiment signals.</a:t>
            </a:r>
          </a:p>
          <a:p>
            <a:pPr algn="l">
              <a:lnSpc>
                <a:spcPts val="2799"/>
              </a:lnSpc>
              <a:spcBef>
                <a:spcPct val="0"/>
              </a:spcBef>
            </a:pPr>
          </a:p>
        </p:txBody>
      </p:sp>
      <p:grpSp>
        <p:nvGrpSpPr>
          <p:cNvPr name="Group 26" id="26"/>
          <p:cNvGrpSpPr/>
          <p:nvPr/>
        </p:nvGrpSpPr>
        <p:grpSpPr>
          <a:xfrm rot="0">
            <a:off x="10068424" y="4822395"/>
            <a:ext cx="7190876" cy="546880"/>
            <a:chOff x="0" y="0"/>
            <a:chExt cx="1893893" cy="144034"/>
          </a:xfrm>
        </p:grpSpPr>
        <p:sp>
          <p:nvSpPr>
            <p:cNvPr name="Freeform 27" id="27"/>
            <p:cNvSpPr/>
            <p:nvPr/>
          </p:nvSpPr>
          <p:spPr>
            <a:xfrm flipH="false" flipV="false" rot="0">
              <a:off x="0" y="0"/>
              <a:ext cx="1893893" cy="144034"/>
            </a:xfrm>
            <a:custGeom>
              <a:avLst/>
              <a:gdLst/>
              <a:ahLst/>
              <a:cxnLst/>
              <a:rect r="r" b="b" t="t" l="l"/>
              <a:pathLst>
                <a:path h="144034" w="1893893">
                  <a:moveTo>
                    <a:pt x="54504" y="0"/>
                  </a:moveTo>
                  <a:lnTo>
                    <a:pt x="1839389" y="0"/>
                  </a:lnTo>
                  <a:cubicBezTo>
                    <a:pt x="1869491" y="0"/>
                    <a:pt x="1893893" y="24402"/>
                    <a:pt x="1893893" y="54504"/>
                  </a:cubicBezTo>
                  <a:lnTo>
                    <a:pt x="1893893" y="89530"/>
                  </a:lnTo>
                  <a:cubicBezTo>
                    <a:pt x="1893893" y="119632"/>
                    <a:pt x="1869491" y="144034"/>
                    <a:pt x="1839389" y="144034"/>
                  </a:cubicBezTo>
                  <a:lnTo>
                    <a:pt x="54504" y="144034"/>
                  </a:lnTo>
                  <a:cubicBezTo>
                    <a:pt x="24402" y="144034"/>
                    <a:pt x="0" y="119632"/>
                    <a:pt x="0" y="89530"/>
                  </a:cubicBezTo>
                  <a:lnTo>
                    <a:pt x="0" y="54504"/>
                  </a:lnTo>
                  <a:cubicBezTo>
                    <a:pt x="0" y="24402"/>
                    <a:pt x="24402" y="0"/>
                    <a:pt x="54504" y="0"/>
                  </a:cubicBezTo>
                  <a:close/>
                </a:path>
              </a:pathLst>
            </a:custGeom>
            <a:solidFill>
              <a:srgbClr val="134161"/>
            </a:solidFill>
          </p:spPr>
        </p:sp>
        <p:sp>
          <p:nvSpPr>
            <p:cNvPr name="TextBox 28" id="28"/>
            <p:cNvSpPr txBox="true"/>
            <p:nvPr/>
          </p:nvSpPr>
          <p:spPr>
            <a:xfrm>
              <a:off x="0" y="-57150"/>
              <a:ext cx="1893893" cy="201184"/>
            </a:xfrm>
            <a:prstGeom prst="rect">
              <a:avLst/>
            </a:prstGeom>
          </p:spPr>
          <p:txBody>
            <a:bodyPr anchor="ctr" rtlCol="false" tIns="50800" lIns="50800" bIns="50800" rIns="50800"/>
            <a:lstStyle/>
            <a:p>
              <a:pPr algn="ctr">
                <a:lnSpc>
                  <a:spcPts val="2379"/>
                </a:lnSpc>
              </a:pPr>
            </a:p>
          </p:txBody>
        </p:sp>
      </p:grpSp>
      <p:sp>
        <p:nvSpPr>
          <p:cNvPr name="TextBox 29" id="29"/>
          <p:cNvSpPr txBox="true"/>
          <p:nvPr/>
        </p:nvSpPr>
        <p:spPr>
          <a:xfrm rot="0">
            <a:off x="10068424" y="4850090"/>
            <a:ext cx="7190876" cy="424816"/>
          </a:xfrm>
          <a:prstGeom prst="rect">
            <a:avLst/>
          </a:prstGeom>
        </p:spPr>
        <p:txBody>
          <a:bodyPr anchor="t" rtlCol="false" tIns="0" lIns="0" bIns="0" rIns="0">
            <a:spAutoFit/>
          </a:bodyPr>
          <a:lstStyle/>
          <a:p>
            <a:pPr algn="ctr">
              <a:lnSpc>
                <a:spcPts val="3359"/>
              </a:lnSpc>
              <a:spcBef>
                <a:spcPct val="0"/>
              </a:spcBef>
            </a:pPr>
            <a:r>
              <a:rPr lang="en-US" b="true" sz="2399">
                <a:solidFill>
                  <a:srgbClr val="FFFFFF"/>
                </a:solidFill>
                <a:latin typeface="Poppins Bold"/>
                <a:ea typeface="Poppins Bold"/>
                <a:cs typeface="Poppins Bold"/>
                <a:sym typeface="Poppins Bold"/>
              </a:rPr>
              <a:t>Explainable AI-Based Financial Risk Engine</a:t>
            </a:r>
          </a:p>
        </p:txBody>
      </p:sp>
      <p:sp>
        <p:nvSpPr>
          <p:cNvPr name="TextBox 30" id="30"/>
          <p:cNvSpPr txBox="true"/>
          <p:nvPr/>
        </p:nvSpPr>
        <p:spPr>
          <a:xfrm rot="0">
            <a:off x="10177715" y="5595870"/>
            <a:ext cx="6519214" cy="1063626"/>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ML-based stock risk prediction using market data and global indicators. SHAP-based explanations identify key factors affecting risk decisions.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263022" y="6799147"/>
            <a:ext cx="4604428" cy="3810164"/>
          </a:xfrm>
          <a:custGeom>
            <a:avLst/>
            <a:gdLst/>
            <a:ahLst/>
            <a:cxnLst/>
            <a:rect r="r" b="b" t="t" l="l"/>
            <a:pathLst>
              <a:path h="3810164" w="4604428">
                <a:moveTo>
                  <a:pt x="0" y="0"/>
                </a:moveTo>
                <a:lnTo>
                  <a:pt x="4604428" y="0"/>
                </a:lnTo>
                <a:lnTo>
                  <a:pt x="4604428" y="3810165"/>
                </a:lnTo>
                <a:lnTo>
                  <a:pt x="0" y="38101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4807838" y="7351066"/>
            <a:ext cx="3937457" cy="3258246"/>
          </a:xfrm>
          <a:custGeom>
            <a:avLst/>
            <a:gdLst/>
            <a:ahLst/>
            <a:cxnLst/>
            <a:rect r="r" b="b" t="t" l="l"/>
            <a:pathLst>
              <a:path h="3258246" w="3937457">
                <a:moveTo>
                  <a:pt x="3937457" y="0"/>
                </a:moveTo>
                <a:lnTo>
                  <a:pt x="0" y="0"/>
                </a:lnTo>
                <a:lnTo>
                  <a:pt x="0" y="3258246"/>
                </a:lnTo>
                <a:lnTo>
                  <a:pt x="3937457" y="3258246"/>
                </a:lnTo>
                <a:lnTo>
                  <a:pt x="393745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20171" y="5867235"/>
            <a:ext cx="2157541" cy="187266"/>
          </a:xfrm>
          <a:custGeom>
            <a:avLst/>
            <a:gdLst/>
            <a:ahLst/>
            <a:cxnLst/>
            <a:rect r="r" b="b" t="t" l="l"/>
            <a:pathLst>
              <a:path h="187266" w="2157541">
                <a:moveTo>
                  <a:pt x="0" y="0"/>
                </a:moveTo>
                <a:lnTo>
                  <a:pt x="2157540" y="0"/>
                </a:lnTo>
                <a:lnTo>
                  <a:pt x="2157540" y="187266"/>
                </a:lnTo>
                <a:lnTo>
                  <a:pt x="0" y="187266"/>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sp>
        <p:nvSpPr>
          <p:cNvPr name="Freeform 6" id="6"/>
          <p:cNvSpPr/>
          <p:nvPr/>
        </p:nvSpPr>
        <p:spPr>
          <a:xfrm flipH="false" flipV="false" rot="0">
            <a:off x="618303" y="1800376"/>
            <a:ext cx="16640997" cy="7748464"/>
          </a:xfrm>
          <a:custGeom>
            <a:avLst/>
            <a:gdLst/>
            <a:ahLst/>
            <a:cxnLst/>
            <a:rect r="r" b="b" t="t" l="l"/>
            <a:pathLst>
              <a:path h="7748464" w="16640997">
                <a:moveTo>
                  <a:pt x="0" y="0"/>
                </a:moveTo>
                <a:lnTo>
                  <a:pt x="16640997" y="0"/>
                </a:lnTo>
                <a:lnTo>
                  <a:pt x="16640997" y="7748464"/>
                </a:lnTo>
                <a:lnTo>
                  <a:pt x="0" y="7748464"/>
                </a:lnTo>
                <a:lnTo>
                  <a:pt x="0" y="0"/>
                </a:lnTo>
                <a:close/>
              </a:path>
            </a:pathLst>
          </a:custGeom>
          <a:blipFill>
            <a:blip r:embed="rId7"/>
            <a:stretch>
              <a:fillRect l="0" t="0" r="0" b="0"/>
            </a:stretch>
          </a:blipFill>
        </p:spPr>
      </p:sp>
      <p:sp>
        <p:nvSpPr>
          <p:cNvPr name="TextBox 7" id="7"/>
          <p:cNvSpPr txBox="true"/>
          <p:nvPr/>
        </p:nvSpPr>
        <p:spPr>
          <a:xfrm rot="0">
            <a:off x="4341406" y="164961"/>
            <a:ext cx="9819944" cy="1048400"/>
          </a:xfrm>
          <a:prstGeom prst="rect">
            <a:avLst/>
          </a:prstGeom>
        </p:spPr>
        <p:txBody>
          <a:bodyPr anchor="t" rtlCol="false" tIns="0" lIns="0" bIns="0" rIns="0">
            <a:spAutoFit/>
          </a:bodyPr>
          <a:lstStyle/>
          <a:p>
            <a:pPr algn="l">
              <a:lnSpc>
                <a:spcPts val="8449"/>
              </a:lnSpc>
              <a:spcBef>
                <a:spcPct val="0"/>
              </a:spcBef>
            </a:pPr>
            <a:r>
              <a:rPr lang="en-US" sz="6035">
                <a:solidFill>
                  <a:srgbClr val="FFFFFF"/>
                </a:solidFill>
                <a:latin typeface="Archivo Black"/>
                <a:ea typeface="Archivo Black"/>
                <a:cs typeface="Archivo Black"/>
                <a:sym typeface="Archivo Black"/>
              </a:rPr>
              <a:t>System Architectur</a:t>
            </a:r>
            <a:r>
              <a:rPr lang="en-US" sz="6035">
                <a:solidFill>
                  <a:srgbClr val="FFFFFF"/>
                </a:solidFill>
                <a:latin typeface="Archivo Black"/>
                <a:ea typeface="Archivo Black"/>
                <a:cs typeface="Archivo Black"/>
                <a:sym typeface="Archivo Black"/>
              </a:rPr>
              <a:t>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291325" y="8307166"/>
            <a:ext cx="2792664" cy="2094498"/>
          </a:xfrm>
          <a:custGeom>
            <a:avLst/>
            <a:gdLst/>
            <a:ahLst/>
            <a:cxnLst/>
            <a:rect r="r" b="b" t="t" l="l"/>
            <a:pathLst>
              <a:path h="2094498" w="2792664">
                <a:moveTo>
                  <a:pt x="0" y="0"/>
                </a:moveTo>
                <a:lnTo>
                  <a:pt x="2792664" y="0"/>
                </a:lnTo>
                <a:lnTo>
                  <a:pt x="2792664" y="2094498"/>
                </a:lnTo>
                <a:lnTo>
                  <a:pt x="0" y="20944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5324361" y="-133987"/>
            <a:ext cx="3064713" cy="2298535"/>
          </a:xfrm>
          <a:custGeom>
            <a:avLst/>
            <a:gdLst/>
            <a:ahLst/>
            <a:cxnLst/>
            <a:rect r="r" b="b" t="t" l="l"/>
            <a:pathLst>
              <a:path h="2298535" w="3064713">
                <a:moveTo>
                  <a:pt x="3064714" y="2298535"/>
                </a:moveTo>
                <a:lnTo>
                  <a:pt x="0" y="2298535"/>
                </a:lnTo>
                <a:lnTo>
                  <a:pt x="0" y="0"/>
                </a:lnTo>
                <a:lnTo>
                  <a:pt x="3064714" y="0"/>
                </a:lnTo>
                <a:lnTo>
                  <a:pt x="3064714" y="229853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604448" y="9624504"/>
            <a:ext cx="2157541" cy="187266"/>
          </a:xfrm>
          <a:custGeom>
            <a:avLst/>
            <a:gdLst/>
            <a:ahLst/>
            <a:cxnLst/>
            <a:rect r="r" b="b" t="t" l="l"/>
            <a:pathLst>
              <a:path h="187266" w="2157541">
                <a:moveTo>
                  <a:pt x="0" y="0"/>
                </a:moveTo>
                <a:lnTo>
                  <a:pt x="2157541" y="0"/>
                </a:lnTo>
                <a:lnTo>
                  <a:pt x="2157541" y="187266"/>
                </a:lnTo>
                <a:lnTo>
                  <a:pt x="0" y="187266"/>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grpSp>
        <p:nvGrpSpPr>
          <p:cNvPr name="Group 6" id="6"/>
          <p:cNvGrpSpPr/>
          <p:nvPr/>
        </p:nvGrpSpPr>
        <p:grpSpPr>
          <a:xfrm rot="0">
            <a:off x="1724104" y="3218408"/>
            <a:ext cx="5668249" cy="749508"/>
            <a:chOff x="0" y="0"/>
            <a:chExt cx="7557666" cy="999344"/>
          </a:xfrm>
        </p:grpSpPr>
        <p:grpSp>
          <p:nvGrpSpPr>
            <p:cNvPr name="Group 7" id="7"/>
            <p:cNvGrpSpPr/>
            <p:nvPr/>
          </p:nvGrpSpPr>
          <p:grpSpPr>
            <a:xfrm rot="0">
              <a:off x="0" y="0"/>
              <a:ext cx="7557666" cy="999344"/>
              <a:chOff x="0" y="0"/>
              <a:chExt cx="1596784" cy="211166"/>
            </a:xfrm>
          </p:grpSpPr>
          <p:sp>
            <p:nvSpPr>
              <p:cNvPr name="Freeform 8" id="8"/>
              <p:cNvSpPr/>
              <p:nvPr/>
            </p:nvSpPr>
            <p:spPr>
              <a:xfrm flipH="false" flipV="false" rot="0">
                <a:off x="0" y="0"/>
                <a:ext cx="1596784" cy="211166"/>
              </a:xfrm>
              <a:custGeom>
                <a:avLst/>
                <a:gdLst/>
                <a:ahLst/>
                <a:cxnLst/>
                <a:rect r="r" b="b" t="t" l="l"/>
                <a:pathLst>
                  <a:path h="211166" w="1596784">
                    <a:moveTo>
                      <a:pt x="1596784" y="30048"/>
                    </a:moveTo>
                    <a:lnTo>
                      <a:pt x="1596784" y="181118"/>
                    </a:lnTo>
                    <a:cubicBezTo>
                      <a:pt x="1596784" y="189087"/>
                      <a:pt x="1593619" y="196730"/>
                      <a:pt x="1587983" y="202365"/>
                    </a:cubicBezTo>
                    <a:cubicBezTo>
                      <a:pt x="1582348" y="208001"/>
                      <a:pt x="1574705" y="211166"/>
                      <a:pt x="1566736" y="211166"/>
                    </a:cubicBezTo>
                    <a:lnTo>
                      <a:pt x="30048" y="211166"/>
                    </a:lnTo>
                    <a:cubicBezTo>
                      <a:pt x="13453" y="211166"/>
                      <a:pt x="0" y="197713"/>
                      <a:pt x="0" y="181118"/>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9" id="9"/>
              <p:cNvSpPr txBox="true"/>
              <p:nvPr/>
            </p:nvSpPr>
            <p:spPr>
              <a:xfrm>
                <a:off x="0" y="-57150"/>
                <a:ext cx="1596784" cy="268316"/>
              </a:xfrm>
              <a:prstGeom prst="rect">
                <a:avLst/>
              </a:prstGeom>
            </p:spPr>
            <p:txBody>
              <a:bodyPr anchor="ctr" rtlCol="false" tIns="50800" lIns="50800" bIns="50800" rIns="50800"/>
              <a:lstStyle/>
              <a:p>
                <a:pPr algn="ctr">
                  <a:lnSpc>
                    <a:spcPts val="2379"/>
                  </a:lnSpc>
                </a:pPr>
              </a:p>
            </p:txBody>
          </p:sp>
        </p:grpSp>
        <p:sp>
          <p:nvSpPr>
            <p:cNvPr name="TextBox 10" id="10"/>
            <p:cNvSpPr txBox="true"/>
            <p:nvPr/>
          </p:nvSpPr>
          <p:spPr>
            <a:xfrm rot="0">
              <a:off x="0" y="220066"/>
              <a:ext cx="7557666" cy="492537"/>
            </a:xfrm>
            <a:prstGeom prst="rect">
              <a:avLst/>
            </a:prstGeom>
          </p:spPr>
          <p:txBody>
            <a:bodyPr anchor="t" rtlCol="false" tIns="0" lIns="0" bIns="0" rIns="0">
              <a:spAutoFit/>
            </a:bodyPr>
            <a:lstStyle/>
            <a:p>
              <a:pPr algn="ctr">
                <a:lnSpc>
                  <a:spcPts val="3010"/>
                </a:lnSpc>
                <a:spcBef>
                  <a:spcPct val="0"/>
                </a:spcBef>
              </a:pPr>
              <a:r>
                <a:rPr lang="en-US" b="true" sz="2150">
                  <a:solidFill>
                    <a:srgbClr val="FFFFFF"/>
                  </a:solidFill>
                  <a:latin typeface="Poppins Bold"/>
                  <a:ea typeface="Poppins Bold"/>
                  <a:cs typeface="Poppins Bold"/>
                  <a:sym typeface="Poppins Bold"/>
                </a:rPr>
                <a:t>Gener</a:t>
              </a:r>
              <a:r>
                <a:rPr lang="en-US" b="true" sz="2150">
                  <a:solidFill>
                    <a:srgbClr val="FFFFFF"/>
                  </a:solidFill>
                  <a:latin typeface="Poppins Bold"/>
                  <a:ea typeface="Poppins Bold"/>
                  <a:cs typeface="Poppins Bold"/>
                  <a:sym typeface="Poppins Bold"/>
                </a:rPr>
                <a:t>al AI-generated explanations</a:t>
              </a:r>
            </a:p>
          </p:txBody>
        </p:sp>
      </p:grpSp>
      <p:grpSp>
        <p:nvGrpSpPr>
          <p:cNvPr name="Group 11" id="11"/>
          <p:cNvGrpSpPr/>
          <p:nvPr/>
        </p:nvGrpSpPr>
        <p:grpSpPr>
          <a:xfrm rot="0">
            <a:off x="1724104" y="4167942"/>
            <a:ext cx="5668249" cy="749508"/>
            <a:chOff x="0" y="0"/>
            <a:chExt cx="7557666" cy="999344"/>
          </a:xfrm>
        </p:grpSpPr>
        <p:grpSp>
          <p:nvGrpSpPr>
            <p:cNvPr name="Group 12" id="12"/>
            <p:cNvGrpSpPr/>
            <p:nvPr/>
          </p:nvGrpSpPr>
          <p:grpSpPr>
            <a:xfrm rot="0">
              <a:off x="0" y="0"/>
              <a:ext cx="7557666" cy="999344"/>
              <a:chOff x="0" y="0"/>
              <a:chExt cx="1596784" cy="211166"/>
            </a:xfrm>
          </p:grpSpPr>
          <p:sp>
            <p:nvSpPr>
              <p:cNvPr name="Freeform 13" id="13"/>
              <p:cNvSpPr/>
              <p:nvPr/>
            </p:nvSpPr>
            <p:spPr>
              <a:xfrm flipH="false" flipV="false" rot="0">
                <a:off x="0" y="0"/>
                <a:ext cx="1596784" cy="211166"/>
              </a:xfrm>
              <a:custGeom>
                <a:avLst/>
                <a:gdLst/>
                <a:ahLst/>
                <a:cxnLst/>
                <a:rect r="r" b="b" t="t" l="l"/>
                <a:pathLst>
                  <a:path h="211166" w="1596784">
                    <a:moveTo>
                      <a:pt x="1596784" y="30048"/>
                    </a:moveTo>
                    <a:lnTo>
                      <a:pt x="1596784" y="181118"/>
                    </a:lnTo>
                    <a:cubicBezTo>
                      <a:pt x="1596784" y="189087"/>
                      <a:pt x="1593619" y="196730"/>
                      <a:pt x="1587983" y="202365"/>
                    </a:cubicBezTo>
                    <a:cubicBezTo>
                      <a:pt x="1582348" y="208001"/>
                      <a:pt x="1574705" y="211166"/>
                      <a:pt x="1566736" y="211166"/>
                    </a:cubicBezTo>
                    <a:lnTo>
                      <a:pt x="30048" y="211166"/>
                    </a:lnTo>
                    <a:cubicBezTo>
                      <a:pt x="13453" y="211166"/>
                      <a:pt x="0" y="197713"/>
                      <a:pt x="0" y="181118"/>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14" id="14"/>
              <p:cNvSpPr txBox="true"/>
              <p:nvPr/>
            </p:nvSpPr>
            <p:spPr>
              <a:xfrm>
                <a:off x="0" y="-57150"/>
                <a:ext cx="1596784" cy="268316"/>
              </a:xfrm>
              <a:prstGeom prst="rect">
                <a:avLst/>
              </a:prstGeom>
            </p:spPr>
            <p:txBody>
              <a:bodyPr anchor="ctr" rtlCol="false" tIns="50800" lIns="50800" bIns="50800" rIns="50800"/>
              <a:lstStyle/>
              <a:p>
                <a:pPr algn="ctr">
                  <a:lnSpc>
                    <a:spcPts val="2379"/>
                  </a:lnSpc>
                </a:pPr>
              </a:p>
            </p:txBody>
          </p:sp>
        </p:grpSp>
        <p:sp>
          <p:nvSpPr>
            <p:cNvPr name="TextBox 15" id="15"/>
            <p:cNvSpPr txBox="true"/>
            <p:nvPr/>
          </p:nvSpPr>
          <p:spPr>
            <a:xfrm rot="0">
              <a:off x="0" y="220066"/>
              <a:ext cx="7557666" cy="492537"/>
            </a:xfrm>
            <a:prstGeom prst="rect">
              <a:avLst/>
            </a:prstGeom>
          </p:spPr>
          <p:txBody>
            <a:bodyPr anchor="t" rtlCol="false" tIns="0" lIns="0" bIns="0" rIns="0">
              <a:spAutoFit/>
            </a:bodyPr>
            <a:lstStyle/>
            <a:p>
              <a:pPr algn="ctr">
                <a:lnSpc>
                  <a:spcPts val="3010"/>
                </a:lnSpc>
                <a:spcBef>
                  <a:spcPct val="0"/>
                </a:spcBef>
              </a:pPr>
              <a:r>
                <a:rPr lang="en-US" b="true" sz="2150">
                  <a:solidFill>
                    <a:srgbClr val="FFFFFF"/>
                  </a:solidFill>
                  <a:latin typeface="Poppins Bold"/>
                  <a:ea typeface="Poppins Bold"/>
                  <a:cs typeface="Poppins Bold"/>
                  <a:sym typeface="Poppins Bold"/>
                </a:rPr>
                <a:t>Limited explan</a:t>
              </a:r>
              <a:r>
                <a:rPr lang="en-US" b="true" sz="2150">
                  <a:solidFill>
                    <a:srgbClr val="FFFFFF"/>
                  </a:solidFill>
                  <a:latin typeface="Poppins Bold"/>
                  <a:ea typeface="Poppins Bold"/>
                  <a:cs typeface="Poppins Bold"/>
                  <a:sym typeface="Poppins Bold"/>
                </a:rPr>
                <a:t>ation of research novelty</a:t>
              </a:r>
            </a:p>
          </p:txBody>
        </p:sp>
      </p:grpSp>
      <p:grpSp>
        <p:nvGrpSpPr>
          <p:cNvPr name="Group 16" id="16"/>
          <p:cNvGrpSpPr/>
          <p:nvPr/>
        </p:nvGrpSpPr>
        <p:grpSpPr>
          <a:xfrm rot="0">
            <a:off x="1743154" y="5117475"/>
            <a:ext cx="5668249" cy="749508"/>
            <a:chOff x="0" y="0"/>
            <a:chExt cx="7557666" cy="999344"/>
          </a:xfrm>
        </p:grpSpPr>
        <p:grpSp>
          <p:nvGrpSpPr>
            <p:cNvPr name="Group 17" id="17"/>
            <p:cNvGrpSpPr/>
            <p:nvPr/>
          </p:nvGrpSpPr>
          <p:grpSpPr>
            <a:xfrm rot="0">
              <a:off x="0" y="0"/>
              <a:ext cx="7557666" cy="999344"/>
              <a:chOff x="0" y="0"/>
              <a:chExt cx="1596784" cy="211166"/>
            </a:xfrm>
          </p:grpSpPr>
          <p:sp>
            <p:nvSpPr>
              <p:cNvPr name="Freeform 18" id="18"/>
              <p:cNvSpPr/>
              <p:nvPr/>
            </p:nvSpPr>
            <p:spPr>
              <a:xfrm flipH="false" flipV="false" rot="0">
                <a:off x="0" y="0"/>
                <a:ext cx="1596784" cy="211166"/>
              </a:xfrm>
              <a:custGeom>
                <a:avLst/>
                <a:gdLst/>
                <a:ahLst/>
                <a:cxnLst/>
                <a:rect r="r" b="b" t="t" l="l"/>
                <a:pathLst>
                  <a:path h="211166" w="1596784">
                    <a:moveTo>
                      <a:pt x="1596784" y="30048"/>
                    </a:moveTo>
                    <a:lnTo>
                      <a:pt x="1596784" y="181118"/>
                    </a:lnTo>
                    <a:cubicBezTo>
                      <a:pt x="1596784" y="189087"/>
                      <a:pt x="1593619" y="196730"/>
                      <a:pt x="1587983" y="202365"/>
                    </a:cubicBezTo>
                    <a:cubicBezTo>
                      <a:pt x="1582348" y="208001"/>
                      <a:pt x="1574705" y="211166"/>
                      <a:pt x="1566736" y="211166"/>
                    </a:cubicBezTo>
                    <a:lnTo>
                      <a:pt x="30048" y="211166"/>
                    </a:lnTo>
                    <a:cubicBezTo>
                      <a:pt x="13453" y="211166"/>
                      <a:pt x="0" y="197713"/>
                      <a:pt x="0" y="181118"/>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19" id="19"/>
              <p:cNvSpPr txBox="true"/>
              <p:nvPr/>
            </p:nvSpPr>
            <p:spPr>
              <a:xfrm>
                <a:off x="0" y="-57150"/>
                <a:ext cx="1596784" cy="268316"/>
              </a:xfrm>
              <a:prstGeom prst="rect">
                <a:avLst/>
              </a:prstGeom>
            </p:spPr>
            <p:txBody>
              <a:bodyPr anchor="ctr" rtlCol="false" tIns="50800" lIns="50800" bIns="50800" rIns="50800"/>
              <a:lstStyle/>
              <a:p>
                <a:pPr algn="ctr">
                  <a:lnSpc>
                    <a:spcPts val="2379"/>
                  </a:lnSpc>
                </a:pPr>
              </a:p>
            </p:txBody>
          </p:sp>
        </p:grpSp>
        <p:sp>
          <p:nvSpPr>
            <p:cNvPr name="TextBox 20" id="20"/>
            <p:cNvSpPr txBox="true"/>
            <p:nvPr/>
          </p:nvSpPr>
          <p:spPr>
            <a:xfrm rot="0">
              <a:off x="0" y="220066"/>
              <a:ext cx="7557666" cy="492537"/>
            </a:xfrm>
            <a:prstGeom prst="rect">
              <a:avLst/>
            </a:prstGeom>
          </p:spPr>
          <p:txBody>
            <a:bodyPr anchor="t" rtlCol="false" tIns="0" lIns="0" bIns="0" rIns="0">
              <a:spAutoFit/>
            </a:bodyPr>
            <a:lstStyle/>
            <a:p>
              <a:pPr algn="ctr">
                <a:lnSpc>
                  <a:spcPts val="3010"/>
                </a:lnSpc>
                <a:spcBef>
                  <a:spcPct val="0"/>
                </a:spcBef>
              </a:pPr>
              <a:r>
                <a:rPr lang="en-US" b="true" sz="2150">
                  <a:solidFill>
                    <a:srgbClr val="FFFFFF"/>
                  </a:solidFill>
                  <a:latin typeface="Poppins Bold"/>
                  <a:ea typeface="Poppins Bold"/>
                  <a:cs typeface="Poppins Bold"/>
                  <a:sym typeface="Poppins Bold"/>
                </a:rPr>
                <a:t>Basic market predictions</a:t>
              </a:r>
            </a:p>
          </p:txBody>
        </p:sp>
      </p:grpSp>
      <p:grpSp>
        <p:nvGrpSpPr>
          <p:cNvPr name="Group 21" id="21"/>
          <p:cNvGrpSpPr/>
          <p:nvPr/>
        </p:nvGrpSpPr>
        <p:grpSpPr>
          <a:xfrm rot="0">
            <a:off x="1743154" y="6070045"/>
            <a:ext cx="5668249" cy="749508"/>
            <a:chOff x="0" y="0"/>
            <a:chExt cx="7557666" cy="999344"/>
          </a:xfrm>
        </p:grpSpPr>
        <p:grpSp>
          <p:nvGrpSpPr>
            <p:cNvPr name="Group 22" id="22"/>
            <p:cNvGrpSpPr/>
            <p:nvPr/>
          </p:nvGrpSpPr>
          <p:grpSpPr>
            <a:xfrm rot="0">
              <a:off x="0" y="0"/>
              <a:ext cx="7557666" cy="999344"/>
              <a:chOff x="0" y="0"/>
              <a:chExt cx="1596784" cy="211166"/>
            </a:xfrm>
          </p:grpSpPr>
          <p:sp>
            <p:nvSpPr>
              <p:cNvPr name="Freeform 23" id="23"/>
              <p:cNvSpPr/>
              <p:nvPr/>
            </p:nvSpPr>
            <p:spPr>
              <a:xfrm flipH="false" flipV="false" rot="0">
                <a:off x="0" y="0"/>
                <a:ext cx="1596784" cy="211166"/>
              </a:xfrm>
              <a:custGeom>
                <a:avLst/>
                <a:gdLst/>
                <a:ahLst/>
                <a:cxnLst/>
                <a:rect r="r" b="b" t="t" l="l"/>
                <a:pathLst>
                  <a:path h="211166" w="1596784">
                    <a:moveTo>
                      <a:pt x="1596784" y="30048"/>
                    </a:moveTo>
                    <a:lnTo>
                      <a:pt x="1596784" y="181118"/>
                    </a:lnTo>
                    <a:cubicBezTo>
                      <a:pt x="1596784" y="189087"/>
                      <a:pt x="1593619" y="196730"/>
                      <a:pt x="1587983" y="202365"/>
                    </a:cubicBezTo>
                    <a:cubicBezTo>
                      <a:pt x="1582348" y="208001"/>
                      <a:pt x="1574705" y="211166"/>
                      <a:pt x="1566736" y="211166"/>
                    </a:cubicBezTo>
                    <a:lnTo>
                      <a:pt x="30048" y="211166"/>
                    </a:lnTo>
                    <a:cubicBezTo>
                      <a:pt x="13453" y="211166"/>
                      <a:pt x="0" y="197713"/>
                      <a:pt x="0" y="181118"/>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24" id="24"/>
              <p:cNvSpPr txBox="true"/>
              <p:nvPr/>
            </p:nvSpPr>
            <p:spPr>
              <a:xfrm>
                <a:off x="0" y="-57150"/>
                <a:ext cx="1596784" cy="268316"/>
              </a:xfrm>
              <a:prstGeom prst="rect">
                <a:avLst/>
              </a:prstGeom>
            </p:spPr>
            <p:txBody>
              <a:bodyPr anchor="ctr" rtlCol="false" tIns="50800" lIns="50800" bIns="50800" rIns="50800"/>
              <a:lstStyle/>
              <a:p>
                <a:pPr algn="ctr">
                  <a:lnSpc>
                    <a:spcPts val="2379"/>
                  </a:lnSpc>
                </a:pPr>
              </a:p>
            </p:txBody>
          </p:sp>
        </p:grpSp>
        <p:sp>
          <p:nvSpPr>
            <p:cNvPr name="TextBox 25" id="25"/>
            <p:cNvSpPr txBox="true"/>
            <p:nvPr/>
          </p:nvSpPr>
          <p:spPr>
            <a:xfrm rot="0">
              <a:off x="0" y="220066"/>
              <a:ext cx="7557666" cy="492537"/>
            </a:xfrm>
            <a:prstGeom prst="rect">
              <a:avLst/>
            </a:prstGeom>
          </p:spPr>
          <p:txBody>
            <a:bodyPr anchor="t" rtlCol="false" tIns="0" lIns="0" bIns="0" rIns="0">
              <a:spAutoFit/>
            </a:bodyPr>
            <a:lstStyle/>
            <a:p>
              <a:pPr algn="ctr">
                <a:lnSpc>
                  <a:spcPts val="3010"/>
                </a:lnSpc>
                <a:spcBef>
                  <a:spcPct val="0"/>
                </a:spcBef>
              </a:pPr>
              <a:r>
                <a:rPr lang="en-US" b="true" sz="2150">
                  <a:solidFill>
                    <a:srgbClr val="FFFFFF"/>
                  </a:solidFill>
                  <a:latin typeface="Poppins Bold"/>
                  <a:ea typeface="Poppins Bold"/>
                  <a:cs typeface="Poppins Bold"/>
                  <a:sym typeface="Poppins Bold"/>
                </a:rPr>
                <a:t>Gene</a:t>
              </a:r>
              <a:r>
                <a:rPr lang="en-US" b="true" sz="2150">
                  <a:solidFill>
                    <a:srgbClr val="FFFFFF"/>
                  </a:solidFill>
                  <a:latin typeface="Poppins Bold"/>
                  <a:ea typeface="Poppins Bold"/>
                  <a:cs typeface="Poppins Bold"/>
                  <a:sym typeface="Poppins Bold"/>
                </a:rPr>
                <a:t>ral news sentiment</a:t>
              </a:r>
            </a:p>
          </p:txBody>
        </p:sp>
      </p:grpSp>
      <p:grpSp>
        <p:nvGrpSpPr>
          <p:cNvPr name="Group 26" id="26"/>
          <p:cNvGrpSpPr/>
          <p:nvPr/>
        </p:nvGrpSpPr>
        <p:grpSpPr>
          <a:xfrm rot="0">
            <a:off x="1724104" y="7076728"/>
            <a:ext cx="5668249" cy="749508"/>
            <a:chOff x="0" y="0"/>
            <a:chExt cx="7557666" cy="999344"/>
          </a:xfrm>
        </p:grpSpPr>
        <p:grpSp>
          <p:nvGrpSpPr>
            <p:cNvPr name="Group 27" id="27"/>
            <p:cNvGrpSpPr/>
            <p:nvPr/>
          </p:nvGrpSpPr>
          <p:grpSpPr>
            <a:xfrm rot="0">
              <a:off x="0" y="0"/>
              <a:ext cx="7557666" cy="999344"/>
              <a:chOff x="0" y="0"/>
              <a:chExt cx="1596784" cy="211166"/>
            </a:xfrm>
          </p:grpSpPr>
          <p:sp>
            <p:nvSpPr>
              <p:cNvPr name="Freeform 28" id="28"/>
              <p:cNvSpPr/>
              <p:nvPr/>
            </p:nvSpPr>
            <p:spPr>
              <a:xfrm flipH="false" flipV="false" rot="0">
                <a:off x="0" y="0"/>
                <a:ext cx="1596784" cy="211166"/>
              </a:xfrm>
              <a:custGeom>
                <a:avLst/>
                <a:gdLst/>
                <a:ahLst/>
                <a:cxnLst/>
                <a:rect r="r" b="b" t="t" l="l"/>
                <a:pathLst>
                  <a:path h="211166" w="1596784">
                    <a:moveTo>
                      <a:pt x="1596784" y="30048"/>
                    </a:moveTo>
                    <a:lnTo>
                      <a:pt x="1596784" y="181118"/>
                    </a:lnTo>
                    <a:cubicBezTo>
                      <a:pt x="1596784" y="189087"/>
                      <a:pt x="1593619" y="196730"/>
                      <a:pt x="1587983" y="202365"/>
                    </a:cubicBezTo>
                    <a:cubicBezTo>
                      <a:pt x="1582348" y="208001"/>
                      <a:pt x="1574705" y="211166"/>
                      <a:pt x="1566736" y="211166"/>
                    </a:cubicBezTo>
                    <a:lnTo>
                      <a:pt x="30048" y="211166"/>
                    </a:lnTo>
                    <a:cubicBezTo>
                      <a:pt x="13453" y="211166"/>
                      <a:pt x="0" y="197713"/>
                      <a:pt x="0" y="181118"/>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29" id="29"/>
              <p:cNvSpPr txBox="true"/>
              <p:nvPr/>
            </p:nvSpPr>
            <p:spPr>
              <a:xfrm>
                <a:off x="0" y="-57150"/>
                <a:ext cx="1596784" cy="268316"/>
              </a:xfrm>
              <a:prstGeom prst="rect">
                <a:avLst/>
              </a:prstGeom>
            </p:spPr>
            <p:txBody>
              <a:bodyPr anchor="ctr" rtlCol="false" tIns="50800" lIns="50800" bIns="50800" rIns="50800"/>
              <a:lstStyle/>
              <a:p>
                <a:pPr algn="ctr">
                  <a:lnSpc>
                    <a:spcPts val="2379"/>
                  </a:lnSpc>
                </a:pPr>
              </a:p>
            </p:txBody>
          </p:sp>
        </p:grpSp>
        <p:sp>
          <p:nvSpPr>
            <p:cNvPr name="TextBox 30" id="30"/>
            <p:cNvSpPr txBox="true"/>
            <p:nvPr/>
          </p:nvSpPr>
          <p:spPr>
            <a:xfrm rot="0">
              <a:off x="0" y="220066"/>
              <a:ext cx="7557666" cy="492537"/>
            </a:xfrm>
            <a:prstGeom prst="rect">
              <a:avLst/>
            </a:prstGeom>
          </p:spPr>
          <p:txBody>
            <a:bodyPr anchor="t" rtlCol="false" tIns="0" lIns="0" bIns="0" rIns="0">
              <a:spAutoFit/>
            </a:bodyPr>
            <a:lstStyle/>
            <a:p>
              <a:pPr algn="ctr">
                <a:lnSpc>
                  <a:spcPts val="3010"/>
                </a:lnSpc>
                <a:spcBef>
                  <a:spcPct val="0"/>
                </a:spcBef>
              </a:pPr>
              <a:r>
                <a:rPr lang="en-US" b="true" sz="2150">
                  <a:solidFill>
                    <a:srgbClr val="FFFFFF"/>
                  </a:solidFill>
                  <a:latin typeface="Poppins Bold"/>
                  <a:ea typeface="Poppins Bold"/>
                  <a:cs typeface="Poppins Bold"/>
                  <a:sym typeface="Poppins Bold"/>
                </a:rPr>
                <a:t>Basic dashboard concept</a:t>
              </a:r>
            </a:p>
          </p:txBody>
        </p:sp>
      </p:grpSp>
      <p:grpSp>
        <p:nvGrpSpPr>
          <p:cNvPr name="Group 31" id="31"/>
          <p:cNvGrpSpPr/>
          <p:nvPr/>
        </p:nvGrpSpPr>
        <p:grpSpPr>
          <a:xfrm rot="0">
            <a:off x="1724104" y="8083411"/>
            <a:ext cx="5668249" cy="749508"/>
            <a:chOff x="0" y="0"/>
            <a:chExt cx="7557666" cy="999344"/>
          </a:xfrm>
        </p:grpSpPr>
        <p:grpSp>
          <p:nvGrpSpPr>
            <p:cNvPr name="Group 32" id="32"/>
            <p:cNvGrpSpPr/>
            <p:nvPr/>
          </p:nvGrpSpPr>
          <p:grpSpPr>
            <a:xfrm rot="0">
              <a:off x="0" y="0"/>
              <a:ext cx="7557666" cy="999344"/>
              <a:chOff x="0" y="0"/>
              <a:chExt cx="1596784" cy="211166"/>
            </a:xfrm>
          </p:grpSpPr>
          <p:sp>
            <p:nvSpPr>
              <p:cNvPr name="Freeform 33" id="33"/>
              <p:cNvSpPr/>
              <p:nvPr/>
            </p:nvSpPr>
            <p:spPr>
              <a:xfrm flipH="false" flipV="false" rot="0">
                <a:off x="0" y="0"/>
                <a:ext cx="1596784" cy="211166"/>
              </a:xfrm>
              <a:custGeom>
                <a:avLst/>
                <a:gdLst/>
                <a:ahLst/>
                <a:cxnLst/>
                <a:rect r="r" b="b" t="t" l="l"/>
                <a:pathLst>
                  <a:path h="211166" w="1596784">
                    <a:moveTo>
                      <a:pt x="1596784" y="30048"/>
                    </a:moveTo>
                    <a:lnTo>
                      <a:pt x="1596784" y="181118"/>
                    </a:lnTo>
                    <a:cubicBezTo>
                      <a:pt x="1596784" y="189087"/>
                      <a:pt x="1593619" y="196730"/>
                      <a:pt x="1587983" y="202365"/>
                    </a:cubicBezTo>
                    <a:cubicBezTo>
                      <a:pt x="1582348" y="208001"/>
                      <a:pt x="1574705" y="211166"/>
                      <a:pt x="1566736" y="211166"/>
                    </a:cubicBezTo>
                    <a:lnTo>
                      <a:pt x="30048" y="211166"/>
                    </a:lnTo>
                    <a:cubicBezTo>
                      <a:pt x="13453" y="211166"/>
                      <a:pt x="0" y="197713"/>
                      <a:pt x="0" y="181118"/>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34" id="34"/>
              <p:cNvSpPr txBox="true"/>
              <p:nvPr/>
            </p:nvSpPr>
            <p:spPr>
              <a:xfrm>
                <a:off x="0" y="-57150"/>
                <a:ext cx="1596784" cy="268316"/>
              </a:xfrm>
              <a:prstGeom prst="rect">
                <a:avLst/>
              </a:prstGeom>
            </p:spPr>
            <p:txBody>
              <a:bodyPr anchor="ctr" rtlCol="false" tIns="50800" lIns="50800" bIns="50800" rIns="50800"/>
              <a:lstStyle/>
              <a:p>
                <a:pPr algn="ctr">
                  <a:lnSpc>
                    <a:spcPts val="2379"/>
                  </a:lnSpc>
                </a:pPr>
              </a:p>
            </p:txBody>
          </p:sp>
        </p:grpSp>
        <p:sp>
          <p:nvSpPr>
            <p:cNvPr name="TextBox 35" id="35"/>
            <p:cNvSpPr txBox="true"/>
            <p:nvPr/>
          </p:nvSpPr>
          <p:spPr>
            <a:xfrm rot="0">
              <a:off x="0" y="220066"/>
              <a:ext cx="7557666" cy="492537"/>
            </a:xfrm>
            <a:prstGeom prst="rect">
              <a:avLst/>
            </a:prstGeom>
          </p:spPr>
          <p:txBody>
            <a:bodyPr anchor="t" rtlCol="false" tIns="0" lIns="0" bIns="0" rIns="0">
              <a:spAutoFit/>
            </a:bodyPr>
            <a:lstStyle/>
            <a:p>
              <a:pPr algn="ctr">
                <a:lnSpc>
                  <a:spcPts val="3010"/>
                </a:lnSpc>
                <a:spcBef>
                  <a:spcPct val="0"/>
                </a:spcBef>
              </a:pPr>
              <a:r>
                <a:rPr lang="en-US" b="true" sz="2150">
                  <a:solidFill>
                    <a:srgbClr val="FFFFFF"/>
                  </a:solidFill>
                  <a:latin typeface="Poppins Bold"/>
                  <a:ea typeface="Poppins Bold"/>
                  <a:cs typeface="Poppins Bold"/>
                  <a:sym typeface="Poppins Bold"/>
                </a:rPr>
                <a:t>L</a:t>
              </a:r>
              <a:r>
                <a:rPr lang="en-US" b="true" sz="2150">
                  <a:solidFill>
                    <a:srgbClr val="FFFFFF"/>
                  </a:solidFill>
                  <a:latin typeface="Poppins Bold"/>
                  <a:ea typeface="Poppins Bold"/>
                  <a:cs typeface="Poppins Bold"/>
                  <a:sym typeface="Poppins Bold"/>
                </a:rPr>
                <a:t>imited validation direction</a:t>
              </a:r>
            </a:p>
          </p:txBody>
        </p:sp>
      </p:grpSp>
      <p:grpSp>
        <p:nvGrpSpPr>
          <p:cNvPr name="Group 36" id="36"/>
          <p:cNvGrpSpPr/>
          <p:nvPr/>
        </p:nvGrpSpPr>
        <p:grpSpPr>
          <a:xfrm rot="0">
            <a:off x="1743154" y="9090837"/>
            <a:ext cx="5668249" cy="749508"/>
            <a:chOff x="0" y="0"/>
            <a:chExt cx="7557666" cy="999344"/>
          </a:xfrm>
        </p:grpSpPr>
        <p:grpSp>
          <p:nvGrpSpPr>
            <p:cNvPr name="Group 37" id="37"/>
            <p:cNvGrpSpPr/>
            <p:nvPr/>
          </p:nvGrpSpPr>
          <p:grpSpPr>
            <a:xfrm rot="0">
              <a:off x="0" y="0"/>
              <a:ext cx="7557666" cy="999344"/>
              <a:chOff x="0" y="0"/>
              <a:chExt cx="1596784" cy="211166"/>
            </a:xfrm>
          </p:grpSpPr>
          <p:sp>
            <p:nvSpPr>
              <p:cNvPr name="Freeform 38" id="38"/>
              <p:cNvSpPr/>
              <p:nvPr/>
            </p:nvSpPr>
            <p:spPr>
              <a:xfrm flipH="false" flipV="false" rot="0">
                <a:off x="0" y="0"/>
                <a:ext cx="1596784" cy="211166"/>
              </a:xfrm>
              <a:custGeom>
                <a:avLst/>
                <a:gdLst/>
                <a:ahLst/>
                <a:cxnLst/>
                <a:rect r="r" b="b" t="t" l="l"/>
                <a:pathLst>
                  <a:path h="211166" w="1596784">
                    <a:moveTo>
                      <a:pt x="1596784" y="30048"/>
                    </a:moveTo>
                    <a:lnTo>
                      <a:pt x="1596784" y="181118"/>
                    </a:lnTo>
                    <a:cubicBezTo>
                      <a:pt x="1596784" y="189087"/>
                      <a:pt x="1593619" y="196730"/>
                      <a:pt x="1587983" y="202365"/>
                    </a:cubicBezTo>
                    <a:cubicBezTo>
                      <a:pt x="1582348" y="208001"/>
                      <a:pt x="1574705" y="211166"/>
                      <a:pt x="1566736" y="211166"/>
                    </a:cubicBezTo>
                    <a:lnTo>
                      <a:pt x="30048" y="211166"/>
                    </a:lnTo>
                    <a:cubicBezTo>
                      <a:pt x="13453" y="211166"/>
                      <a:pt x="0" y="197713"/>
                      <a:pt x="0" y="181118"/>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39" id="39"/>
              <p:cNvSpPr txBox="true"/>
              <p:nvPr/>
            </p:nvSpPr>
            <p:spPr>
              <a:xfrm>
                <a:off x="0" y="-57150"/>
                <a:ext cx="1596784" cy="268316"/>
              </a:xfrm>
              <a:prstGeom prst="rect">
                <a:avLst/>
              </a:prstGeom>
            </p:spPr>
            <p:txBody>
              <a:bodyPr anchor="ctr" rtlCol="false" tIns="50800" lIns="50800" bIns="50800" rIns="50800"/>
              <a:lstStyle/>
              <a:p>
                <a:pPr algn="ctr">
                  <a:lnSpc>
                    <a:spcPts val="2379"/>
                  </a:lnSpc>
                </a:pPr>
              </a:p>
            </p:txBody>
          </p:sp>
        </p:grpSp>
        <p:sp>
          <p:nvSpPr>
            <p:cNvPr name="TextBox 40" id="40"/>
            <p:cNvSpPr txBox="true"/>
            <p:nvPr/>
          </p:nvSpPr>
          <p:spPr>
            <a:xfrm rot="0">
              <a:off x="0" y="220066"/>
              <a:ext cx="7557666" cy="492537"/>
            </a:xfrm>
            <a:prstGeom prst="rect">
              <a:avLst/>
            </a:prstGeom>
          </p:spPr>
          <p:txBody>
            <a:bodyPr anchor="t" rtlCol="false" tIns="0" lIns="0" bIns="0" rIns="0">
              <a:spAutoFit/>
            </a:bodyPr>
            <a:lstStyle/>
            <a:p>
              <a:pPr algn="ctr">
                <a:lnSpc>
                  <a:spcPts val="3010"/>
                </a:lnSpc>
                <a:spcBef>
                  <a:spcPct val="0"/>
                </a:spcBef>
              </a:pPr>
              <a:r>
                <a:rPr lang="en-US" b="true" sz="2150">
                  <a:solidFill>
                    <a:srgbClr val="FFFFFF"/>
                  </a:solidFill>
                  <a:latin typeface="Poppins Bold"/>
                  <a:ea typeface="Poppins Bold"/>
                  <a:cs typeface="Poppins Bold"/>
                  <a:sym typeface="Poppins Bold"/>
                </a:rPr>
                <a:t>D</a:t>
              </a:r>
              <a:r>
                <a:rPr lang="en-US" b="true" sz="2150">
                  <a:solidFill>
                    <a:srgbClr val="FFFFFF"/>
                  </a:solidFill>
                  <a:latin typeface="Poppins Bold"/>
                  <a:ea typeface="Poppins Bold"/>
                  <a:cs typeface="Poppins Bold"/>
                  <a:sym typeface="Poppins Bold"/>
                </a:rPr>
                <a:t>irect document summarization</a:t>
              </a:r>
            </a:p>
          </p:txBody>
        </p:sp>
      </p:grpSp>
      <p:grpSp>
        <p:nvGrpSpPr>
          <p:cNvPr name="Group 41" id="41"/>
          <p:cNvGrpSpPr/>
          <p:nvPr/>
        </p:nvGrpSpPr>
        <p:grpSpPr>
          <a:xfrm rot="0">
            <a:off x="1724104" y="2268875"/>
            <a:ext cx="5668249" cy="749508"/>
            <a:chOff x="0" y="0"/>
            <a:chExt cx="7557666" cy="999344"/>
          </a:xfrm>
        </p:grpSpPr>
        <p:grpSp>
          <p:nvGrpSpPr>
            <p:cNvPr name="Group 42" id="42"/>
            <p:cNvGrpSpPr/>
            <p:nvPr/>
          </p:nvGrpSpPr>
          <p:grpSpPr>
            <a:xfrm rot="0">
              <a:off x="0" y="0"/>
              <a:ext cx="7557666" cy="999344"/>
              <a:chOff x="0" y="0"/>
              <a:chExt cx="1596784" cy="211166"/>
            </a:xfrm>
          </p:grpSpPr>
          <p:sp>
            <p:nvSpPr>
              <p:cNvPr name="Freeform 43" id="43"/>
              <p:cNvSpPr/>
              <p:nvPr/>
            </p:nvSpPr>
            <p:spPr>
              <a:xfrm flipH="false" flipV="false" rot="0">
                <a:off x="0" y="0"/>
                <a:ext cx="1596784" cy="211166"/>
              </a:xfrm>
              <a:custGeom>
                <a:avLst/>
                <a:gdLst/>
                <a:ahLst/>
                <a:cxnLst/>
                <a:rect r="r" b="b" t="t" l="l"/>
                <a:pathLst>
                  <a:path h="211166" w="1596784">
                    <a:moveTo>
                      <a:pt x="1596784" y="30048"/>
                    </a:moveTo>
                    <a:lnTo>
                      <a:pt x="1596784" y="181118"/>
                    </a:lnTo>
                    <a:cubicBezTo>
                      <a:pt x="1596784" y="189087"/>
                      <a:pt x="1593619" y="196730"/>
                      <a:pt x="1587983" y="202365"/>
                    </a:cubicBezTo>
                    <a:cubicBezTo>
                      <a:pt x="1582348" y="208001"/>
                      <a:pt x="1574705" y="211166"/>
                      <a:pt x="1566736" y="211166"/>
                    </a:cubicBezTo>
                    <a:lnTo>
                      <a:pt x="30048" y="211166"/>
                    </a:lnTo>
                    <a:cubicBezTo>
                      <a:pt x="13453" y="211166"/>
                      <a:pt x="0" y="197713"/>
                      <a:pt x="0" y="181118"/>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44" id="44"/>
              <p:cNvSpPr txBox="true"/>
              <p:nvPr/>
            </p:nvSpPr>
            <p:spPr>
              <a:xfrm>
                <a:off x="0" y="-57150"/>
                <a:ext cx="1596784" cy="268316"/>
              </a:xfrm>
              <a:prstGeom prst="rect">
                <a:avLst/>
              </a:prstGeom>
            </p:spPr>
            <p:txBody>
              <a:bodyPr anchor="ctr" rtlCol="false" tIns="50800" lIns="50800" bIns="50800" rIns="50800"/>
              <a:lstStyle/>
              <a:p>
                <a:pPr algn="ctr">
                  <a:lnSpc>
                    <a:spcPts val="2379"/>
                  </a:lnSpc>
                </a:pPr>
              </a:p>
            </p:txBody>
          </p:sp>
        </p:grpSp>
        <p:sp>
          <p:nvSpPr>
            <p:cNvPr name="TextBox 45" id="45"/>
            <p:cNvSpPr txBox="true"/>
            <p:nvPr/>
          </p:nvSpPr>
          <p:spPr>
            <a:xfrm rot="0">
              <a:off x="0" y="220066"/>
              <a:ext cx="7557666" cy="492537"/>
            </a:xfrm>
            <a:prstGeom prst="rect">
              <a:avLst/>
            </a:prstGeom>
          </p:spPr>
          <p:txBody>
            <a:bodyPr anchor="t" rtlCol="false" tIns="0" lIns="0" bIns="0" rIns="0">
              <a:spAutoFit/>
            </a:bodyPr>
            <a:lstStyle/>
            <a:p>
              <a:pPr algn="ctr">
                <a:lnSpc>
                  <a:spcPts val="3010"/>
                </a:lnSpc>
                <a:spcBef>
                  <a:spcPct val="0"/>
                </a:spcBef>
              </a:pPr>
              <a:r>
                <a:rPr lang="en-US" b="true" sz="2150">
                  <a:solidFill>
                    <a:srgbClr val="FFFFFF"/>
                  </a:solidFill>
                  <a:latin typeface="Poppins Bold"/>
                  <a:ea typeface="Poppins Bold"/>
                  <a:cs typeface="Poppins Bold"/>
                  <a:sym typeface="Poppins Bold"/>
                </a:rPr>
                <a:t>Component</a:t>
              </a:r>
              <a:r>
                <a:rPr lang="en-US" b="true" sz="2150">
                  <a:solidFill>
                    <a:srgbClr val="FFFFFF"/>
                  </a:solidFill>
                  <a:latin typeface="Poppins Bold"/>
                  <a:ea typeface="Poppins Bold"/>
                  <a:cs typeface="Poppins Bold"/>
                  <a:sym typeface="Poppins Bold"/>
                </a:rPr>
                <a:t>s presented separately</a:t>
              </a:r>
            </a:p>
          </p:txBody>
        </p:sp>
      </p:grpSp>
      <p:grpSp>
        <p:nvGrpSpPr>
          <p:cNvPr name="Group 46" id="46"/>
          <p:cNvGrpSpPr/>
          <p:nvPr/>
        </p:nvGrpSpPr>
        <p:grpSpPr>
          <a:xfrm rot="0">
            <a:off x="1705054" y="1319342"/>
            <a:ext cx="5668249" cy="749508"/>
            <a:chOff x="0" y="0"/>
            <a:chExt cx="7557666" cy="999344"/>
          </a:xfrm>
        </p:grpSpPr>
        <p:grpSp>
          <p:nvGrpSpPr>
            <p:cNvPr name="Group 47" id="47"/>
            <p:cNvGrpSpPr/>
            <p:nvPr/>
          </p:nvGrpSpPr>
          <p:grpSpPr>
            <a:xfrm rot="0">
              <a:off x="0" y="0"/>
              <a:ext cx="7557666" cy="999344"/>
              <a:chOff x="0" y="0"/>
              <a:chExt cx="1596784" cy="211166"/>
            </a:xfrm>
          </p:grpSpPr>
          <p:sp>
            <p:nvSpPr>
              <p:cNvPr name="Freeform 48" id="48"/>
              <p:cNvSpPr/>
              <p:nvPr/>
            </p:nvSpPr>
            <p:spPr>
              <a:xfrm flipH="false" flipV="false" rot="0">
                <a:off x="0" y="0"/>
                <a:ext cx="1596784" cy="211166"/>
              </a:xfrm>
              <a:custGeom>
                <a:avLst/>
                <a:gdLst/>
                <a:ahLst/>
                <a:cxnLst/>
                <a:rect r="r" b="b" t="t" l="l"/>
                <a:pathLst>
                  <a:path h="211166" w="1596784">
                    <a:moveTo>
                      <a:pt x="1596784" y="30048"/>
                    </a:moveTo>
                    <a:lnTo>
                      <a:pt x="1596784" y="181118"/>
                    </a:lnTo>
                    <a:cubicBezTo>
                      <a:pt x="1596784" y="189087"/>
                      <a:pt x="1593619" y="196730"/>
                      <a:pt x="1587983" y="202365"/>
                    </a:cubicBezTo>
                    <a:cubicBezTo>
                      <a:pt x="1582348" y="208001"/>
                      <a:pt x="1574705" y="211166"/>
                      <a:pt x="1566736" y="211166"/>
                    </a:cubicBezTo>
                    <a:lnTo>
                      <a:pt x="30048" y="211166"/>
                    </a:lnTo>
                    <a:cubicBezTo>
                      <a:pt x="13453" y="211166"/>
                      <a:pt x="0" y="197713"/>
                      <a:pt x="0" y="181118"/>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49" id="49"/>
              <p:cNvSpPr txBox="true"/>
              <p:nvPr/>
            </p:nvSpPr>
            <p:spPr>
              <a:xfrm>
                <a:off x="0" y="-57150"/>
                <a:ext cx="1596784" cy="268316"/>
              </a:xfrm>
              <a:prstGeom prst="rect">
                <a:avLst/>
              </a:prstGeom>
            </p:spPr>
            <p:txBody>
              <a:bodyPr anchor="ctr" rtlCol="false" tIns="50800" lIns="50800" bIns="50800" rIns="50800"/>
              <a:lstStyle/>
              <a:p>
                <a:pPr algn="ctr">
                  <a:lnSpc>
                    <a:spcPts val="2379"/>
                  </a:lnSpc>
                </a:pPr>
              </a:p>
            </p:txBody>
          </p:sp>
        </p:grpSp>
        <p:sp>
          <p:nvSpPr>
            <p:cNvPr name="TextBox 50" id="50"/>
            <p:cNvSpPr txBox="true"/>
            <p:nvPr/>
          </p:nvSpPr>
          <p:spPr>
            <a:xfrm rot="0">
              <a:off x="0" y="220066"/>
              <a:ext cx="7557666" cy="492537"/>
            </a:xfrm>
            <a:prstGeom prst="rect">
              <a:avLst/>
            </a:prstGeom>
          </p:spPr>
          <p:txBody>
            <a:bodyPr anchor="t" rtlCol="false" tIns="0" lIns="0" bIns="0" rIns="0">
              <a:spAutoFit/>
            </a:bodyPr>
            <a:lstStyle/>
            <a:p>
              <a:pPr algn="ctr">
                <a:lnSpc>
                  <a:spcPts val="3010"/>
                </a:lnSpc>
                <a:spcBef>
                  <a:spcPct val="0"/>
                </a:spcBef>
              </a:pPr>
              <a:r>
                <a:rPr lang="en-US" b="true" sz="2150">
                  <a:solidFill>
                    <a:srgbClr val="FFFFFF"/>
                  </a:solidFill>
                  <a:latin typeface="Poppins Bold"/>
                  <a:ea typeface="Poppins Bold"/>
                  <a:cs typeface="Poppins Bold"/>
                  <a:sym typeface="Poppins Bold"/>
                </a:rPr>
                <a:t>Basic system concept</a:t>
              </a:r>
            </a:p>
          </p:txBody>
        </p:sp>
      </p:grpSp>
      <p:grpSp>
        <p:nvGrpSpPr>
          <p:cNvPr name="Group 51" id="51"/>
          <p:cNvGrpSpPr/>
          <p:nvPr/>
        </p:nvGrpSpPr>
        <p:grpSpPr>
          <a:xfrm rot="0">
            <a:off x="11169418" y="3218408"/>
            <a:ext cx="5668249" cy="749508"/>
            <a:chOff x="0" y="0"/>
            <a:chExt cx="7557666" cy="999344"/>
          </a:xfrm>
        </p:grpSpPr>
        <p:grpSp>
          <p:nvGrpSpPr>
            <p:cNvPr name="Group 52" id="52"/>
            <p:cNvGrpSpPr/>
            <p:nvPr/>
          </p:nvGrpSpPr>
          <p:grpSpPr>
            <a:xfrm rot="0">
              <a:off x="0" y="0"/>
              <a:ext cx="7557666" cy="999344"/>
              <a:chOff x="0" y="0"/>
              <a:chExt cx="1596784" cy="211166"/>
            </a:xfrm>
          </p:grpSpPr>
          <p:sp>
            <p:nvSpPr>
              <p:cNvPr name="Freeform 53" id="53"/>
              <p:cNvSpPr/>
              <p:nvPr/>
            </p:nvSpPr>
            <p:spPr>
              <a:xfrm flipH="false" flipV="false" rot="0">
                <a:off x="0" y="0"/>
                <a:ext cx="1596784" cy="211166"/>
              </a:xfrm>
              <a:custGeom>
                <a:avLst/>
                <a:gdLst/>
                <a:ahLst/>
                <a:cxnLst/>
                <a:rect r="r" b="b" t="t" l="l"/>
                <a:pathLst>
                  <a:path h="211166" w="1596784">
                    <a:moveTo>
                      <a:pt x="1596784" y="30048"/>
                    </a:moveTo>
                    <a:lnTo>
                      <a:pt x="1596784" y="181118"/>
                    </a:lnTo>
                    <a:cubicBezTo>
                      <a:pt x="1596784" y="189087"/>
                      <a:pt x="1593619" y="196730"/>
                      <a:pt x="1587983" y="202365"/>
                    </a:cubicBezTo>
                    <a:cubicBezTo>
                      <a:pt x="1582348" y="208001"/>
                      <a:pt x="1574705" y="211166"/>
                      <a:pt x="1566736" y="211166"/>
                    </a:cubicBezTo>
                    <a:lnTo>
                      <a:pt x="30048" y="211166"/>
                    </a:lnTo>
                    <a:cubicBezTo>
                      <a:pt x="13453" y="211166"/>
                      <a:pt x="0" y="197713"/>
                      <a:pt x="0" y="181118"/>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54" id="54"/>
              <p:cNvSpPr txBox="true"/>
              <p:nvPr/>
            </p:nvSpPr>
            <p:spPr>
              <a:xfrm>
                <a:off x="0" y="-57150"/>
                <a:ext cx="1596784" cy="268316"/>
              </a:xfrm>
              <a:prstGeom prst="rect">
                <a:avLst/>
              </a:prstGeom>
            </p:spPr>
            <p:txBody>
              <a:bodyPr anchor="ctr" rtlCol="false" tIns="50800" lIns="50800" bIns="50800" rIns="50800"/>
              <a:lstStyle/>
              <a:p>
                <a:pPr algn="ctr">
                  <a:lnSpc>
                    <a:spcPts val="2379"/>
                  </a:lnSpc>
                </a:pPr>
              </a:p>
            </p:txBody>
          </p:sp>
        </p:grpSp>
        <p:sp>
          <p:nvSpPr>
            <p:cNvPr name="TextBox 55" id="55"/>
            <p:cNvSpPr txBox="true"/>
            <p:nvPr/>
          </p:nvSpPr>
          <p:spPr>
            <a:xfrm rot="0">
              <a:off x="0" y="220066"/>
              <a:ext cx="7557666" cy="492537"/>
            </a:xfrm>
            <a:prstGeom prst="rect">
              <a:avLst/>
            </a:prstGeom>
          </p:spPr>
          <p:txBody>
            <a:bodyPr anchor="t" rtlCol="false" tIns="0" lIns="0" bIns="0" rIns="0">
              <a:spAutoFit/>
            </a:bodyPr>
            <a:lstStyle/>
            <a:p>
              <a:pPr algn="ctr">
                <a:lnSpc>
                  <a:spcPts val="3010"/>
                </a:lnSpc>
                <a:spcBef>
                  <a:spcPct val="0"/>
                </a:spcBef>
              </a:pPr>
              <a:r>
                <a:rPr lang="en-US" b="true" sz="2150">
                  <a:solidFill>
                    <a:srgbClr val="FFFFFF"/>
                  </a:solidFill>
                  <a:latin typeface="Poppins Bold"/>
                  <a:ea typeface="Poppins Bold"/>
                  <a:cs typeface="Poppins Bold"/>
                  <a:sym typeface="Poppins Bold"/>
                </a:rPr>
                <a:t>Evidence</a:t>
              </a:r>
              <a:r>
                <a:rPr lang="en-US" b="true" sz="2150">
                  <a:solidFill>
                    <a:srgbClr val="FFFFFF"/>
                  </a:solidFill>
                  <a:latin typeface="Poppins Bold"/>
                  <a:ea typeface="Poppins Bold"/>
                  <a:cs typeface="Poppins Bold"/>
                  <a:sym typeface="Poppins Bold"/>
                </a:rPr>
                <a:t>-controlled OpenAI synthesis</a:t>
              </a:r>
            </a:p>
          </p:txBody>
        </p:sp>
      </p:grpSp>
      <p:grpSp>
        <p:nvGrpSpPr>
          <p:cNvPr name="Group 56" id="56"/>
          <p:cNvGrpSpPr/>
          <p:nvPr/>
        </p:nvGrpSpPr>
        <p:grpSpPr>
          <a:xfrm rot="0">
            <a:off x="11169418" y="4167942"/>
            <a:ext cx="5668249" cy="749508"/>
            <a:chOff x="0" y="0"/>
            <a:chExt cx="7557666" cy="999344"/>
          </a:xfrm>
        </p:grpSpPr>
        <p:grpSp>
          <p:nvGrpSpPr>
            <p:cNvPr name="Group 57" id="57"/>
            <p:cNvGrpSpPr/>
            <p:nvPr/>
          </p:nvGrpSpPr>
          <p:grpSpPr>
            <a:xfrm rot="0">
              <a:off x="0" y="0"/>
              <a:ext cx="7557666" cy="999344"/>
              <a:chOff x="0" y="0"/>
              <a:chExt cx="1596784" cy="211166"/>
            </a:xfrm>
          </p:grpSpPr>
          <p:sp>
            <p:nvSpPr>
              <p:cNvPr name="Freeform 58" id="58"/>
              <p:cNvSpPr/>
              <p:nvPr/>
            </p:nvSpPr>
            <p:spPr>
              <a:xfrm flipH="false" flipV="false" rot="0">
                <a:off x="0" y="0"/>
                <a:ext cx="1596784" cy="211166"/>
              </a:xfrm>
              <a:custGeom>
                <a:avLst/>
                <a:gdLst/>
                <a:ahLst/>
                <a:cxnLst/>
                <a:rect r="r" b="b" t="t" l="l"/>
                <a:pathLst>
                  <a:path h="211166" w="1596784">
                    <a:moveTo>
                      <a:pt x="1596784" y="30048"/>
                    </a:moveTo>
                    <a:lnTo>
                      <a:pt x="1596784" y="181118"/>
                    </a:lnTo>
                    <a:cubicBezTo>
                      <a:pt x="1596784" y="189087"/>
                      <a:pt x="1593619" y="196730"/>
                      <a:pt x="1587983" y="202365"/>
                    </a:cubicBezTo>
                    <a:cubicBezTo>
                      <a:pt x="1582348" y="208001"/>
                      <a:pt x="1574705" y="211166"/>
                      <a:pt x="1566736" y="211166"/>
                    </a:cubicBezTo>
                    <a:lnTo>
                      <a:pt x="30048" y="211166"/>
                    </a:lnTo>
                    <a:cubicBezTo>
                      <a:pt x="13453" y="211166"/>
                      <a:pt x="0" y="197713"/>
                      <a:pt x="0" y="181118"/>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59" id="59"/>
              <p:cNvSpPr txBox="true"/>
              <p:nvPr/>
            </p:nvSpPr>
            <p:spPr>
              <a:xfrm>
                <a:off x="0" y="-57150"/>
                <a:ext cx="1596784" cy="268316"/>
              </a:xfrm>
              <a:prstGeom prst="rect">
                <a:avLst/>
              </a:prstGeom>
            </p:spPr>
            <p:txBody>
              <a:bodyPr anchor="ctr" rtlCol="false" tIns="50800" lIns="50800" bIns="50800" rIns="50800"/>
              <a:lstStyle/>
              <a:p>
                <a:pPr algn="ctr">
                  <a:lnSpc>
                    <a:spcPts val="2379"/>
                  </a:lnSpc>
                </a:pPr>
              </a:p>
            </p:txBody>
          </p:sp>
        </p:grpSp>
        <p:sp>
          <p:nvSpPr>
            <p:cNvPr name="TextBox 60" id="60"/>
            <p:cNvSpPr txBox="true"/>
            <p:nvPr/>
          </p:nvSpPr>
          <p:spPr>
            <a:xfrm rot="0">
              <a:off x="0" y="220066"/>
              <a:ext cx="7557666" cy="492537"/>
            </a:xfrm>
            <a:prstGeom prst="rect">
              <a:avLst/>
            </a:prstGeom>
          </p:spPr>
          <p:txBody>
            <a:bodyPr anchor="t" rtlCol="false" tIns="0" lIns="0" bIns="0" rIns="0">
              <a:spAutoFit/>
            </a:bodyPr>
            <a:lstStyle/>
            <a:p>
              <a:pPr algn="ctr">
                <a:lnSpc>
                  <a:spcPts val="3010"/>
                </a:lnSpc>
                <a:spcBef>
                  <a:spcPct val="0"/>
                </a:spcBef>
              </a:pPr>
              <a:r>
                <a:rPr lang="en-US" b="true" sz="2150">
                  <a:solidFill>
                    <a:srgbClr val="FFFFFF"/>
                  </a:solidFill>
                  <a:latin typeface="Poppins Bold"/>
                  <a:ea typeface="Poppins Bold"/>
                  <a:cs typeface="Poppins Bold"/>
                  <a:sym typeface="Poppins Bold"/>
                </a:rPr>
                <a:t>Defined novel</a:t>
              </a:r>
              <a:r>
                <a:rPr lang="en-US" b="true" sz="2150">
                  <a:solidFill>
                    <a:srgbClr val="FFFFFF"/>
                  </a:solidFill>
                  <a:latin typeface="Poppins Bold"/>
                  <a:ea typeface="Poppins Bold"/>
                  <a:cs typeface="Poppins Bold"/>
                  <a:sym typeface="Poppins Bold"/>
                </a:rPr>
                <a:t>ty for each component</a:t>
              </a:r>
            </a:p>
          </p:txBody>
        </p:sp>
      </p:grpSp>
      <p:grpSp>
        <p:nvGrpSpPr>
          <p:cNvPr name="Group 61" id="61"/>
          <p:cNvGrpSpPr/>
          <p:nvPr/>
        </p:nvGrpSpPr>
        <p:grpSpPr>
          <a:xfrm rot="0">
            <a:off x="11188468" y="5117475"/>
            <a:ext cx="5668249" cy="723474"/>
            <a:chOff x="0" y="0"/>
            <a:chExt cx="7557666" cy="964632"/>
          </a:xfrm>
        </p:grpSpPr>
        <p:grpSp>
          <p:nvGrpSpPr>
            <p:cNvPr name="Group 62" id="62"/>
            <p:cNvGrpSpPr/>
            <p:nvPr/>
          </p:nvGrpSpPr>
          <p:grpSpPr>
            <a:xfrm rot="0">
              <a:off x="0" y="0"/>
              <a:ext cx="7557666" cy="964632"/>
              <a:chOff x="0" y="0"/>
              <a:chExt cx="1596784" cy="203832"/>
            </a:xfrm>
          </p:grpSpPr>
          <p:sp>
            <p:nvSpPr>
              <p:cNvPr name="Freeform 63" id="63"/>
              <p:cNvSpPr/>
              <p:nvPr/>
            </p:nvSpPr>
            <p:spPr>
              <a:xfrm flipH="false" flipV="false" rot="0">
                <a:off x="0" y="0"/>
                <a:ext cx="1596784" cy="203832"/>
              </a:xfrm>
              <a:custGeom>
                <a:avLst/>
                <a:gdLst/>
                <a:ahLst/>
                <a:cxnLst/>
                <a:rect r="r" b="b" t="t" l="l"/>
                <a:pathLst>
                  <a:path h="203832" w="1596784">
                    <a:moveTo>
                      <a:pt x="1596784" y="30048"/>
                    </a:moveTo>
                    <a:lnTo>
                      <a:pt x="1596784" y="173783"/>
                    </a:lnTo>
                    <a:cubicBezTo>
                      <a:pt x="1596784" y="181752"/>
                      <a:pt x="1593619" y="189395"/>
                      <a:pt x="1587983" y="195031"/>
                    </a:cubicBezTo>
                    <a:cubicBezTo>
                      <a:pt x="1582348" y="200666"/>
                      <a:pt x="1574705" y="203832"/>
                      <a:pt x="1566736" y="203832"/>
                    </a:cubicBezTo>
                    <a:lnTo>
                      <a:pt x="30048" y="203832"/>
                    </a:lnTo>
                    <a:cubicBezTo>
                      <a:pt x="22079" y="203832"/>
                      <a:pt x="14436" y="200666"/>
                      <a:pt x="8801" y="195031"/>
                    </a:cubicBezTo>
                    <a:cubicBezTo>
                      <a:pt x="3166" y="189395"/>
                      <a:pt x="0" y="181752"/>
                      <a:pt x="0" y="173783"/>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64" id="64"/>
              <p:cNvSpPr txBox="true"/>
              <p:nvPr/>
            </p:nvSpPr>
            <p:spPr>
              <a:xfrm>
                <a:off x="0" y="-57150"/>
                <a:ext cx="1596784" cy="260982"/>
              </a:xfrm>
              <a:prstGeom prst="rect">
                <a:avLst/>
              </a:prstGeom>
            </p:spPr>
            <p:txBody>
              <a:bodyPr anchor="ctr" rtlCol="false" tIns="50800" lIns="50800" bIns="50800" rIns="50800"/>
              <a:lstStyle/>
              <a:p>
                <a:pPr algn="ctr">
                  <a:lnSpc>
                    <a:spcPts val="2379"/>
                  </a:lnSpc>
                </a:pPr>
              </a:p>
            </p:txBody>
          </p:sp>
        </p:grpSp>
        <p:sp>
          <p:nvSpPr>
            <p:cNvPr name="TextBox 65" id="65"/>
            <p:cNvSpPr txBox="true"/>
            <p:nvPr/>
          </p:nvSpPr>
          <p:spPr>
            <a:xfrm rot="0">
              <a:off x="0" y="229591"/>
              <a:ext cx="7557666" cy="448300"/>
            </a:xfrm>
            <a:prstGeom prst="rect">
              <a:avLst/>
            </a:prstGeom>
          </p:spPr>
          <p:txBody>
            <a:bodyPr anchor="t" rtlCol="false" tIns="0" lIns="0" bIns="0" rIns="0">
              <a:spAutoFit/>
            </a:bodyPr>
            <a:lstStyle/>
            <a:p>
              <a:pPr algn="ctr">
                <a:lnSpc>
                  <a:spcPts val="2730"/>
                </a:lnSpc>
                <a:spcBef>
                  <a:spcPct val="0"/>
                </a:spcBef>
              </a:pPr>
              <a:r>
                <a:rPr lang="en-US" b="true" sz="1950">
                  <a:solidFill>
                    <a:srgbClr val="FFFFFF"/>
                  </a:solidFill>
                  <a:latin typeface="Poppins Bold"/>
                  <a:ea typeface="Poppins Bold"/>
                  <a:cs typeface="Poppins Bold"/>
                  <a:sym typeface="Poppins Bold"/>
                </a:rPr>
                <a:t>Expl</a:t>
              </a:r>
              <a:r>
                <a:rPr lang="en-US" b="true" sz="1950">
                  <a:solidFill>
                    <a:srgbClr val="FFFFFF"/>
                  </a:solidFill>
                  <a:latin typeface="Poppins Bold"/>
                  <a:ea typeface="Poppins Bold"/>
                  <a:cs typeface="Poppins Bold"/>
                  <a:sym typeface="Poppins Bold"/>
                </a:rPr>
                <a:t>ainable and anomaly-aware modelling</a:t>
              </a:r>
            </a:p>
          </p:txBody>
        </p:sp>
      </p:grpSp>
      <p:grpSp>
        <p:nvGrpSpPr>
          <p:cNvPr name="Group 66" id="66"/>
          <p:cNvGrpSpPr/>
          <p:nvPr/>
        </p:nvGrpSpPr>
        <p:grpSpPr>
          <a:xfrm rot="0">
            <a:off x="11188468" y="6070045"/>
            <a:ext cx="5630149" cy="634090"/>
            <a:chOff x="0" y="0"/>
            <a:chExt cx="7506866" cy="845453"/>
          </a:xfrm>
        </p:grpSpPr>
        <p:grpSp>
          <p:nvGrpSpPr>
            <p:cNvPr name="Group 67" id="67"/>
            <p:cNvGrpSpPr/>
            <p:nvPr/>
          </p:nvGrpSpPr>
          <p:grpSpPr>
            <a:xfrm rot="0">
              <a:off x="0" y="0"/>
              <a:ext cx="7506866" cy="845453"/>
              <a:chOff x="0" y="0"/>
              <a:chExt cx="1727036" cy="194528"/>
            </a:xfrm>
          </p:grpSpPr>
          <p:sp>
            <p:nvSpPr>
              <p:cNvPr name="Freeform 68" id="68"/>
              <p:cNvSpPr/>
              <p:nvPr/>
            </p:nvSpPr>
            <p:spPr>
              <a:xfrm flipH="false" flipV="false" rot="0">
                <a:off x="0" y="0"/>
                <a:ext cx="1727036" cy="194528"/>
              </a:xfrm>
              <a:custGeom>
                <a:avLst/>
                <a:gdLst/>
                <a:ahLst/>
                <a:cxnLst/>
                <a:rect r="r" b="b" t="t" l="l"/>
                <a:pathLst>
                  <a:path h="194528" w="1727036">
                    <a:moveTo>
                      <a:pt x="1727036" y="27782"/>
                    </a:moveTo>
                    <a:lnTo>
                      <a:pt x="1727036" y="166746"/>
                    </a:lnTo>
                    <a:cubicBezTo>
                      <a:pt x="1727036" y="174115"/>
                      <a:pt x="1724109" y="181181"/>
                      <a:pt x="1718898" y="186391"/>
                    </a:cubicBezTo>
                    <a:cubicBezTo>
                      <a:pt x="1713688" y="191601"/>
                      <a:pt x="1706622" y="194528"/>
                      <a:pt x="1699253" y="194528"/>
                    </a:cubicBezTo>
                    <a:lnTo>
                      <a:pt x="27782" y="194528"/>
                    </a:lnTo>
                    <a:cubicBezTo>
                      <a:pt x="20414" y="194528"/>
                      <a:pt x="13347" y="191601"/>
                      <a:pt x="8137" y="186391"/>
                    </a:cubicBezTo>
                    <a:cubicBezTo>
                      <a:pt x="2927" y="181181"/>
                      <a:pt x="0" y="174115"/>
                      <a:pt x="0" y="166746"/>
                    </a:cubicBezTo>
                    <a:lnTo>
                      <a:pt x="0" y="27782"/>
                    </a:lnTo>
                    <a:cubicBezTo>
                      <a:pt x="0" y="20414"/>
                      <a:pt x="2927" y="13347"/>
                      <a:pt x="8137" y="8137"/>
                    </a:cubicBezTo>
                    <a:cubicBezTo>
                      <a:pt x="13347" y="2927"/>
                      <a:pt x="20414" y="0"/>
                      <a:pt x="27782" y="0"/>
                    </a:cubicBezTo>
                    <a:lnTo>
                      <a:pt x="1699253" y="0"/>
                    </a:lnTo>
                    <a:cubicBezTo>
                      <a:pt x="1706622" y="0"/>
                      <a:pt x="1713688" y="2927"/>
                      <a:pt x="1718898" y="8137"/>
                    </a:cubicBezTo>
                    <a:cubicBezTo>
                      <a:pt x="1724109" y="13347"/>
                      <a:pt x="1727036" y="20414"/>
                      <a:pt x="1727036" y="27782"/>
                    </a:cubicBezTo>
                    <a:close/>
                  </a:path>
                </a:pathLst>
              </a:custGeom>
              <a:solidFill>
                <a:srgbClr val="134161"/>
              </a:solidFill>
            </p:spPr>
          </p:sp>
          <p:sp>
            <p:nvSpPr>
              <p:cNvPr name="TextBox 69" id="69"/>
              <p:cNvSpPr txBox="true"/>
              <p:nvPr/>
            </p:nvSpPr>
            <p:spPr>
              <a:xfrm>
                <a:off x="0" y="-57150"/>
                <a:ext cx="1727036" cy="251678"/>
              </a:xfrm>
              <a:prstGeom prst="rect">
                <a:avLst/>
              </a:prstGeom>
            </p:spPr>
            <p:txBody>
              <a:bodyPr anchor="ctr" rtlCol="false" tIns="50800" lIns="50800" bIns="50800" rIns="50800"/>
              <a:lstStyle/>
              <a:p>
                <a:pPr algn="ctr">
                  <a:lnSpc>
                    <a:spcPts val="2379"/>
                  </a:lnSpc>
                </a:pPr>
              </a:p>
            </p:txBody>
          </p:sp>
        </p:grpSp>
        <p:sp>
          <p:nvSpPr>
            <p:cNvPr name="TextBox 70" id="70"/>
            <p:cNvSpPr txBox="true"/>
            <p:nvPr/>
          </p:nvSpPr>
          <p:spPr>
            <a:xfrm rot="0">
              <a:off x="0" y="215708"/>
              <a:ext cx="7506866" cy="366412"/>
            </a:xfrm>
            <a:prstGeom prst="rect">
              <a:avLst/>
            </a:prstGeom>
          </p:spPr>
          <p:txBody>
            <a:bodyPr anchor="t" rtlCol="false" tIns="0" lIns="0" bIns="0" rIns="0">
              <a:spAutoFit/>
            </a:bodyPr>
            <a:lstStyle/>
            <a:p>
              <a:pPr algn="ctr">
                <a:lnSpc>
                  <a:spcPts val="2250"/>
                </a:lnSpc>
                <a:spcBef>
                  <a:spcPct val="0"/>
                </a:spcBef>
              </a:pPr>
              <a:r>
                <a:rPr lang="en-US" b="true" sz="1607">
                  <a:solidFill>
                    <a:srgbClr val="FFFFFF"/>
                  </a:solidFill>
                  <a:latin typeface="Poppins Bold"/>
                  <a:ea typeface="Poppins Bold"/>
                  <a:cs typeface="Poppins Bold"/>
                  <a:sym typeface="Poppins Bold"/>
                </a:rPr>
                <a:t>Comp</a:t>
              </a:r>
              <a:r>
                <a:rPr lang="en-US" b="true" sz="1607">
                  <a:solidFill>
                    <a:srgbClr val="FFFFFF"/>
                  </a:solidFill>
                  <a:latin typeface="Poppins Bold"/>
                  <a:ea typeface="Poppins Bold"/>
                  <a:cs typeface="Poppins Bold"/>
                  <a:sym typeface="Poppins Bold"/>
                </a:rPr>
                <a:t>any-specific sentiment and event extraction</a:t>
              </a:r>
            </a:p>
          </p:txBody>
        </p:sp>
      </p:grpSp>
      <p:grpSp>
        <p:nvGrpSpPr>
          <p:cNvPr name="Group 71" id="71"/>
          <p:cNvGrpSpPr/>
          <p:nvPr/>
        </p:nvGrpSpPr>
        <p:grpSpPr>
          <a:xfrm rot="0">
            <a:off x="11169418" y="7076728"/>
            <a:ext cx="5668249" cy="706964"/>
            <a:chOff x="0" y="0"/>
            <a:chExt cx="7557666" cy="942619"/>
          </a:xfrm>
        </p:grpSpPr>
        <p:grpSp>
          <p:nvGrpSpPr>
            <p:cNvPr name="Group 72" id="72"/>
            <p:cNvGrpSpPr/>
            <p:nvPr/>
          </p:nvGrpSpPr>
          <p:grpSpPr>
            <a:xfrm rot="0">
              <a:off x="0" y="0"/>
              <a:ext cx="7557666" cy="942619"/>
              <a:chOff x="0" y="0"/>
              <a:chExt cx="1596784" cy="199180"/>
            </a:xfrm>
          </p:grpSpPr>
          <p:sp>
            <p:nvSpPr>
              <p:cNvPr name="Freeform 73" id="73"/>
              <p:cNvSpPr/>
              <p:nvPr/>
            </p:nvSpPr>
            <p:spPr>
              <a:xfrm flipH="false" flipV="false" rot="0">
                <a:off x="0" y="0"/>
                <a:ext cx="1596784" cy="199180"/>
              </a:xfrm>
              <a:custGeom>
                <a:avLst/>
                <a:gdLst/>
                <a:ahLst/>
                <a:cxnLst/>
                <a:rect r="r" b="b" t="t" l="l"/>
                <a:pathLst>
                  <a:path h="199180" w="1596784">
                    <a:moveTo>
                      <a:pt x="1596784" y="30048"/>
                    </a:moveTo>
                    <a:lnTo>
                      <a:pt x="1596784" y="169132"/>
                    </a:lnTo>
                    <a:cubicBezTo>
                      <a:pt x="1596784" y="177101"/>
                      <a:pt x="1593619" y="184744"/>
                      <a:pt x="1587983" y="190379"/>
                    </a:cubicBezTo>
                    <a:cubicBezTo>
                      <a:pt x="1582348" y="196014"/>
                      <a:pt x="1574705" y="199180"/>
                      <a:pt x="1566736" y="199180"/>
                    </a:cubicBezTo>
                    <a:lnTo>
                      <a:pt x="30048" y="199180"/>
                    </a:lnTo>
                    <a:cubicBezTo>
                      <a:pt x="22079" y="199180"/>
                      <a:pt x="14436" y="196014"/>
                      <a:pt x="8801" y="190379"/>
                    </a:cubicBezTo>
                    <a:cubicBezTo>
                      <a:pt x="3166" y="184744"/>
                      <a:pt x="0" y="177101"/>
                      <a:pt x="0" y="169132"/>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74" id="74"/>
              <p:cNvSpPr txBox="true"/>
              <p:nvPr/>
            </p:nvSpPr>
            <p:spPr>
              <a:xfrm>
                <a:off x="0" y="-57150"/>
                <a:ext cx="1596784" cy="256330"/>
              </a:xfrm>
              <a:prstGeom prst="rect">
                <a:avLst/>
              </a:prstGeom>
            </p:spPr>
            <p:txBody>
              <a:bodyPr anchor="ctr" rtlCol="false" tIns="50800" lIns="50800" bIns="50800" rIns="50800"/>
              <a:lstStyle/>
              <a:p>
                <a:pPr algn="ctr">
                  <a:lnSpc>
                    <a:spcPts val="2379"/>
                  </a:lnSpc>
                </a:pPr>
              </a:p>
            </p:txBody>
          </p:sp>
        </p:grpSp>
        <p:sp>
          <p:nvSpPr>
            <p:cNvPr name="TextBox 75" id="75"/>
            <p:cNvSpPr txBox="true"/>
            <p:nvPr/>
          </p:nvSpPr>
          <p:spPr>
            <a:xfrm rot="0">
              <a:off x="0" y="239116"/>
              <a:ext cx="7557666" cy="416762"/>
            </a:xfrm>
            <a:prstGeom prst="rect">
              <a:avLst/>
            </a:prstGeom>
          </p:spPr>
          <p:txBody>
            <a:bodyPr anchor="t" rtlCol="false" tIns="0" lIns="0" bIns="0" rIns="0">
              <a:spAutoFit/>
            </a:bodyPr>
            <a:lstStyle/>
            <a:p>
              <a:pPr algn="ctr">
                <a:lnSpc>
                  <a:spcPts val="2590"/>
                </a:lnSpc>
                <a:spcBef>
                  <a:spcPct val="0"/>
                </a:spcBef>
              </a:pPr>
              <a:r>
                <a:rPr lang="en-US" b="true" sz="1850">
                  <a:solidFill>
                    <a:srgbClr val="FFFFFF"/>
                  </a:solidFill>
                  <a:latin typeface="Poppins Bold"/>
                  <a:ea typeface="Poppins Bold"/>
                  <a:cs typeface="Poppins Bold"/>
                  <a:sym typeface="Poppins Bold"/>
                </a:rPr>
                <a:t>Hum</a:t>
              </a:r>
              <a:r>
                <a:rPr lang="en-US" b="true" sz="1850">
                  <a:solidFill>
                    <a:srgbClr val="FFFFFF"/>
                  </a:solidFill>
                  <a:latin typeface="Poppins Bold"/>
                  <a:ea typeface="Poppins Bold"/>
                  <a:cs typeface="Poppins Bold"/>
                  <a:sym typeface="Poppins Bold"/>
                </a:rPr>
                <a:t>an interpretability evaluation framework</a:t>
              </a:r>
            </a:p>
          </p:txBody>
        </p:sp>
      </p:grpSp>
      <p:grpSp>
        <p:nvGrpSpPr>
          <p:cNvPr name="Group 76" id="76"/>
          <p:cNvGrpSpPr/>
          <p:nvPr/>
        </p:nvGrpSpPr>
        <p:grpSpPr>
          <a:xfrm rot="0">
            <a:off x="11169418" y="8083411"/>
            <a:ext cx="5668249" cy="706964"/>
            <a:chOff x="0" y="0"/>
            <a:chExt cx="7557666" cy="942619"/>
          </a:xfrm>
        </p:grpSpPr>
        <p:grpSp>
          <p:nvGrpSpPr>
            <p:cNvPr name="Group 77" id="77"/>
            <p:cNvGrpSpPr/>
            <p:nvPr/>
          </p:nvGrpSpPr>
          <p:grpSpPr>
            <a:xfrm rot="0">
              <a:off x="0" y="0"/>
              <a:ext cx="7557666" cy="942619"/>
              <a:chOff x="0" y="0"/>
              <a:chExt cx="1596784" cy="199180"/>
            </a:xfrm>
          </p:grpSpPr>
          <p:sp>
            <p:nvSpPr>
              <p:cNvPr name="Freeform 78" id="78"/>
              <p:cNvSpPr/>
              <p:nvPr/>
            </p:nvSpPr>
            <p:spPr>
              <a:xfrm flipH="false" flipV="false" rot="0">
                <a:off x="0" y="0"/>
                <a:ext cx="1596784" cy="199180"/>
              </a:xfrm>
              <a:custGeom>
                <a:avLst/>
                <a:gdLst/>
                <a:ahLst/>
                <a:cxnLst/>
                <a:rect r="r" b="b" t="t" l="l"/>
                <a:pathLst>
                  <a:path h="199180" w="1596784">
                    <a:moveTo>
                      <a:pt x="1596784" y="30048"/>
                    </a:moveTo>
                    <a:lnTo>
                      <a:pt x="1596784" y="169132"/>
                    </a:lnTo>
                    <a:cubicBezTo>
                      <a:pt x="1596784" y="177101"/>
                      <a:pt x="1593619" y="184744"/>
                      <a:pt x="1587983" y="190379"/>
                    </a:cubicBezTo>
                    <a:cubicBezTo>
                      <a:pt x="1582348" y="196014"/>
                      <a:pt x="1574705" y="199180"/>
                      <a:pt x="1566736" y="199180"/>
                    </a:cubicBezTo>
                    <a:lnTo>
                      <a:pt x="30048" y="199180"/>
                    </a:lnTo>
                    <a:cubicBezTo>
                      <a:pt x="22079" y="199180"/>
                      <a:pt x="14436" y="196014"/>
                      <a:pt x="8801" y="190379"/>
                    </a:cubicBezTo>
                    <a:cubicBezTo>
                      <a:pt x="3166" y="184744"/>
                      <a:pt x="0" y="177101"/>
                      <a:pt x="0" y="169132"/>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79" id="79"/>
              <p:cNvSpPr txBox="true"/>
              <p:nvPr/>
            </p:nvSpPr>
            <p:spPr>
              <a:xfrm>
                <a:off x="0" y="-57150"/>
                <a:ext cx="1596784" cy="256330"/>
              </a:xfrm>
              <a:prstGeom prst="rect">
                <a:avLst/>
              </a:prstGeom>
            </p:spPr>
            <p:txBody>
              <a:bodyPr anchor="ctr" rtlCol="false" tIns="50800" lIns="50800" bIns="50800" rIns="50800"/>
              <a:lstStyle/>
              <a:p>
                <a:pPr algn="ctr">
                  <a:lnSpc>
                    <a:spcPts val="2379"/>
                  </a:lnSpc>
                </a:pPr>
              </a:p>
            </p:txBody>
          </p:sp>
        </p:grpSp>
        <p:sp>
          <p:nvSpPr>
            <p:cNvPr name="TextBox 80" id="80"/>
            <p:cNvSpPr txBox="true"/>
            <p:nvPr/>
          </p:nvSpPr>
          <p:spPr>
            <a:xfrm rot="0">
              <a:off x="0" y="239116"/>
              <a:ext cx="7557666" cy="416762"/>
            </a:xfrm>
            <a:prstGeom prst="rect">
              <a:avLst/>
            </a:prstGeom>
          </p:spPr>
          <p:txBody>
            <a:bodyPr anchor="t" rtlCol="false" tIns="0" lIns="0" bIns="0" rIns="0">
              <a:spAutoFit/>
            </a:bodyPr>
            <a:lstStyle/>
            <a:p>
              <a:pPr algn="ctr">
                <a:lnSpc>
                  <a:spcPts val="2590"/>
                </a:lnSpc>
                <a:spcBef>
                  <a:spcPct val="0"/>
                </a:spcBef>
              </a:pPr>
              <a:r>
                <a:rPr lang="en-US" b="true" sz="1850">
                  <a:solidFill>
                    <a:srgbClr val="FFFFFF"/>
                  </a:solidFill>
                  <a:latin typeface="Poppins Bold"/>
                  <a:ea typeface="Poppins Bold"/>
                  <a:cs typeface="Poppins Bold"/>
                  <a:sym typeface="Poppins Bold"/>
                </a:rPr>
                <a:t>Techn</a:t>
              </a:r>
              <a:r>
                <a:rPr lang="en-US" b="true" sz="1850">
                  <a:solidFill>
                    <a:srgbClr val="FFFFFF"/>
                  </a:solidFill>
                  <a:latin typeface="Poppins Bold"/>
                  <a:ea typeface="Poppins Bold"/>
                  <a:cs typeface="Poppins Bold"/>
                  <a:sym typeface="Poppins Bold"/>
                </a:rPr>
                <a:t>ical and user-centred evaluation plans</a:t>
              </a:r>
            </a:p>
          </p:txBody>
        </p:sp>
      </p:grpSp>
      <p:grpSp>
        <p:nvGrpSpPr>
          <p:cNvPr name="Group 81" id="81"/>
          <p:cNvGrpSpPr/>
          <p:nvPr/>
        </p:nvGrpSpPr>
        <p:grpSpPr>
          <a:xfrm rot="0">
            <a:off x="11188468" y="9090837"/>
            <a:ext cx="5668249" cy="723474"/>
            <a:chOff x="0" y="0"/>
            <a:chExt cx="7557666" cy="964632"/>
          </a:xfrm>
        </p:grpSpPr>
        <p:grpSp>
          <p:nvGrpSpPr>
            <p:cNvPr name="Group 82" id="82"/>
            <p:cNvGrpSpPr/>
            <p:nvPr/>
          </p:nvGrpSpPr>
          <p:grpSpPr>
            <a:xfrm rot="0">
              <a:off x="0" y="0"/>
              <a:ext cx="7557666" cy="964632"/>
              <a:chOff x="0" y="0"/>
              <a:chExt cx="1596784" cy="203832"/>
            </a:xfrm>
          </p:grpSpPr>
          <p:sp>
            <p:nvSpPr>
              <p:cNvPr name="Freeform 83" id="83"/>
              <p:cNvSpPr/>
              <p:nvPr/>
            </p:nvSpPr>
            <p:spPr>
              <a:xfrm flipH="false" flipV="false" rot="0">
                <a:off x="0" y="0"/>
                <a:ext cx="1596784" cy="203832"/>
              </a:xfrm>
              <a:custGeom>
                <a:avLst/>
                <a:gdLst/>
                <a:ahLst/>
                <a:cxnLst/>
                <a:rect r="r" b="b" t="t" l="l"/>
                <a:pathLst>
                  <a:path h="203832" w="1596784">
                    <a:moveTo>
                      <a:pt x="1596784" y="30048"/>
                    </a:moveTo>
                    <a:lnTo>
                      <a:pt x="1596784" y="173783"/>
                    </a:lnTo>
                    <a:cubicBezTo>
                      <a:pt x="1596784" y="181752"/>
                      <a:pt x="1593619" y="189395"/>
                      <a:pt x="1587983" y="195031"/>
                    </a:cubicBezTo>
                    <a:cubicBezTo>
                      <a:pt x="1582348" y="200666"/>
                      <a:pt x="1574705" y="203832"/>
                      <a:pt x="1566736" y="203832"/>
                    </a:cubicBezTo>
                    <a:lnTo>
                      <a:pt x="30048" y="203832"/>
                    </a:lnTo>
                    <a:cubicBezTo>
                      <a:pt x="22079" y="203832"/>
                      <a:pt x="14436" y="200666"/>
                      <a:pt x="8801" y="195031"/>
                    </a:cubicBezTo>
                    <a:cubicBezTo>
                      <a:pt x="3166" y="189395"/>
                      <a:pt x="0" y="181752"/>
                      <a:pt x="0" y="173783"/>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84" id="84"/>
              <p:cNvSpPr txBox="true"/>
              <p:nvPr/>
            </p:nvSpPr>
            <p:spPr>
              <a:xfrm>
                <a:off x="0" y="-57150"/>
                <a:ext cx="1596784" cy="260982"/>
              </a:xfrm>
              <a:prstGeom prst="rect">
                <a:avLst/>
              </a:prstGeom>
            </p:spPr>
            <p:txBody>
              <a:bodyPr anchor="ctr" rtlCol="false" tIns="50800" lIns="50800" bIns="50800" rIns="50800"/>
              <a:lstStyle/>
              <a:p>
                <a:pPr algn="ctr">
                  <a:lnSpc>
                    <a:spcPts val="2379"/>
                  </a:lnSpc>
                </a:pPr>
              </a:p>
            </p:txBody>
          </p:sp>
        </p:grpSp>
        <p:sp>
          <p:nvSpPr>
            <p:cNvPr name="TextBox 85" id="85"/>
            <p:cNvSpPr txBox="true"/>
            <p:nvPr/>
          </p:nvSpPr>
          <p:spPr>
            <a:xfrm rot="0">
              <a:off x="0" y="229591"/>
              <a:ext cx="7557666" cy="448300"/>
            </a:xfrm>
            <a:prstGeom prst="rect">
              <a:avLst/>
            </a:prstGeom>
          </p:spPr>
          <p:txBody>
            <a:bodyPr anchor="t" rtlCol="false" tIns="0" lIns="0" bIns="0" rIns="0">
              <a:spAutoFit/>
            </a:bodyPr>
            <a:lstStyle/>
            <a:p>
              <a:pPr algn="ctr">
                <a:lnSpc>
                  <a:spcPts val="2730"/>
                </a:lnSpc>
                <a:spcBef>
                  <a:spcPct val="0"/>
                </a:spcBef>
              </a:pPr>
              <a:r>
                <a:rPr lang="en-US" b="true" sz="1950">
                  <a:solidFill>
                    <a:srgbClr val="FFFFFF"/>
                  </a:solidFill>
                  <a:latin typeface="Poppins Bold"/>
                  <a:ea typeface="Poppins Bold"/>
                  <a:cs typeface="Poppins Bold"/>
                  <a:sym typeface="Poppins Bold"/>
                </a:rPr>
                <a:t>P</a:t>
              </a:r>
              <a:r>
                <a:rPr lang="en-US" b="true" sz="1950">
                  <a:solidFill>
                    <a:srgbClr val="FFFFFF"/>
                  </a:solidFill>
                  <a:latin typeface="Poppins Bold"/>
                  <a:ea typeface="Poppins Bold"/>
                  <a:cs typeface="Poppins Bold"/>
                  <a:sym typeface="Poppins Bold"/>
                </a:rPr>
                <a:t>rompt benchmarking and RAG integration</a:t>
              </a:r>
            </a:p>
          </p:txBody>
        </p:sp>
      </p:grpSp>
      <p:grpSp>
        <p:nvGrpSpPr>
          <p:cNvPr name="Group 86" id="86"/>
          <p:cNvGrpSpPr/>
          <p:nvPr/>
        </p:nvGrpSpPr>
        <p:grpSpPr>
          <a:xfrm rot="0">
            <a:off x="11169418" y="2268875"/>
            <a:ext cx="5668249" cy="749508"/>
            <a:chOff x="0" y="0"/>
            <a:chExt cx="1596784" cy="211166"/>
          </a:xfrm>
        </p:grpSpPr>
        <p:sp>
          <p:nvSpPr>
            <p:cNvPr name="Freeform 87" id="87"/>
            <p:cNvSpPr/>
            <p:nvPr/>
          </p:nvSpPr>
          <p:spPr>
            <a:xfrm flipH="false" flipV="false" rot="0">
              <a:off x="0" y="0"/>
              <a:ext cx="1596784" cy="211166"/>
            </a:xfrm>
            <a:custGeom>
              <a:avLst/>
              <a:gdLst/>
              <a:ahLst/>
              <a:cxnLst/>
              <a:rect r="r" b="b" t="t" l="l"/>
              <a:pathLst>
                <a:path h="211166" w="1596784">
                  <a:moveTo>
                    <a:pt x="1596784" y="30048"/>
                  </a:moveTo>
                  <a:lnTo>
                    <a:pt x="1596784" y="181118"/>
                  </a:lnTo>
                  <a:cubicBezTo>
                    <a:pt x="1596784" y="189087"/>
                    <a:pt x="1593619" y="196730"/>
                    <a:pt x="1587983" y="202365"/>
                  </a:cubicBezTo>
                  <a:cubicBezTo>
                    <a:pt x="1582348" y="208001"/>
                    <a:pt x="1574705" y="211166"/>
                    <a:pt x="1566736" y="211166"/>
                  </a:cubicBezTo>
                  <a:lnTo>
                    <a:pt x="30048" y="211166"/>
                  </a:lnTo>
                  <a:cubicBezTo>
                    <a:pt x="13453" y="211166"/>
                    <a:pt x="0" y="197713"/>
                    <a:pt x="0" y="181118"/>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88" id="88"/>
            <p:cNvSpPr txBox="true"/>
            <p:nvPr/>
          </p:nvSpPr>
          <p:spPr>
            <a:xfrm>
              <a:off x="0" y="-57150"/>
              <a:ext cx="1596784" cy="268316"/>
            </a:xfrm>
            <a:prstGeom prst="rect">
              <a:avLst/>
            </a:prstGeom>
          </p:spPr>
          <p:txBody>
            <a:bodyPr anchor="ctr" rtlCol="false" tIns="50800" lIns="50800" bIns="50800" rIns="50800"/>
            <a:lstStyle/>
            <a:p>
              <a:pPr algn="ctr">
                <a:lnSpc>
                  <a:spcPts val="2379"/>
                </a:lnSpc>
              </a:pPr>
            </a:p>
          </p:txBody>
        </p:sp>
      </p:grpSp>
      <p:grpSp>
        <p:nvGrpSpPr>
          <p:cNvPr name="Group 89" id="89"/>
          <p:cNvGrpSpPr/>
          <p:nvPr/>
        </p:nvGrpSpPr>
        <p:grpSpPr>
          <a:xfrm rot="0">
            <a:off x="11150368" y="1319342"/>
            <a:ext cx="5668249" cy="749508"/>
            <a:chOff x="0" y="0"/>
            <a:chExt cx="1596784" cy="211166"/>
          </a:xfrm>
        </p:grpSpPr>
        <p:sp>
          <p:nvSpPr>
            <p:cNvPr name="Freeform 90" id="90"/>
            <p:cNvSpPr/>
            <p:nvPr/>
          </p:nvSpPr>
          <p:spPr>
            <a:xfrm flipH="false" flipV="false" rot="0">
              <a:off x="0" y="0"/>
              <a:ext cx="1596784" cy="211166"/>
            </a:xfrm>
            <a:custGeom>
              <a:avLst/>
              <a:gdLst/>
              <a:ahLst/>
              <a:cxnLst/>
              <a:rect r="r" b="b" t="t" l="l"/>
              <a:pathLst>
                <a:path h="211166" w="1596784">
                  <a:moveTo>
                    <a:pt x="1596784" y="30048"/>
                  </a:moveTo>
                  <a:lnTo>
                    <a:pt x="1596784" y="181118"/>
                  </a:lnTo>
                  <a:cubicBezTo>
                    <a:pt x="1596784" y="189087"/>
                    <a:pt x="1593619" y="196730"/>
                    <a:pt x="1587983" y="202365"/>
                  </a:cubicBezTo>
                  <a:cubicBezTo>
                    <a:pt x="1582348" y="208001"/>
                    <a:pt x="1574705" y="211166"/>
                    <a:pt x="1566736" y="211166"/>
                  </a:cubicBezTo>
                  <a:lnTo>
                    <a:pt x="30048" y="211166"/>
                  </a:lnTo>
                  <a:cubicBezTo>
                    <a:pt x="13453" y="211166"/>
                    <a:pt x="0" y="197713"/>
                    <a:pt x="0" y="181118"/>
                  </a:cubicBezTo>
                  <a:lnTo>
                    <a:pt x="0" y="30048"/>
                  </a:lnTo>
                  <a:cubicBezTo>
                    <a:pt x="0" y="13453"/>
                    <a:pt x="13453" y="0"/>
                    <a:pt x="30048" y="0"/>
                  </a:cubicBezTo>
                  <a:lnTo>
                    <a:pt x="1566736" y="0"/>
                  </a:lnTo>
                  <a:cubicBezTo>
                    <a:pt x="1583331" y="0"/>
                    <a:pt x="1596784" y="13453"/>
                    <a:pt x="1596784" y="30048"/>
                  </a:cubicBezTo>
                  <a:close/>
                </a:path>
              </a:pathLst>
            </a:custGeom>
            <a:solidFill>
              <a:srgbClr val="134161"/>
            </a:solidFill>
          </p:spPr>
        </p:sp>
        <p:sp>
          <p:nvSpPr>
            <p:cNvPr name="TextBox 91" id="91"/>
            <p:cNvSpPr txBox="true"/>
            <p:nvPr/>
          </p:nvSpPr>
          <p:spPr>
            <a:xfrm>
              <a:off x="0" y="-57150"/>
              <a:ext cx="1596784" cy="268316"/>
            </a:xfrm>
            <a:prstGeom prst="rect">
              <a:avLst/>
            </a:prstGeom>
          </p:spPr>
          <p:txBody>
            <a:bodyPr anchor="ctr" rtlCol="false" tIns="50800" lIns="50800" bIns="50800" rIns="50800"/>
            <a:lstStyle/>
            <a:p>
              <a:pPr algn="ctr">
                <a:lnSpc>
                  <a:spcPts val="2379"/>
                </a:lnSpc>
              </a:pPr>
            </a:p>
          </p:txBody>
        </p:sp>
      </p:grpSp>
      <p:sp>
        <p:nvSpPr>
          <p:cNvPr name="Freeform 92" id="92"/>
          <p:cNvSpPr/>
          <p:nvPr/>
        </p:nvSpPr>
        <p:spPr>
          <a:xfrm flipH="false" flipV="false" rot="0">
            <a:off x="7530868" y="5346075"/>
            <a:ext cx="3657600" cy="1024128"/>
          </a:xfrm>
          <a:custGeom>
            <a:avLst/>
            <a:gdLst/>
            <a:ahLst/>
            <a:cxnLst/>
            <a:rect r="r" b="b" t="t" l="l"/>
            <a:pathLst>
              <a:path h="1024128" w="3657600">
                <a:moveTo>
                  <a:pt x="0" y="0"/>
                </a:moveTo>
                <a:lnTo>
                  <a:pt x="3657600" y="0"/>
                </a:lnTo>
                <a:lnTo>
                  <a:pt x="3657600" y="1024128"/>
                </a:lnTo>
                <a:lnTo>
                  <a:pt x="0" y="10241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3" id="93"/>
          <p:cNvSpPr txBox="true"/>
          <p:nvPr/>
        </p:nvSpPr>
        <p:spPr>
          <a:xfrm rot="0">
            <a:off x="4217581" y="143011"/>
            <a:ext cx="9852838" cy="919156"/>
          </a:xfrm>
          <a:prstGeom prst="rect">
            <a:avLst/>
          </a:prstGeom>
        </p:spPr>
        <p:txBody>
          <a:bodyPr anchor="t" rtlCol="false" tIns="0" lIns="0" bIns="0" rIns="0">
            <a:spAutoFit/>
          </a:bodyPr>
          <a:lstStyle/>
          <a:p>
            <a:pPr algn="l">
              <a:lnSpc>
                <a:spcPts val="7519"/>
              </a:lnSpc>
              <a:spcBef>
                <a:spcPct val="0"/>
              </a:spcBef>
            </a:pPr>
            <a:r>
              <a:rPr lang="en-US" sz="5371">
                <a:solidFill>
                  <a:srgbClr val="FFFFFF"/>
                </a:solidFill>
                <a:latin typeface="Archivo Black"/>
                <a:ea typeface="Archivo Black"/>
                <a:cs typeface="Archivo Black"/>
                <a:sym typeface="Archivo Black"/>
              </a:rPr>
              <a:t>PP1 t</a:t>
            </a:r>
            <a:r>
              <a:rPr lang="en-US" sz="5371">
                <a:solidFill>
                  <a:srgbClr val="FFFFFF"/>
                </a:solidFill>
                <a:latin typeface="Archivo Black"/>
                <a:ea typeface="Archivo Black"/>
                <a:cs typeface="Archivo Black"/>
                <a:sym typeface="Archivo Black"/>
              </a:rPr>
              <a:t>o PP2 Improvements</a:t>
            </a:r>
          </a:p>
        </p:txBody>
      </p:sp>
      <p:sp>
        <p:nvSpPr>
          <p:cNvPr name="TextBox 94" id="94"/>
          <p:cNvSpPr txBox="true"/>
          <p:nvPr/>
        </p:nvSpPr>
        <p:spPr>
          <a:xfrm rot="0">
            <a:off x="11169418" y="2426781"/>
            <a:ext cx="5668249" cy="367023"/>
          </a:xfrm>
          <a:prstGeom prst="rect">
            <a:avLst/>
          </a:prstGeom>
        </p:spPr>
        <p:txBody>
          <a:bodyPr anchor="t" rtlCol="false" tIns="0" lIns="0" bIns="0" rIns="0">
            <a:spAutoFit/>
          </a:bodyPr>
          <a:lstStyle/>
          <a:p>
            <a:pPr algn="ctr">
              <a:lnSpc>
                <a:spcPts val="2870"/>
              </a:lnSpc>
              <a:spcBef>
                <a:spcPct val="0"/>
              </a:spcBef>
            </a:pPr>
            <a:r>
              <a:rPr lang="en-US" b="true" sz="2050">
                <a:solidFill>
                  <a:srgbClr val="FFFFFF"/>
                </a:solidFill>
                <a:latin typeface="Poppins Bold"/>
                <a:ea typeface="Poppins Bold"/>
                <a:cs typeface="Poppins Bold"/>
                <a:sym typeface="Poppins Bold"/>
              </a:rPr>
              <a:t>Int</a:t>
            </a:r>
            <a:r>
              <a:rPr lang="en-US" b="true" sz="2050">
                <a:solidFill>
                  <a:srgbClr val="FFFFFF"/>
                </a:solidFill>
                <a:latin typeface="Poppins Bold"/>
                <a:ea typeface="Poppins Bold"/>
                <a:cs typeface="Poppins Bold"/>
                <a:sym typeface="Poppins Bold"/>
              </a:rPr>
              <a:t>egrated insight-generation workflow</a:t>
            </a:r>
          </a:p>
        </p:txBody>
      </p:sp>
      <p:sp>
        <p:nvSpPr>
          <p:cNvPr name="TextBox 95" id="95"/>
          <p:cNvSpPr txBox="true"/>
          <p:nvPr/>
        </p:nvSpPr>
        <p:spPr>
          <a:xfrm rot="0">
            <a:off x="10951124" y="1482010"/>
            <a:ext cx="6142938" cy="367023"/>
          </a:xfrm>
          <a:prstGeom prst="rect">
            <a:avLst/>
          </a:prstGeom>
        </p:spPr>
        <p:txBody>
          <a:bodyPr anchor="t" rtlCol="false" tIns="0" lIns="0" bIns="0" rIns="0">
            <a:spAutoFit/>
          </a:bodyPr>
          <a:lstStyle/>
          <a:p>
            <a:pPr algn="ctr">
              <a:lnSpc>
                <a:spcPts val="2870"/>
              </a:lnSpc>
              <a:spcBef>
                <a:spcPct val="0"/>
              </a:spcBef>
            </a:pPr>
            <a:r>
              <a:rPr lang="en-US" b="true" sz="2050">
                <a:solidFill>
                  <a:srgbClr val="FFFFFF"/>
                </a:solidFill>
                <a:latin typeface="Poppins Bold"/>
                <a:ea typeface="Poppins Bold"/>
                <a:cs typeface="Poppins Bold"/>
                <a:sym typeface="Poppins Bold"/>
              </a:rPr>
              <a:t>Cle</a:t>
            </a:r>
            <a:r>
              <a:rPr lang="en-US" b="true" sz="2050">
                <a:solidFill>
                  <a:srgbClr val="FFFFFF"/>
                </a:solidFill>
                <a:latin typeface="Poppins Bold"/>
                <a:ea typeface="Poppins Bold"/>
                <a:cs typeface="Poppins Bold"/>
                <a:sym typeface="Poppins Bold"/>
              </a:rPr>
              <a:t>arly defined multimodal architecture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true" rot="0">
            <a:off x="-356742" y="-443118"/>
            <a:ext cx="3499528" cy="2895860"/>
          </a:xfrm>
          <a:custGeom>
            <a:avLst/>
            <a:gdLst/>
            <a:ahLst/>
            <a:cxnLst/>
            <a:rect r="r" b="b" t="t" l="l"/>
            <a:pathLst>
              <a:path h="2895860" w="3499528">
                <a:moveTo>
                  <a:pt x="0" y="2895859"/>
                </a:moveTo>
                <a:lnTo>
                  <a:pt x="3499528" y="2895859"/>
                </a:lnTo>
                <a:lnTo>
                  <a:pt x="3499528" y="0"/>
                </a:lnTo>
                <a:lnTo>
                  <a:pt x="0" y="0"/>
                </a:lnTo>
                <a:lnTo>
                  <a:pt x="0" y="289585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3604942" y="6731093"/>
            <a:ext cx="4604428" cy="3810164"/>
          </a:xfrm>
          <a:custGeom>
            <a:avLst/>
            <a:gdLst/>
            <a:ahLst/>
            <a:cxnLst/>
            <a:rect r="r" b="b" t="t" l="l"/>
            <a:pathLst>
              <a:path h="3810164" w="4604428">
                <a:moveTo>
                  <a:pt x="4604429" y="0"/>
                </a:moveTo>
                <a:lnTo>
                  <a:pt x="0" y="0"/>
                </a:lnTo>
                <a:lnTo>
                  <a:pt x="0" y="3810164"/>
                </a:lnTo>
                <a:lnTo>
                  <a:pt x="4604429" y="3810164"/>
                </a:lnTo>
                <a:lnTo>
                  <a:pt x="460442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580695" y="2862185"/>
            <a:ext cx="10518078" cy="571864"/>
            <a:chOff x="0" y="0"/>
            <a:chExt cx="2770194" cy="150614"/>
          </a:xfrm>
        </p:grpSpPr>
        <p:sp>
          <p:nvSpPr>
            <p:cNvPr name="Freeform 6" id="6"/>
            <p:cNvSpPr/>
            <p:nvPr/>
          </p:nvSpPr>
          <p:spPr>
            <a:xfrm flipH="false" flipV="false" rot="0">
              <a:off x="0" y="0"/>
              <a:ext cx="2770194" cy="150614"/>
            </a:xfrm>
            <a:custGeom>
              <a:avLst/>
              <a:gdLst/>
              <a:ahLst/>
              <a:cxnLst/>
              <a:rect r="r" b="b" t="t" l="l"/>
              <a:pathLst>
                <a:path h="150614" w="2770194">
                  <a:moveTo>
                    <a:pt x="37263" y="0"/>
                  </a:moveTo>
                  <a:lnTo>
                    <a:pt x="2732930" y="0"/>
                  </a:lnTo>
                  <a:cubicBezTo>
                    <a:pt x="2753510" y="0"/>
                    <a:pt x="2770194" y="16683"/>
                    <a:pt x="2770194" y="37263"/>
                  </a:cubicBezTo>
                  <a:lnTo>
                    <a:pt x="2770194" y="113351"/>
                  </a:lnTo>
                  <a:cubicBezTo>
                    <a:pt x="2770194" y="133931"/>
                    <a:pt x="2753510" y="150614"/>
                    <a:pt x="2732930" y="150614"/>
                  </a:cubicBezTo>
                  <a:lnTo>
                    <a:pt x="37263" y="150614"/>
                  </a:lnTo>
                  <a:cubicBezTo>
                    <a:pt x="27380" y="150614"/>
                    <a:pt x="17902" y="146688"/>
                    <a:pt x="10914" y="139700"/>
                  </a:cubicBezTo>
                  <a:cubicBezTo>
                    <a:pt x="3926" y="132712"/>
                    <a:pt x="0" y="123234"/>
                    <a:pt x="0" y="113351"/>
                  </a:cubicBezTo>
                  <a:lnTo>
                    <a:pt x="0" y="37263"/>
                  </a:lnTo>
                  <a:cubicBezTo>
                    <a:pt x="0" y="16683"/>
                    <a:pt x="16683" y="0"/>
                    <a:pt x="37263" y="0"/>
                  </a:cubicBezTo>
                  <a:close/>
                </a:path>
              </a:pathLst>
            </a:custGeom>
            <a:solidFill>
              <a:srgbClr val="134161"/>
            </a:solidFill>
          </p:spPr>
        </p:sp>
        <p:sp>
          <p:nvSpPr>
            <p:cNvPr name="TextBox 7" id="7"/>
            <p:cNvSpPr txBox="true"/>
            <p:nvPr/>
          </p:nvSpPr>
          <p:spPr>
            <a:xfrm>
              <a:off x="0" y="-57150"/>
              <a:ext cx="2770194" cy="207764"/>
            </a:xfrm>
            <a:prstGeom prst="rect">
              <a:avLst/>
            </a:prstGeom>
          </p:spPr>
          <p:txBody>
            <a:bodyPr anchor="ctr" rtlCol="false" tIns="50800" lIns="50800" bIns="50800" rIns="50800"/>
            <a:lstStyle/>
            <a:p>
              <a:pPr algn="ctr">
                <a:lnSpc>
                  <a:spcPts val="2379"/>
                </a:lnSpc>
              </a:pPr>
            </a:p>
          </p:txBody>
        </p:sp>
      </p:grpSp>
      <p:grpSp>
        <p:nvGrpSpPr>
          <p:cNvPr name="Group 8" id="8"/>
          <p:cNvGrpSpPr/>
          <p:nvPr/>
        </p:nvGrpSpPr>
        <p:grpSpPr>
          <a:xfrm rot="0">
            <a:off x="1495851" y="5252152"/>
            <a:ext cx="4636496" cy="659791"/>
            <a:chOff x="0" y="0"/>
            <a:chExt cx="885013" cy="125941"/>
          </a:xfrm>
        </p:grpSpPr>
        <p:sp>
          <p:nvSpPr>
            <p:cNvPr name="Freeform 9" id="9"/>
            <p:cNvSpPr/>
            <p:nvPr/>
          </p:nvSpPr>
          <p:spPr>
            <a:xfrm flipH="false" flipV="false" rot="0">
              <a:off x="0" y="0"/>
              <a:ext cx="885013" cy="125941"/>
            </a:xfrm>
            <a:custGeom>
              <a:avLst/>
              <a:gdLst/>
              <a:ahLst/>
              <a:cxnLst/>
              <a:rect r="r" b="b" t="t" l="l"/>
              <a:pathLst>
                <a:path h="125941" w="885013">
                  <a:moveTo>
                    <a:pt x="62970" y="0"/>
                  </a:moveTo>
                  <a:lnTo>
                    <a:pt x="822043" y="0"/>
                  </a:lnTo>
                  <a:cubicBezTo>
                    <a:pt x="856821" y="0"/>
                    <a:pt x="885013" y="28193"/>
                    <a:pt x="885013" y="62970"/>
                  </a:cubicBezTo>
                  <a:lnTo>
                    <a:pt x="885013" y="62970"/>
                  </a:lnTo>
                  <a:cubicBezTo>
                    <a:pt x="885013" y="79671"/>
                    <a:pt x="878379" y="95688"/>
                    <a:pt x="866570" y="107497"/>
                  </a:cubicBezTo>
                  <a:cubicBezTo>
                    <a:pt x="854761" y="119306"/>
                    <a:pt x="838744" y="125941"/>
                    <a:pt x="822043" y="125941"/>
                  </a:cubicBezTo>
                  <a:lnTo>
                    <a:pt x="62970" y="125941"/>
                  </a:lnTo>
                  <a:cubicBezTo>
                    <a:pt x="28193" y="125941"/>
                    <a:pt x="0" y="97748"/>
                    <a:pt x="0" y="62970"/>
                  </a:cubicBezTo>
                  <a:lnTo>
                    <a:pt x="0" y="62970"/>
                  </a:lnTo>
                  <a:cubicBezTo>
                    <a:pt x="0" y="28193"/>
                    <a:pt x="28193" y="0"/>
                    <a:pt x="62970" y="0"/>
                  </a:cubicBezTo>
                  <a:close/>
                </a:path>
              </a:pathLst>
            </a:custGeom>
            <a:solidFill>
              <a:srgbClr val="134161"/>
            </a:solidFill>
          </p:spPr>
        </p:sp>
        <p:sp>
          <p:nvSpPr>
            <p:cNvPr name="TextBox 10" id="10"/>
            <p:cNvSpPr txBox="true"/>
            <p:nvPr/>
          </p:nvSpPr>
          <p:spPr>
            <a:xfrm>
              <a:off x="0" y="-57150"/>
              <a:ext cx="885013" cy="183091"/>
            </a:xfrm>
            <a:prstGeom prst="rect">
              <a:avLst/>
            </a:prstGeom>
          </p:spPr>
          <p:txBody>
            <a:bodyPr anchor="ctr" rtlCol="false" tIns="50800" lIns="50800" bIns="50800" rIns="50800"/>
            <a:lstStyle/>
            <a:p>
              <a:pPr algn="ctr">
                <a:lnSpc>
                  <a:spcPts val="2379"/>
                </a:lnSpc>
              </a:pPr>
            </a:p>
          </p:txBody>
        </p:sp>
      </p:grpSp>
      <p:sp>
        <p:nvSpPr>
          <p:cNvPr name="Freeform 11" id="11"/>
          <p:cNvSpPr/>
          <p:nvPr/>
        </p:nvSpPr>
        <p:spPr>
          <a:xfrm flipH="false" flipV="false" rot="0">
            <a:off x="16706843" y="362135"/>
            <a:ext cx="2157541" cy="187266"/>
          </a:xfrm>
          <a:custGeom>
            <a:avLst/>
            <a:gdLst/>
            <a:ahLst/>
            <a:cxnLst/>
            <a:rect r="r" b="b" t="t" l="l"/>
            <a:pathLst>
              <a:path h="187266" w="2157541">
                <a:moveTo>
                  <a:pt x="0" y="0"/>
                </a:moveTo>
                <a:lnTo>
                  <a:pt x="2157541" y="0"/>
                </a:lnTo>
                <a:lnTo>
                  <a:pt x="2157541" y="187266"/>
                </a:lnTo>
                <a:lnTo>
                  <a:pt x="0" y="187266"/>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sp>
        <p:nvSpPr>
          <p:cNvPr name="Freeform 12" id="12"/>
          <p:cNvSpPr/>
          <p:nvPr/>
        </p:nvSpPr>
        <p:spPr>
          <a:xfrm flipH="false" flipV="false" rot="0">
            <a:off x="6160983" y="9380013"/>
            <a:ext cx="2157541" cy="187266"/>
          </a:xfrm>
          <a:custGeom>
            <a:avLst/>
            <a:gdLst/>
            <a:ahLst/>
            <a:cxnLst/>
            <a:rect r="r" b="b" t="t" l="l"/>
            <a:pathLst>
              <a:path h="187266" w="2157541">
                <a:moveTo>
                  <a:pt x="0" y="0"/>
                </a:moveTo>
                <a:lnTo>
                  <a:pt x="2157541" y="0"/>
                </a:lnTo>
                <a:lnTo>
                  <a:pt x="2157541" y="187266"/>
                </a:lnTo>
                <a:lnTo>
                  <a:pt x="0" y="187266"/>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grpSp>
        <p:nvGrpSpPr>
          <p:cNvPr name="Group 13" id="13"/>
          <p:cNvGrpSpPr/>
          <p:nvPr/>
        </p:nvGrpSpPr>
        <p:grpSpPr>
          <a:xfrm rot="0">
            <a:off x="9047076" y="5252152"/>
            <a:ext cx="5182457" cy="659791"/>
            <a:chOff x="0" y="0"/>
            <a:chExt cx="989226" cy="125941"/>
          </a:xfrm>
        </p:grpSpPr>
        <p:sp>
          <p:nvSpPr>
            <p:cNvPr name="Freeform 14" id="14"/>
            <p:cNvSpPr/>
            <p:nvPr/>
          </p:nvSpPr>
          <p:spPr>
            <a:xfrm flipH="false" flipV="false" rot="0">
              <a:off x="0" y="0"/>
              <a:ext cx="989226" cy="125941"/>
            </a:xfrm>
            <a:custGeom>
              <a:avLst/>
              <a:gdLst/>
              <a:ahLst/>
              <a:cxnLst/>
              <a:rect r="r" b="b" t="t" l="l"/>
              <a:pathLst>
                <a:path h="125941" w="989226">
                  <a:moveTo>
                    <a:pt x="62970" y="0"/>
                  </a:moveTo>
                  <a:lnTo>
                    <a:pt x="926256" y="0"/>
                  </a:lnTo>
                  <a:cubicBezTo>
                    <a:pt x="961033" y="0"/>
                    <a:pt x="989226" y="28193"/>
                    <a:pt x="989226" y="62970"/>
                  </a:cubicBezTo>
                  <a:lnTo>
                    <a:pt x="989226" y="62970"/>
                  </a:lnTo>
                  <a:cubicBezTo>
                    <a:pt x="989226" y="79671"/>
                    <a:pt x="982592" y="95688"/>
                    <a:pt x="970783" y="107497"/>
                  </a:cubicBezTo>
                  <a:cubicBezTo>
                    <a:pt x="958973" y="119306"/>
                    <a:pt x="942957" y="125941"/>
                    <a:pt x="926256" y="125941"/>
                  </a:cubicBezTo>
                  <a:lnTo>
                    <a:pt x="62970" y="125941"/>
                  </a:lnTo>
                  <a:cubicBezTo>
                    <a:pt x="28193" y="125941"/>
                    <a:pt x="0" y="97748"/>
                    <a:pt x="0" y="62970"/>
                  </a:cubicBezTo>
                  <a:lnTo>
                    <a:pt x="0" y="62970"/>
                  </a:lnTo>
                  <a:cubicBezTo>
                    <a:pt x="0" y="28193"/>
                    <a:pt x="28193" y="0"/>
                    <a:pt x="62970" y="0"/>
                  </a:cubicBezTo>
                  <a:close/>
                </a:path>
              </a:pathLst>
            </a:custGeom>
            <a:solidFill>
              <a:srgbClr val="134161"/>
            </a:solidFill>
          </p:spPr>
        </p:sp>
        <p:sp>
          <p:nvSpPr>
            <p:cNvPr name="TextBox 15" id="15"/>
            <p:cNvSpPr txBox="true"/>
            <p:nvPr/>
          </p:nvSpPr>
          <p:spPr>
            <a:xfrm>
              <a:off x="0" y="-57150"/>
              <a:ext cx="989226" cy="183091"/>
            </a:xfrm>
            <a:prstGeom prst="rect">
              <a:avLst/>
            </a:prstGeom>
          </p:spPr>
          <p:txBody>
            <a:bodyPr anchor="ctr" rtlCol="false" tIns="50800" lIns="50800" bIns="50800" rIns="50800"/>
            <a:lstStyle/>
            <a:p>
              <a:pPr algn="ctr">
                <a:lnSpc>
                  <a:spcPts val="2379"/>
                </a:lnSpc>
              </a:pPr>
            </a:p>
          </p:txBody>
        </p:sp>
      </p:grpSp>
      <p:sp>
        <p:nvSpPr>
          <p:cNvPr name="Freeform 16" id="16"/>
          <p:cNvSpPr/>
          <p:nvPr/>
        </p:nvSpPr>
        <p:spPr>
          <a:xfrm flipH="false" flipV="false" rot="0">
            <a:off x="15550511" y="665217"/>
            <a:ext cx="2312664" cy="2768832"/>
          </a:xfrm>
          <a:custGeom>
            <a:avLst/>
            <a:gdLst/>
            <a:ahLst/>
            <a:cxnLst/>
            <a:rect r="r" b="b" t="t" l="l"/>
            <a:pathLst>
              <a:path h="2768832" w="2312664">
                <a:moveTo>
                  <a:pt x="0" y="0"/>
                </a:moveTo>
                <a:lnTo>
                  <a:pt x="2312664" y="0"/>
                </a:lnTo>
                <a:lnTo>
                  <a:pt x="2312664" y="2768832"/>
                </a:lnTo>
                <a:lnTo>
                  <a:pt x="0" y="2768832"/>
                </a:lnTo>
                <a:lnTo>
                  <a:pt x="0" y="0"/>
                </a:lnTo>
                <a:close/>
              </a:path>
            </a:pathLst>
          </a:custGeom>
          <a:blipFill>
            <a:blip r:embed="rId7"/>
            <a:stretch>
              <a:fillRect l="0" t="0" r="0" b="0"/>
            </a:stretch>
          </a:blipFill>
        </p:spPr>
      </p:sp>
      <p:sp>
        <p:nvSpPr>
          <p:cNvPr name="TextBox 17" id="17"/>
          <p:cNvSpPr txBox="true"/>
          <p:nvPr/>
        </p:nvSpPr>
        <p:spPr>
          <a:xfrm rot="0">
            <a:off x="1135270" y="1235427"/>
            <a:ext cx="14415241" cy="1057131"/>
          </a:xfrm>
          <a:prstGeom prst="rect">
            <a:avLst/>
          </a:prstGeom>
        </p:spPr>
        <p:txBody>
          <a:bodyPr anchor="t" rtlCol="false" tIns="0" lIns="0" bIns="0" rIns="0">
            <a:spAutoFit/>
          </a:bodyPr>
          <a:lstStyle/>
          <a:p>
            <a:pPr algn="l">
              <a:lnSpc>
                <a:spcPts val="8529"/>
              </a:lnSpc>
              <a:spcBef>
                <a:spcPct val="0"/>
              </a:spcBef>
            </a:pPr>
            <a:r>
              <a:rPr lang="en-US" sz="6092">
                <a:solidFill>
                  <a:srgbClr val="FFFFFF"/>
                </a:solidFill>
                <a:latin typeface="Archivo Black"/>
                <a:ea typeface="Archivo Black"/>
                <a:cs typeface="Archivo Black"/>
                <a:sym typeface="Archivo Black"/>
              </a:rPr>
              <a:t>Samarathunga A H S |IT21296482</a:t>
            </a:r>
          </a:p>
        </p:txBody>
      </p:sp>
      <p:sp>
        <p:nvSpPr>
          <p:cNvPr name="TextBox 18" id="18"/>
          <p:cNvSpPr txBox="true"/>
          <p:nvPr/>
        </p:nvSpPr>
        <p:spPr>
          <a:xfrm rot="0">
            <a:off x="3406000" y="2894117"/>
            <a:ext cx="9692774" cy="879476"/>
          </a:xfrm>
          <a:prstGeom prst="rect">
            <a:avLst/>
          </a:prstGeom>
        </p:spPr>
        <p:txBody>
          <a:bodyPr anchor="t" rtlCol="false" tIns="0" lIns="0" bIns="0" rIns="0">
            <a:spAutoFit/>
          </a:bodyPr>
          <a:lstStyle/>
          <a:p>
            <a:pPr algn="l">
              <a:lnSpc>
                <a:spcPts val="3499"/>
              </a:lnSpc>
            </a:pPr>
            <a:r>
              <a:rPr lang="en-US" sz="2499" b="true">
                <a:solidFill>
                  <a:srgbClr val="FFFFFF"/>
                </a:solidFill>
                <a:latin typeface="Poppins Bold"/>
                <a:ea typeface="Poppins Bold"/>
                <a:cs typeface="Poppins Bold"/>
                <a:sym typeface="Poppins Bold"/>
              </a:rPr>
              <a:t>Market Mod</a:t>
            </a:r>
            <a:r>
              <a:rPr lang="en-US" b="true" sz="2499">
                <a:solidFill>
                  <a:srgbClr val="FFFFFF"/>
                </a:solidFill>
                <a:latin typeface="Poppins Bold"/>
                <a:ea typeface="Poppins Bold"/>
                <a:cs typeface="Poppins Bold"/>
                <a:sym typeface="Poppins Bold"/>
              </a:rPr>
              <a:t>eling and Explainable AI Insight Generation</a:t>
            </a:r>
          </a:p>
          <a:p>
            <a:pPr algn="l">
              <a:lnSpc>
                <a:spcPts val="3499"/>
              </a:lnSpc>
            </a:pPr>
          </a:p>
        </p:txBody>
      </p:sp>
      <p:sp>
        <p:nvSpPr>
          <p:cNvPr name="TextBox 19" id="19"/>
          <p:cNvSpPr txBox="true"/>
          <p:nvPr/>
        </p:nvSpPr>
        <p:spPr>
          <a:xfrm rot="0">
            <a:off x="1574480" y="5269327"/>
            <a:ext cx="4479238" cy="492648"/>
          </a:xfrm>
          <a:prstGeom prst="rect">
            <a:avLst/>
          </a:prstGeom>
        </p:spPr>
        <p:txBody>
          <a:bodyPr anchor="t" rtlCol="false" tIns="0" lIns="0" bIns="0" rIns="0">
            <a:spAutoFit/>
          </a:bodyPr>
          <a:lstStyle/>
          <a:p>
            <a:pPr algn="ctr">
              <a:lnSpc>
                <a:spcPts val="3821"/>
              </a:lnSpc>
              <a:spcBef>
                <a:spcPct val="0"/>
              </a:spcBef>
            </a:pPr>
            <a:r>
              <a:rPr lang="en-US" b="true" sz="2729">
                <a:solidFill>
                  <a:srgbClr val="FFFFFF"/>
                </a:solidFill>
                <a:latin typeface="Poppins Bold"/>
                <a:ea typeface="Poppins Bold"/>
                <a:cs typeface="Poppins Bold"/>
                <a:sym typeface="Poppins Bold"/>
              </a:rPr>
              <a:t>Novelty </a:t>
            </a:r>
          </a:p>
        </p:txBody>
      </p:sp>
      <p:sp>
        <p:nvSpPr>
          <p:cNvPr name="TextBox 20" id="20"/>
          <p:cNvSpPr txBox="true"/>
          <p:nvPr/>
        </p:nvSpPr>
        <p:spPr>
          <a:xfrm rot="0">
            <a:off x="1577484" y="6029678"/>
            <a:ext cx="4476234" cy="1592070"/>
          </a:xfrm>
          <a:prstGeom prst="rect">
            <a:avLst/>
          </a:prstGeom>
        </p:spPr>
        <p:txBody>
          <a:bodyPr anchor="t" rtlCol="false" tIns="0" lIns="0" bIns="0" rIns="0">
            <a:spAutoFit/>
          </a:bodyPr>
          <a:lstStyle/>
          <a:p>
            <a:pPr algn="ctr">
              <a:lnSpc>
                <a:spcPts val="2511"/>
              </a:lnSpc>
              <a:spcBef>
                <a:spcPct val="0"/>
              </a:spcBef>
            </a:pPr>
            <a:r>
              <a:rPr lang="en-US" sz="1793">
                <a:solidFill>
                  <a:srgbClr val="FFFFFF"/>
                </a:solidFill>
                <a:latin typeface="Poppins"/>
                <a:ea typeface="Poppins"/>
                <a:cs typeface="Poppins"/>
                <a:sym typeface="Poppins"/>
              </a:rPr>
              <a:t>Liquidity aware anomaly detection for CSE stocks that combines</a:t>
            </a:r>
            <a:r>
              <a:rPr lang="en-US" sz="1793">
                <a:solidFill>
                  <a:srgbClr val="FFFFFF"/>
                </a:solidFill>
                <a:latin typeface="Poppins"/>
                <a:ea typeface="Poppins"/>
                <a:cs typeface="Poppins"/>
                <a:sym typeface="Poppins"/>
              </a:rPr>
              <a:t> price and volume deviation with ML based forecasting, then uses SHAP to clearly explain why an anomaly occurred</a:t>
            </a:r>
          </a:p>
        </p:txBody>
      </p:sp>
      <p:sp>
        <p:nvSpPr>
          <p:cNvPr name="TextBox 21" id="21"/>
          <p:cNvSpPr txBox="true"/>
          <p:nvPr/>
        </p:nvSpPr>
        <p:spPr>
          <a:xfrm rot="0">
            <a:off x="9116180" y="5359218"/>
            <a:ext cx="5103828" cy="407558"/>
          </a:xfrm>
          <a:prstGeom prst="rect">
            <a:avLst/>
          </a:prstGeom>
        </p:spPr>
        <p:txBody>
          <a:bodyPr anchor="t" rtlCol="false" tIns="0" lIns="0" bIns="0" rIns="0">
            <a:spAutoFit/>
          </a:bodyPr>
          <a:lstStyle/>
          <a:p>
            <a:pPr algn="ctr">
              <a:lnSpc>
                <a:spcPts val="3261"/>
              </a:lnSpc>
              <a:spcBef>
                <a:spcPct val="0"/>
              </a:spcBef>
            </a:pPr>
            <a:r>
              <a:rPr lang="en-US" b="true" sz="2329">
                <a:solidFill>
                  <a:srgbClr val="FFFFFF"/>
                </a:solidFill>
                <a:latin typeface="Poppins Bold"/>
                <a:ea typeface="Poppins Bold"/>
                <a:cs typeface="Poppins Bold"/>
                <a:sym typeface="Poppins Bold"/>
              </a:rPr>
              <a:t>Contribution to Overall Solution</a:t>
            </a:r>
          </a:p>
        </p:txBody>
      </p:sp>
      <p:sp>
        <p:nvSpPr>
          <p:cNvPr name="TextBox 22" id="22"/>
          <p:cNvSpPr txBox="true"/>
          <p:nvPr/>
        </p:nvSpPr>
        <p:spPr>
          <a:xfrm rot="0">
            <a:off x="9429977" y="6029678"/>
            <a:ext cx="4476234" cy="1759516"/>
          </a:xfrm>
          <a:prstGeom prst="rect">
            <a:avLst/>
          </a:prstGeom>
        </p:spPr>
        <p:txBody>
          <a:bodyPr anchor="t" rtlCol="false" tIns="0" lIns="0" bIns="0" rIns="0">
            <a:spAutoFit/>
          </a:bodyPr>
          <a:lstStyle/>
          <a:p>
            <a:pPr algn="l">
              <a:lnSpc>
                <a:spcPts val="2888"/>
              </a:lnSpc>
              <a:spcBef>
                <a:spcPct val="0"/>
              </a:spcBef>
            </a:pPr>
            <a:r>
              <a:rPr lang="en-US" sz="2062">
                <a:solidFill>
                  <a:srgbClr val="FFFFFF"/>
                </a:solidFill>
                <a:latin typeface="Poppins"/>
                <a:ea typeface="Poppins"/>
                <a:cs typeface="Poppins"/>
                <a:sym typeface="Poppins"/>
              </a:rPr>
              <a:t>Provides sentiment and event‑base</a:t>
            </a:r>
            <a:r>
              <a:rPr lang="en-US" sz="2062">
                <a:solidFill>
                  <a:srgbClr val="FFFFFF"/>
                </a:solidFill>
                <a:latin typeface="Poppins"/>
                <a:ea typeface="Poppins"/>
                <a:cs typeface="Poppins"/>
                <a:sym typeface="Poppins"/>
              </a:rPr>
              <a:t>d signals that explain market trends and support the system’s final investor insights.</a:t>
            </a:r>
          </a:p>
          <a:p>
            <a:pPr algn="ctr">
              <a:lnSpc>
                <a:spcPts val="2511"/>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true" flipV="false" rot="0">
            <a:off x="14924349" y="7410120"/>
            <a:ext cx="3634918" cy="3300681"/>
          </a:xfrm>
          <a:custGeom>
            <a:avLst/>
            <a:gdLst/>
            <a:ahLst/>
            <a:cxnLst/>
            <a:rect r="r" b="b" t="t" l="l"/>
            <a:pathLst>
              <a:path h="3300681" w="3634918">
                <a:moveTo>
                  <a:pt x="3634918" y="0"/>
                </a:moveTo>
                <a:lnTo>
                  <a:pt x="0" y="0"/>
                </a:lnTo>
                <a:lnTo>
                  <a:pt x="0" y="3300681"/>
                </a:lnTo>
                <a:lnTo>
                  <a:pt x="3634918" y="3300681"/>
                </a:lnTo>
                <a:lnTo>
                  <a:pt x="3634918" y="0"/>
                </a:lnTo>
                <a:close/>
              </a:path>
            </a:pathLst>
          </a:custGeom>
          <a:blipFill>
            <a:blip r:embed="rId3">
              <a:extLst>
                <a:ext uri="{96DAC541-7B7A-43D3-8B79-37D633B846F1}">
                  <asvg:svgBlip xmlns:asvg="http://schemas.microsoft.com/office/drawing/2016/SVG/main" r:embed="rId4"/>
                </a:ext>
              </a:extLst>
            </a:blip>
            <a:stretch>
              <a:fillRect l="0" t="0" r="0" b="-10126"/>
            </a:stretch>
          </a:blipFill>
        </p:spPr>
      </p:sp>
      <p:sp>
        <p:nvSpPr>
          <p:cNvPr name="Freeform 4" id="4"/>
          <p:cNvSpPr/>
          <p:nvPr/>
        </p:nvSpPr>
        <p:spPr>
          <a:xfrm flipH="false" flipV="false" rot="0">
            <a:off x="-312426" y="7205417"/>
            <a:ext cx="3673321" cy="3335553"/>
          </a:xfrm>
          <a:custGeom>
            <a:avLst/>
            <a:gdLst/>
            <a:ahLst/>
            <a:cxnLst/>
            <a:rect r="r" b="b" t="t" l="l"/>
            <a:pathLst>
              <a:path h="3335553" w="3673321">
                <a:moveTo>
                  <a:pt x="0" y="0"/>
                </a:moveTo>
                <a:lnTo>
                  <a:pt x="3673322" y="0"/>
                </a:lnTo>
                <a:lnTo>
                  <a:pt x="3673322" y="3335554"/>
                </a:lnTo>
                <a:lnTo>
                  <a:pt x="0" y="3335554"/>
                </a:lnTo>
                <a:lnTo>
                  <a:pt x="0" y="0"/>
                </a:lnTo>
                <a:close/>
              </a:path>
            </a:pathLst>
          </a:custGeom>
          <a:blipFill>
            <a:blip r:embed="rId3">
              <a:extLst>
                <a:ext uri="{96DAC541-7B7A-43D3-8B79-37D633B846F1}">
                  <asvg:svgBlip xmlns:asvg="http://schemas.microsoft.com/office/drawing/2016/SVG/main" r:embed="rId4"/>
                </a:ext>
              </a:extLst>
            </a:blip>
            <a:stretch>
              <a:fillRect l="0" t="0" r="0" b="-10126"/>
            </a:stretch>
          </a:blipFill>
        </p:spPr>
      </p:sp>
      <p:grpSp>
        <p:nvGrpSpPr>
          <p:cNvPr name="Group 5" id="5"/>
          <p:cNvGrpSpPr/>
          <p:nvPr/>
        </p:nvGrpSpPr>
        <p:grpSpPr>
          <a:xfrm rot="0">
            <a:off x="10950203" y="163343"/>
            <a:ext cx="9893488" cy="507312"/>
            <a:chOff x="0" y="0"/>
            <a:chExt cx="13191318" cy="676416"/>
          </a:xfrm>
        </p:grpSpPr>
        <p:grpSp>
          <p:nvGrpSpPr>
            <p:cNvPr name="Group 6" id="6"/>
            <p:cNvGrpSpPr/>
            <p:nvPr/>
          </p:nvGrpSpPr>
          <p:grpSpPr>
            <a:xfrm rot="0">
              <a:off x="0" y="0"/>
              <a:ext cx="9626990" cy="676416"/>
              <a:chOff x="0" y="0"/>
              <a:chExt cx="1901628" cy="133613"/>
            </a:xfrm>
          </p:grpSpPr>
          <p:sp>
            <p:nvSpPr>
              <p:cNvPr name="Freeform 7" id="7"/>
              <p:cNvSpPr/>
              <p:nvPr/>
            </p:nvSpPr>
            <p:spPr>
              <a:xfrm flipH="false" flipV="false" rot="0">
                <a:off x="0" y="0"/>
                <a:ext cx="1901628" cy="133613"/>
              </a:xfrm>
              <a:custGeom>
                <a:avLst/>
                <a:gdLst/>
                <a:ahLst/>
                <a:cxnLst/>
                <a:rect r="r" b="b" t="t" l="l"/>
                <a:pathLst>
                  <a:path h="133613" w="1901628">
                    <a:moveTo>
                      <a:pt x="54283" y="0"/>
                    </a:moveTo>
                    <a:lnTo>
                      <a:pt x="1847345" y="0"/>
                    </a:lnTo>
                    <a:cubicBezTo>
                      <a:pt x="1877325" y="0"/>
                      <a:pt x="1901628" y="24303"/>
                      <a:pt x="1901628" y="54283"/>
                    </a:cubicBezTo>
                    <a:lnTo>
                      <a:pt x="1901628" y="79330"/>
                    </a:lnTo>
                    <a:cubicBezTo>
                      <a:pt x="1901628" y="93727"/>
                      <a:pt x="1895909" y="107534"/>
                      <a:pt x="1885729" y="117714"/>
                    </a:cubicBezTo>
                    <a:cubicBezTo>
                      <a:pt x="1875549" y="127894"/>
                      <a:pt x="1861742" y="133613"/>
                      <a:pt x="1847345" y="133613"/>
                    </a:cubicBezTo>
                    <a:lnTo>
                      <a:pt x="54283" y="133613"/>
                    </a:lnTo>
                    <a:cubicBezTo>
                      <a:pt x="24303" y="133613"/>
                      <a:pt x="0" y="109310"/>
                      <a:pt x="0" y="79330"/>
                    </a:cubicBezTo>
                    <a:lnTo>
                      <a:pt x="0" y="54283"/>
                    </a:lnTo>
                    <a:cubicBezTo>
                      <a:pt x="0" y="24303"/>
                      <a:pt x="24303" y="0"/>
                      <a:pt x="54283" y="0"/>
                    </a:cubicBezTo>
                    <a:close/>
                  </a:path>
                </a:pathLst>
              </a:custGeom>
              <a:solidFill>
                <a:srgbClr val="134161"/>
              </a:solidFill>
            </p:spPr>
          </p:sp>
          <p:sp>
            <p:nvSpPr>
              <p:cNvPr name="TextBox 8" id="8"/>
              <p:cNvSpPr txBox="true"/>
              <p:nvPr/>
            </p:nvSpPr>
            <p:spPr>
              <a:xfrm>
                <a:off x="0" y="-38100"/>
                <a:ext cx="1901628" cy="171713"/>
              </a:xfrm>
              <a:prstGeom prst="rect">
                <a:avLst/>
              </a:prstGeom>
            </p:spPr>
            <p:txBody>
              <a:bodyPr anchor="ctr" rtlCol="false" tIns="50800" lIns="50800" bIns="50800" rIns="50800"/>
              <a:lstStyle/>
              <a:p>
                <a:pPr algn="ctr">
                  <a:lnSpc>
                    <a:spcPts val="1540"/>
                  </a:lnSpc>
                </a:pPr>
              </a:p>
            </p:txBody>
          </p:sp>
        </p:grpSp>
        <p:sp>
          <p:nvSpPr>
            <p:cNvPr name="TextBox 9" id="9"/>
            <p:cNvSpPr txBox="true"/>
            <p:nvPr/>
          </p:nvSpPr>
          <p:spPr>
            <a:xfrm rot="0">
              <a:off x="267620" y="74325"/>
              <a:ext cx="12923698" cy="437304"/>
            </a:xfrm>
            <a:prstGeom prst="rect">
              <a:avLst/>
            </a:prstGeom>
          </p:spPr>
          <p:txBody>
            <a:bodyPr anchor="t" rtlCol="false" tIns="0" lIns="0" bIns="0" rIns="0">
              <a:spAutoFit/>
            </a:bodyPr>
            <a:lstStyle/>
            <a:p>
              <a:pPr algn="l">
                <a:lnSpc>
                  <a:spcPts val="2659"/>
                </a:lnSpc>
              </a:pPr>
              <a:r>
                <a:rPr lang="en-US" b="true" sz="1899">
                  <a:solidFill>
                    <a:srgbClr val="FFFFFF"/>
                  </a:solidFill>
                  <a:latin typeface="Poppins Bold"/>
                  <a:ea typeface="Poppins Bold"/>
                  <a:cs typeface="Poppins Bold"/>
                  <a:sym typeface="Poppins Bold"/>
                </a:rPr>
                <a:t>Market Mod</a:t>
              </a:r>
              <a:r>
                <a:rPr lang="en-US" b="true" sz="1899">
                  <a:solidFill>
                    <a:srgbClr val="FFFFFF"/>
                  </a:solidFill>
                  <a:latin typeface="Poppins Bold"/>
                  <a:ea typeface="Poppins Bold"/>
                  <a:cs typeface="Poppins Bold"/>
                  <a:sym typeface="Poppins Bold"/>
                </a:rPr>
                <a:t>eling and Explainable AI Insight Generation</a:t>
              </a:r>
            </a:p>
          </p:txBody>
        </p:sp>
      </p:grpSp>
      <p:grpSp>
        <p:nvGrpSpPr>
          <p:cNvPr name="Group 10" id="10"/>
          <p:cNvGrpSpPr/>
          <p:nvPr/>
        </p:nvGrpSpPr>
        <p:grpSpPr>
          <a:xfrm rot="0">
            <a:off x="672116" y="1345890"/>
            <a:ext cx="5225000" cy="2760340"/>
            <a:chOff x="0" y="0"/>
            <a:chExt cx="1376132" cy="727003"/>
          </a:xfrm>
        </p:grpSpPr>
        <p:sp>
          <p:nvSpPr>
            <p:cNvPr name="Freeform 11" id="11"/>
            <p:cNvSpPr/>
            <p:nvPr/>
          </p:nvSpPr>
          <p:spPr>
            <a:xfrm flipH="false" flipV="false" rot="0">
              <a:off x="0" y="0"/>
              <a:ext cx="1376132" cy="727003"/>
            </a:xfrm>
            <a:custGeom>
              <a:avLst/>
              <a:gdLst/>
              <a:ahLst/>
              <a:cxnLst/>
              <a:rect r="r" b="b" t="t" l="l"/>
              <a:pathLst>
                <a:path h="727003" w="1376132">
                  <a:moveTo>
                    <a:pt x="75567" y="0"/>
                  </a:moveTo>
                  <a:lnTo>
                    <a:pt x="1300565" y="0"/>
                  </a:lnTo>
                  <a:cubicBezTo>
                    <a:pt x="1342299" y="0"/>
                    <a:pt x="1376132" y="33833"/>
                    <a:pt x="1376132" y="75567"/>
                  </a:cubicBezTo>
                  <a:lnTo>
                    <a:pt x="1376132" y="651436"/>
                  </a:lnTo>
                  <a:cubicBezTo>
                    <a:pt x="1376132" y="693171"/>
                    <a:pt x="1342299" y="727003"/>
                    <a:pt x="1300565" y="727003"/>
                  </a:cubicBezTo>
                  <a:lnTo>
                    <a:pt x="75567" y="727003"/>
                  </a:lnTo>
                  <a:cubicBezTo>
                    <a:pt x="55525" y="727003"/>
                    <a:pt x="36305" y="719042"/>
                    <a:pt x="22133" y="704870"/>
                  </a:cubicBezTo>
                  <a:cubicBezTo>
                    <a:pt x="7962" y="690698"/>
                    <a:pt x="0" y="671478"/>
                    <a:pt x="0" y="651436"/>
                  </a:cubicBezTo>
                  <a:lnTo>
                    <a:pt x="0" y="75567"/>
                  </a:lnTo>
                  <a:cubicBezTo>
                    <a:pt x="0" y="55525"/>
                    <a:pt x="7962" y="36305"/>
                    <a:pt x="22133" y="22133"/>
                  </a:cubicBezTo>
                  <a:cubicBezTo>
                    <a:pt x="36305" y="7962"/>
                    <a:pt x="55525" y="0"/>
                    <a:pt x="75567" y="0"/>
                  </a:cubicBezTo>
                  <a:close/>
                </a:path>
              </a:pathLst>
            </a:custGeom>
            <a:solidFill>
              <a:srgbClr val="134161">
                <a:alpha val="52941"/>
              </a:srgbClr>
            </a:solidFill>
            <a:ln w="38100" cap="rnd">
              <a:solidFill>
                <a:srgbClr val="134161">
                  <a:alpha val="52941"/>
                </a:srgbClr>
              </a:solidFill>
              <a:prstDash val="solid"/>
              <a:round/>
            </a:ln>
          </p:spPr>
        </p:sp>
        <p:sp>
          <p:nvSpPr>
            <p:cNvPr name="TextBox 12" id="12"/>
            <p:cNvSpPr txBox="true"/>
            <p:nvPr/>
          </p:nvSpPr>
          <p:spPr>
            <a:xfrm>
              <a:off x="0" y="-57150"/>
              <a:ext cx="1376132" cy="784153"/>
            </a:xfrm>
            <a:prstGeom prst="rect">
              <a:avLst/>
            </a:prstGeom>
          </p:spPr>
          <p:txBody>
            <a:bodyPr anchor="ctr" rtlCol="false" tIns="50800" lIns="50800" bIns="50800" rIns="50800"/>
            <a:lstStyle/>
            <a:p>
              <a:pPr algn="ctr">
                <a:lnSpc>
                  <a:spcPts val="2379"/>
                </a:lnSpc>
              </a:pPr>
              <a:r>
                <a:rPr lang="en-US" b="true" sz="1699">
                  <a:solidFill>
                    <a:srgbClr val="FFFFFF">
                      <a:alpha val="52941"/>
                    </a:srgbClr>
                  </a:solidFill>
                  <a:latin typeface="Poppins Bold"/>
                  <a:ea typeface="Poppins Bold"/>
                  <a:cs typeface="Poppins Bold"/>
                  <a:sym typeface="Poppins Bold"/>
                </a:rPr>
                <a:t>Investors may see a price movement but cannot tell whether it is normal for that stock’s recent behaviour or an unusual movement needing attention</a:t>
              </a:r>
            </a:p>
          </p:txBody>
        </p:sp>
      </p:grpSp>
      <p:grpSp>
        <p:nvGrpSpPr>
          <p:cNvPr name="Group 13" id="13"/>
          <p:cNvGrpSpPr/>
          <p:nvPr/>
        </p:nvGrpSpPr>
        <p:grpSpPr>
          <a:xfrm rot="0">
            <a:off x="6539070" y="1397968"/>
            <a:ext cx="5225000" cy="2760340"/>
            <a:chOff x="0" y="0"/>
            <a:chExt cx="1376132" cy="727003"/>
          </a:xfrm>
        </p:grpSpPr>
        <p:sp>
          <p:nvSpPr>
            <p:cNvPr name="Freeform 14" id="14"/>
            <p:cNvSpPr/>
            <p:nvPr/>
          </p:nvSpPr>
          <p:spPr>
            <a:xfrm flipH="false" flipV="false" rot="0">
              <a:off x="0" y="0"/>
              <a:ext cx="1376132" cy="727003"/>
            </a:xfrm>
            <a:custGeom>
              <a:avLst/>
              <a:gdLst/>
              <a:ahLst/>
              <a:cxnLst/>
              <a:rect r="r" b="b" t="t" l="l"/>
              <a:pathLst>
                <a:path h="727003" w="1376132">
                  <a:moveTo>
                    <a:pt x="75567" y="0"/>
                  </a:moveTo>
                  <a:lnTo>
                    <a:pt x="1300565" y="0"/>
                  </a:lnTo>
                  <a:cubicBezTo>
                    <a:pt x="1342299" y="0"/>
                    <a:pt x="1376132" y="33833"/>
                    <a:pt x="1376132" y="75567"/>
                  </a:cubicBezTo>
                  <a:lnTo>
                    <a:pt x="1376132" y="651436"/>
                  </a:lnTo>
                  <a:cubicBezTo>
                    <a:pt x="1376132" y="693171"/>
                    <a:pt x="1342299" y="727003"/>
                    <a:pt x="1300565" y="727003"/>
                  </a:cubicBezTo>
                  <a:lnTo>
                    <a:pt x="75567" y="727003"/>
                  </a:lnTo>
                  <a:cubicBezTo>
                    <a:pt x="55525" y="727003"/>
                    <a:pt x="36305" y="719042"/>
                    <a:pt x="22133" y="704870"/>
                  </a:cubicBezTo>
                  <a:cubicBezTo>
                    <a:pt x="7962" y="690698"/>
                    <a:pt x="0" y="671478"/>
                    <a:pt x="0" y="651436"/>
                  </a:cubicBezTo>
                  <a:lnTo>
                    <a:pt x="0" y="75567"/>
                  </a:lnTo>
                  <a:cubicBezTo>
                    <a:pt x="0" y="55525"/>
                    <a:pt x="7962" y="36305"/>
                    <a:pt x="22133" y="22133"/>
                  </a:cubicBezTo>
                  <a:cubicBezTo>
                    <a:pt x="36305" y="7962"/>
                    <a:pt x="55525" y="0"/>
                    <a:pt x="75567" y="0"/>
                  </a:cubicBezTo>
                  <a:close/>
                </a:path>
              </a:pathLst>
            </a:custGeom>
            <a:solidFill>
              <a:srgbClr val="134161">
                <a:alpha val="52941"/>
              </a:srgbClr>
            </a:solidFill>
            <a:ln w="38100" cap="rnd">
              <a:solidFill>
                <a:srgbClr val="FFFFFF">
                  <a:alpha val="52941"/>
                </a:srgbClr>
              </a:solidFill>
              <a:prstDash val="solid"/>
              <a:round/>
            </a:ln>
          </p:spPr>
        </p:sp>
        <p:sp>
          <p:nvSpPr>
            <p:cNvPr name="TextBox 15" id="15"/>
            <p:cNvSpPr txBox="true"/>
            <p:nvPr/>
          </p:nvSpPr>
          <p:spPr>
            <a:xfrm>
              <a:off x="0" y="-57150"/>
              <a:ext cx="1376132" cy="784153"/>
            </a:xfrm>
            <a:prstGeom prst="rect">
              <a:avLst/>
            </a:prstGeom>
          </p:spPr>
          <p:txBody>
            <a:bodyPr anchor="ctr" rtlCol="false" tIns="50800" lIns="50800" bIns="50800" rIns="50800"/>
            <a:lstStyle/>
            <a:p>
              <a:pPr algn="ctr">
                <a:lnSpc>
                  <a:spcPts val="2379"/>
                </a:lnSpc>
              </a:pPr>
              <a:r>
                <a:rPr lang="en-US" b="true" sz="1699">
                  <a:solidFill>
                    <a:srgbClr val="FFFFFF">
                      <a:alpha val="52941"/>
                    </a:srgbClr>
                  </a:solidFill>
                  <a:latin typeface="Poppins Bold"/>
                  <a:ea typeface="Poppins Bold"/>
                  <a:cs typeface="Poppins Bold"/>
                  <a:sym typeface="Poppins Bold"/>
                </a:rPr>
                <a:t>Learn normal price behaviour from historical price and trading volume. Estimate the expected closing price, compare it with the actual close, and calculate a volume adjusted anomaly score.</a:t>
              </a:r>
            </a:p>
          </p:txBody>
        </p:sp>
      </p:grpSp>
      <p:grpSp>
        <p:nvGrpSpPr>
          <p:cNvPr name="Group 16" id="16"/>
          <p:cNvGrpSpPr/>
          <p:nvPr/>
        </p:nvGrpSpPr>
        <p:grpSpPr>
          <a:xfrm rot="0">
            <a:off x="12402244" y="1392023"/>
            <a:ext cx="5225000" cy="2760340"/>
            <a:chOff x="0" y="0"/>
            <a:chExt cx="1376132" cy="727003"/>
          </a:xfrm>
        </p:grpSpPr>
        <p:sp>
          <p:nvSpPr>
            <p:cNvPr name="Freeform 17" id="17"/>
            <p:cNvSpPr/>
            <p:nvPr/>
          </p:nvSpPr>
          <p:spPr>
            <a:xfrm flipH="false" flipV="false" rot="0">
              <a:off x="0" y="0"/>
              <a:ext cx="1376132" cy="727003"/>
            </a:xfrm>
            <a:custGeom>
              <a:avLst/>
              <a:gdLst/>
              <a:ahLst/>
              <a:cxnLst/>
              <a:rect r="r" b="b" t="t" l="l"/>
              <a:pathLst>
                <a:path h="727003" w="1376132">
                  <a:moveTo>
                    <a:pt x="75567" y="0"/>
                  </a:moveTo>
                  <a:lnTo>
                    <a:pt x="1300565" y="0"/>
                  </a:lnTo>
                  <a:cubicBezTo>
                    <a:pt x="1342299" y="0"/>
                    <a:pt x="1376132" y="33833"/>
                    <a:pt x="1376132" y="75567"/>
                  </a:cubicBezTo>
                  <a:lnTo>
                    <a:pt x="1376132" y="651436"/>
                  </a:lnTo>
                  <a:cubicBezTo>
                    <a:pt x="1376132" y="693171"/>
                    <a:pt x="1342299" y="727003"/>
                    <a:pt x="1300565" y="727003"/>
                  </a:cubicBezTo>
                  <a:lnTo>
                    <a:pt x="75567" y="727003"/>
                  </a:lnTo>
                  <a:cubicBezTo>
                    <a:pt x="55525" y="727003"/>
                    <a:pt x="36305" y="719042"/>
                    <a:pt x="22133" y="704870"/>
                  </a:cubicBezTo>
                  <a:cubicBezTo>
                    <a:pt x="7962" y="690698"/>
                    <a:pt x="0" y="671478"/>
                    <a:pt x="0" y="651436"/>
                  </a:cubicBezTo>
                  <a:lnTo>
                    <a:pt x="0" y="75567"/>
                  </a:lnTo>
                  <a:cubicBezTo>
                    <a:pt x="0" y="55525"/>
                    <a:pt x="7962" y="36305"/>
                    <a:pt x="22133" y="22133"/>
                  </a:cubicBezTo>
                  <a:cubicBezTo>
                    <a:pt x="36305" y="7962"/>
                    <a:pt x="55525" y="0"/>
                    <a:pt x="75567" y="0"/>
                  </a:cubicBezTo>
                  <a:close/>
                </a:path>
              </a:pathLst>
            </a:custGeom>
            <a:solidFill>
              <a:srgbClr val="134161">
                <a:alpha val="52941"/>
              </a:srgbClr>
            </a:solidFill>
            <a:ln w="38100" cap="rnd">
              <a:solidFill>
                <a:srgbClr val="FFFFFF">
                  <a:alpha val="52941"/>
                </a:srgbClr>
              </a:solidFill>
              <a:prstDash val="solid"/>
              <a:round/>
            </a:ln>
          </p:spPr>
        </p:sp>
        <p:sp>
          <p:nvSpPr>
            <p:cNvPr name="TextBox 18" id="18"/>
            <p:cNvSpPr txBox="true"/>
            <p:nvPr/>
          </p:nvSpPr>
          <p:spPr>
            <a:xfrm>
              <a:off x="0" y="-57150"/>
              <a:ext cx="1376132" cy="784153"/>
            </a:xfrm>
            <a:prstGeom prst="rect">
              <a:avLst/>
            </a:prstGeom>
          </p:spPr>
          <p:txBody>
            <a:bodyPr anchor="ctr" rtlCol="false" tIns="50800" lIns="50800" bIns="50800" rIns="50800"/>
            <a:lstStyle/>
            <a:p>
              <a:pPr algn="ctr">
                <a:lnSpc>
                  <a:spcPts val="2379"/>
                </a:lnSpc>
              </a:pPr>
              <a:r>
                <a:rPr lang="en-US" b="true" sz="1699">
                  <a:solidFill>
                    <a:srgbClr val="FFFFFF">
                      <a:alpha val="52941"/>
                    </a:srgbClr>
                  </a:solidFill>
                  <a:latin typeface="Poppins Bold"/>
                  <a:ea typeface="Poppins Bold"/>
                  <a:cs typeface="Poppins Bold"/>
                  <a:sym typeface="Poppins Bold"/>
                </a:rPr>
                <a:t>Expected price, actual price, signed deviation, absolute deviation, anomaly score, calibrated threshold, anomaly status, prediction band result, and SHAP factors influencing the anomaly score.</a:t>
              </a:r>
            </a:p>
          </p:txBody>
        </p:sp>
      </p:grpSp>
      <p:sp>
        <p:nvSpPr>
          <p:cNvPr name="TextBox 19" id="19"/>
          <p:cNvSpPr txBox="true"/>
          <p:nvPr/>
        </p:nvSpPr>
        <p:spPr>
          <a:xfrm rot="0">
            <a:off x="235860" y="231399"/>
            <a:ext cx="5149392" cy="333101"/>
          </a:xfrm>
          <a:prstGeom prst="rect">
            <a:avLst/>
          </a:prstGeom>
        </p:spPr>
        <p:txBody>
          <a:bodyPr anchor="t" rtlCol="false" tIns="0" lIns="0" bIns="0" rIns="0">
            <a:spAutoFit/>
          </a:bodyPr>
          <a:lstStyle/>
          <a:p>
            <a:pPr algn="l">
              <a:lnSpc>
                <a:spcPts val="2723"/>
              </a:lnSpc>
              <a:spcBef>
                <a:spcPct val="0"/>
              </a:spcBef>
            </a:pPr>
            <a:r>
              <a:rPr lang="en-US" sz="1945">
                <a:solidFill>
                  <a:srgbClr val="FFFFFF"/>
                </a:solidFill>
                <a:latin typeface="Archivo Black"/>
                <a:ea typeface="Archivo Black"/>
                <a:cs typeface="Archivo Black"/>
                <a:sym typeface="Archivo Black"/>
              </a:rPr>
              <a:t>Samarathunga A H S  | IT21296482</a:t>
            </a:r>
          </a:p>
        </p:txBody>
      </p:sp>
      <p:sp>
        <p:nvSpPr>
          <p:cNvPr name="TextBox 20" id="20"/>
          <p:cNvSpPr txBox="true"/>
          <p:nvPr/>
        </p:nvSpPr>
        <p:spPr>
          <a:xfrm rot="0">
            <a:off x="2733654" y="820737"/>
            <a:ext cx="1101923" cy="358776"/>
          </a:xfrm>
          <a:prstGeom prst="rect">
            <a:avLst/>
          </a:prstGeom>
        </p:spPr>
        <p:txBody>
          <a:bodyPr anchor="t" rtlCol="false" tIns="0" lIns="0" bIns="0" rIns="0">
            <a:spAutoFit/>
          </a:bodyPr>
          <a:lstStyle/>
          <a:p>
            <a:pPr algn="ctr">
              <a:lnSpc>
                <a:spcPts val="2799"/>
              </a:lnSpc>
              <a:spcBef>
                <a:spcPct val="0"/>
              </a:spcBef>
            </a:pPr>
            <a:r>
              <a:rPr lang="en-US" b="true" sz="1999">
                <a:solidFill>
                  <a:srgbClr val="FFFFFF"/>
                </a:solidFill>
                <a:latin typeface="Poppins Bold"/>
                <a:ea typeface="Poppins Bold"/>
                <a:cs typeface="Poppins Bold"/>
                <a:sym typeface="Poppins Bold"/>
              </a:rPr>
              <a:t>Problem</a:t>
            </a:r>
          </a:p>
        </p:txBody>
      </p:sp>
      <p:sp>
        <p:nvSpPr>
          <p:cNvPr name="TextBox 21" id="21"/>
          <p:cNvSpPr txBox="true"/>
          <p:nvPr/>
        </p:nvSpPr>
        <p:spPr>
          <a:xfrm rot="0">
            <a:off x="6523931" y="820737"/>
            <a:ext cx="5240139" cy="375286"/>
          </a:xfrm>
          <a:prstGeom prst="rect">
            <a:avLst/>
          </a:prstGeom>
        </p:spPr>
        <p:txBody>
          <a:bodyPr anchor="t" rtlCol="false" tIns="0" lIns="0" bIns="0" rIns="0">
            <a:spAutoFit/>
          </a:bodyPr>
          <a:lstStyle/>
          <a:p>
            <a:pPr algn="ctr">
              <a:lnSpc>
                <a:spcPts val="2939"/>
              </a:lnSpc>
              <a:spcBef>
                <a:spcPct val="0"/>
              </a:spcBef>
            </a:pPr>
            <a:r>
              <a:rPr lang="en-US" b="true" sz="2099">
                <a:solidFill>
                  <a:srgbClr val="FFFFFF"/>
                </a:solidFill>
                <a:latin typeface="Poppins Bold"/>
                <a:ea typeface="Poppins Bold"/>
                <a:cs typeface="Poppins Bold"/>
                <a:sym typeface="Poppins Bold"/>
              </a:rPr>
              <a:t>Solut</a:t>
            </a:r>
            <a:r>
              <a:rPr lang="en-US" b="true" sz="2099">
                <a:solidFill>
                  <a:srgbClr val="FFFFFF"/>
                </a:solidFill>
                <a:latin typeface="Poppins Bold"/>
                <a:ea typeface="Poppins Bold"/>
                <a:cs typeface="Poppins Bold"/>
                <a:sym typeface="Poppins Bold"/>
              </a:rPr>
              <a:t>ion Approach</a:t>
            </a:r>
          </a:p>
        </p:txBody>
      </p:sp>
      <p:sp>
        <p:nvSpPr>
          <p:cNvPr name="TextBox 22" id="22"/>
          <p:cNvSpPr txBox="true"/>
          <p:nvPr/>
        </p:nvSpPr>
        <p:spPr>
          <a:xfrm rot="0">
            <a:off x="12583087" y="868176"/>
            <a:ext cx="5240139" cy="375286"/>
          </a:xfrm>
          <a:prstGeom prst="rect">
            <a:avLst/>
          </a:prstGeom>
        </p:spPr>
        <p:txBody>
          <a:bodyPr anchor="t" rtlCol="false" tIns="0" lIns="0" bIns="0" rIns="0">
            <a:spAutoFit/>
          </a:bodyPr>
          <a:lstStyle/>
          <a:p>
            <a:pPr algn="ctr">
              <a:lnSpc>
                <a:spcPts val="2939"/>
              </a:lnSpc>
              <a:spcBef>
                <a:spcPct val="0"/>
              </a:spcBef>
            </a:pPr>
            <a:r>
              <a:rPr lang="en-US" b="true" sz="2099">
                <a:solidFill>
                  <a:srgbClr val="FFFFFF"/>
                </a:solidFill>
                <a:latin typeface="Poppins Bold"/>
                <a:ea typeface="Poppins Bold"/>
                <a:cs typeface="Poppins Bold"/>
                <a:sym typeface="Poppins Bold"/>
              </a:rPr>
              <a:t>Outputs</a:t>
            </a:r>
          </a:p>
        </p:txBody>
      </p:sp>
      <p:grpSp>
        <p:nvGrpSpPr>
          <p:cNvPr name="Group 23" id="23"/>
          <p:cNvGrpSpPr/>
          <p:nvPr/>
        </p:nvGrpSpPr>
        <p:grpSpPr>
          <a:xfrm rot="0">
            <a:off x="9227666" y="4457163"/>
            <a:ext cx="8673248" cy="1372675"/>
            <a:chOff x="0" y="0"/>
            <a:chExt cx="2284312" cy="361527"/>
          </a:xfrm>
        </p:grpSpPr>
        <p:sp>
          <p:nvSpPr>
            <p:cNvPr name="Freeform 24" id="24"/>
            <p:cNvSpPr/>
            <p:nvPr/>
          </p:nvSpPr>
          <p:spPr>
            <a:xfrm flipH="false" flipV="false" rot="0">
              <a:off x="0" y="0"/>
              <a:ext cx="2284312" cy="361527"/>
            </a:xfrm>
            <a:custGeom>
              <a:avLst/>
              <a:gdLst/>
              <a:ahLst/>
              <a:cxnLst/>
              <a:rect r="r" b="b" t="t" l="l"/>
              <a:pathLst>
                <a:path h="361527" w="2284312">
                  <a:moveTo>
                    <a:pt x="15175" y="0"/>
                  </a:moveTo>
                  <a:lnTo>
                    <a:pt x="2269138" y="0"/>
                  </a:lnTo>
                  <a:cubicBezTo>
                    <a:pt x="2273162" y="0"/>
                    <a:pt x="2277022" y="1599"/>
                    <a:pt x="2279868" y="4445"/>
                  </a:cubicBezTo>
                  <a:cubicBezTo>
                    <a:pt x="2282714" y="7290"/>
                    <a:pt x="2284312" y="11150"/>
                    <a:pt x="2284312" y="15175"/>
                  </a:cubicBezTo>
                  <a:lnTo>
                    <a:pt x="2284312" y="346353"/>
                  </a:lnTo>
                  <a:cubicBezTo>
                    <a:pt x="2284312" y="354734"/>
                    <a:pt x="2277519" y="361527"/>
                    <a:pt x="2269138" y="361527"/>
                  </a:cubicBezTo>
                  <a:lnTo>
                    <a:pt x="15175" y="361527"/>
                  </a:lnTo>
                  <a:cubicBezTo>
                    <a:pt x="6794" y="361527"/>
                    <a:pt x="0" y="354734"/>
                    <a:pt x="0" y="346353"/>
                  </a:cubicBezTo>
                  <a:lnTo>
                    <a:pt x="0" y="15175"/>
                  </a:lnTo>
                  <a:cubicBezTo>
                    <a:pt x="0" y="11150"/>
                    <a:pt x="1599" y="7290"/>
                    <a:pt x="4445" y="4445"/>
                  </a:cubicBezTo>
                  <a:cubicBezTo>
                    <a:pt x="7290" y="1599"/>
                    <a:pt x="11150" y="0"/>
                    <a:pt x="15175" y="0"/>
                  </a:cubicBezTo>
                  <a:close/>
                </a:path>
              </a:pathLst>
            </a:custGeom>
            <a:solidFill>
              <a:srgbClr val="134161"/>
            </a:solidFill>
          </p:spPr>
        </p:sp>
        <p:sp>
          <p:nvSpPr>
            <p:cNvPr name="TextBox 25" id="25"/>
            <p:cNvSpPr txBox="true"/>
            <p:nvPr/>
          </p:nvSpPr>
          <p:spPr>
            <a:xfrm>
              <a:off x="0" y="-66675"/>
              <a:ext cx="2284312" cy="428202"/>
            </a:xfrm>
            <a:prstGeom prst="rect">
              <a:avLst/>
            </a:prstGeom>
          </p:spPr>
          <p:txBody>
            <a:bodyPr anchor="ctr" rtlCol="false" tIns="50800" lIns="50800" bIns="50800" rIns="50800"/>
            <a:lstStyle/>
            <a:p>
              <a:pPr algn="ctr">
                <a:lnSpc>
                  <a:spcPts val="3010"/>
                </a:lnSpc>
              </a:pPr>
              <a:r>
                <a:rPr lang="en-US" sz="2150" b="true">
                  <a:solidFill>
                    <a:srgbClr val="FFFFFF"/>
                  </a:solidFill>
                  <a:latin typeface="Poppins Bold"/>
                  <a:ea typeface="Poppins Bold"/>
                  <a:cs typeface="Poppins Bold"/>
                  <a:sym typeface="Poppins Bold"/>
                </a:rPr>
                <a:t>Signed Deviation = Actual Price - Expected Price</a:t>
              </a:r>
            </a:p>
            <a:p>
              <a:pPr algn="ctr">
                <a:lnSpc>
                  <a:spcPts val="3010"/>
                </a:lnSpc>
              </a:pPr>
              <a:r>
                <a:rPr lang="en-US" sz="2150" b="true">
                  <a:solidFill>
                    <a:srgbClr val="FFFFFF"/>
                  </a:solidFill>
                  <a:latin typeface="Poppins Bold"/>
                  <a:ea typeface="Poppins Bold"/>
                  <a:cs typeface="Poppins Bold"/>
                  <a:sym typeface="Poppins Bold"/>
                </a:rPr>
                <a:t>Absolute Deviation = |Actual Price - Expected Price|</a:t>
              </a:r>
            </a:p>
            <a:p>
              <a:pPr algn="ctr">
                <a:lnSpc>
                  <a:spcPts val="3010"/>
                </a:lnSpc>
              </a:pPr>
            </a:p>
          </p:txBody>
        </p:sp>
      </p:grpSp>
      <p:grpSp>
        <p:nvGrpSpPr>
          <p:cNvPr name="Group 26" id="26"/>
          <p:cNvGrpSpPr/>
          <p:nvPr/>
        </p:nvGrpSpPr>
        <p:grpSpPr>
          <a:xfrm rot="0">
            <a:off x="10359138" y="6138080"/>
            <a:ext cx="7177711" cy="2134675"/>
            <a:chOff x="0" y="0"/>
            <a:chExt cx="1890426" cy="562219"/>
          </a:xfrm>
        </p:grpSpPr>
        <p:sp>
          <p:nvSpPr>
            <p:cNvPr name="Freeform 27" id="27"/>
            <p:cNvSpPr/>
            <p:nvPr/>
          </p:nvSpPr>
          <p:spPr>
            <a:xfrm flipH="false" flipV="false" rot="0">
              <a:off x="0" y="0"/>
              <a:ext cx="1890426" cy="562219"/>
            </a:xfrm>
            <a:custGeom>
              <a:avLst/>
              <a:gdLst/>
              <a:ahLst/>
              <a:cxnLst/>
              <a:rect r="r" b="b" t="t" l="l"/>
              <a:pathLst>
                <a:path h="562219" w="1890426">
                  <a:moveTo>
                    <a:pt x="18336" y="0"/>
                  </a:moveTo>
                  <a:lnTo>
                    <a:pt x="1872090" y="0"/>
                  </a:lnTo>
                  <a:cubicBezTo>
                    <a:pt x="1882217" y="0"/>
                    <a:pt x="1890426" y="8209"/>
                    <a:pt x="1890426" y="18336"/>
                  </a:cubicBezTo>
                  <a:lnTo>
                    <a:pt x="1890426" y="543883"/>
                  </a:lnTo>
                  <a:cubicBezTo>
                    <a:pt x="1890426" y="548746"/>
                    <a:pt x="1888494" y="553410"/>
                    <a:pt x="1885055" y="556848"/>
                  </a:cubicBezTo>
                  <a:cubicBezTo>
                    <a:pt x="1881617" y="560287"/>
                    <a:pt x="1876953" y="562219"/>
                    <a:pt x="1872090" y="562219"/>
                  </a:cubicBezTo>
                  <a:lnTo>
                    <a:pt x="18336" y="562219"/>
                  </a:lnTo>
                  <a:cubicBezTo>
                    <a:pt x="13473" y="562219"/>
                    <a:pt x="8809" y="560287"/>
                    <a:pt x="5371" y="556848"/>
                  </a:cubicBezTo>
                  <a:cubicBezTo>
                    <a:pt x="1932" y="553410"/>
                    <a:pt x="0" y="548746"/>
                    <a:pt x="0" y="543883"/>
                  </a:cubicBezTo>
                  <a:lnTo>
                    <a:pt x="0" y="18336"/>
                  </a:lnTo>
                  <a:cubicBezTo>
                    <a:pt x="0" y="13473"/>
                    <a:pt x="1932" y="8809"/>
                    <a:pt x="5371" y="5371"/>
                  </a:cubicBezTo>
                  <a:cubicBezTo>
                    <a:pt x="8809" y="1932"/>
                    <a:pt x="13473" y="0"/>
                    <a:pt x="18336" y="0"/>
                  </a:cubicBezTo>
                  <a:close/>
                </a:path>
              </a:pathLst>
            </a:custGeom>
            <a:solidFill>
              <a:srgbClr val="134161"/>
            </a:solidFill>
          </p:spPr>
        </p:sp>
        <p:sp>
          <p:nvSpPr>
            <p:cNvPr name="TextBox 28" id="28"/>
            <p:cNvSpPr txBox="true"/>
            <p:nvPr/>
          </p:nvSpPr>
          <p:spPr>
            <a:xfrm>
              <a:off x="0" y="-66675"/>
              <a:ext cx="1890426" cy="628894"/>
            </a:xfrm>
            <a:prstGeom prst="rect">
              <a:avLst/>
            </a:prstGeom>
          </p:spPr>
          <p:txBody>
            <a:bodyPr anchor="ctr" rtlCol="false" tIns="50800" lIns="50800" bIns="50800" rIns="50800"/>
            <a:lstStyle/>
            <a:p>
              <a:pPr algn="ctr">
                <a:lnSpc>
                  <a:spcPts val="3010"/>
                </a:lnSpc>
              </a:pPr>
              <a:r>
                <a:rPr lang="en-US" sz="2150" b="true">
                  <a:solidFill>
                    <a:srgbClr val="FFFFFF"/>
                  </a:solidFill>
                  <a:latin typeface="Poppins Bold"/>
                  <a:ea typeface="Poppins Bold"/>
                  <a:cs typeface="Poppins Bold"/>
                  <a:sym typeface="Poppins Bold"/>
                </a:rPr>
                <a:t>Anomaly Score &gt; Stock-Specific Threshold</a:t>
              </a:r>
            </a:p>
            <a:p>
              <a:pPr algn="ctr">
                <a:lnSpc>
                  <a:spcPts val="3010"/>
                </a:lnSpc>
              </a:pPr>
              <a:r>
                <a:rPr lang="en-US" sz="2150" b="true">
                  <a:solidFill>
                    <a:srgbClr val="FFFFFF"/>
                  </a:solidFill>
                  <a:latin typeface="Poppins Bold"/>
                  <a:ea typeface="Poppins Bold"/>
                  <a:cs typeface="Poppins Bold"/>
                  <a:sym typeface="Poppins Bold"/>
                </a:rPr>
                <a:t>OR</a:t>
              </a:r>
            </a:p>
            <a:p>
              <a:pPr algn="ctr">
                <a:lnSpc>
                  <a:spcPts val="3010"/>
                </a:lnSpc>
              </a:pPr>
              <a:r>
                <a:rPr lang="en-US" sz="2150" b="true">
                  <a:solidFill>
                    <a:srgbClr val="FFFFFF"/>
                  </a:solidFill>
                  <a:latin typeface="Poppins Bold"/>
                  <a:ea typeface="Poppins Bold"/>
                  <a:cs typeface="Poppins Bold"/>
                  <a:sym typeface="Poppins Bold"/>
                </a:rPr>
                <a:t>Price Outside Prediction Band</a:t>
              </a:r>
            </a:p>
            <a:p>
              <a:pPr algn="ctr">
                <a:lnSpc>
                  <a:spcPts val="3010"/>
                </a:lnSpc>
              </a:pPr>
              <a:r>
                <a:rPr lang="en-US" sz="2150" b="true">
                  <a:solidFill>
                    <a:srgbClr val="FFFFFF"/>
                  </a:solidFill>
                  <a:latin typeface="Poppins Bold"/>
                  <a:ea typeface="Poppins Bold"/>
                  <a:cs typeface="Poppins Bold"/>
                  <a:sym typeface="Poppins Bold"/>
                </a:rPr>
                <a:t>→ Unusual Market Behaviour</a:t>
              </a:r>
            </a:p>
            <a:p>
              <a:pPr algn="ctr">
                <a:lnSpc>
                  <a:spcPts val="3010"/>
                </a:lnSpc>
              </a:pPr>
            </a:p>
          </p:txBody>
        </p:sp>
      </p:grpSp>
      <p:grpSp>
        <p:nvGrpSpPr>
          <p:cNvPr name="Group 29" id="29"/>
          <p:cNvGrpSpPr/>
          <p:nvPr/>
        </p:nvGrpSpPr>
        <p:grpSpPr>
          <a:xfrm rot="0">
            <a:off x="672116" y="4272607"/>
            <a:ext cx="8220236" cy="1753675"/>
            <a:chOff x="0" y="0"/>
            <a:chExt cx="2165000" cy="461873"/>
          </a:xfrm>
        </p:grpSpPr>
        <p:sp>
          <p:nvSpPr>
            <p:cNvPr name="Freeform 30" id="30"/>
            <p:cNvSpPr/>
            <p:nvPr/>
          </p:nvSpPr>
          <p:spPr>
            <a:xfrm flipH="false" flipV="false" rot="0">
              <a:off x="0" y="0"/>
              <a:ext cx="2165000" cy="461873"/>
            </a:xfrm>
            <a:custGeom>
              <a:avLst/>
              <a:gdLst/>
              <a:ahLst/>
              <a:cxnLst/>
              <a:rect r="r" b="b" t="t" l="l"/>
              <a:pathLst>
                <a:path h="461873" w="2165000">
                  <a:moveTo>
                    <a:pt x="16011" y="0"/>
                  </a:moveTo>
                  <a:lnTo>
                    <a:pt x="2148990" y="0"/>
                  </a:lnTo>
                  <a:cubicBezTo>
                    <a:pt x="2153236" y="0"/>
                    <a:pt x="2157308" y="1687"/>
                    <a:pt x="2160311" y="4689"/>
                  </a:cubicBezTo>
                  <a:cubicBezTo>
                    <a:pt x="2163313" y="7692"/>
                    <a:pt x="2165000" y="11764"/>
                    <a:pt x="2165000" y="16011"/>
                  </a:cubicBezTo>
                  <a:lnTo>
                    <a:pt x="2165000" y="445862"/>
                  </a:lnTo>
                  <a:cubicBezTo>
                    <a:pt x="2165000" y="450109"/>
                    <a:pt x="2163313" y="454181"/>
                    <a:pt x="2160311" y="457184"/>
                  </a:cubicBezTo>
                  <a:cubicBezTo>
                    <a:pt x="2157308" y="460186"/>
                    <a:pt x="2153236" y="461873"/>
                    <a:pt x="2148990" y="461873"/>
                  </a:cubicBezTo>
                  <a:lnTo>
                    <a:pt x="16011" y="461873"/>
                  </a:lnTo>
                  <a:cubicBezTo>
                    <a:pt x="11764" y="461873"/>
                    <a:pt x="7692" y="460186"/>
                    <a:pt x="4689" y="457184"/>
                  </a:cubicBezTo>
                  <a:cubicBezTo>
                    <a:pt x="1687" y="454181"/>
                    <a:pt x="0" y="450109"/>
                    <a:pt x="0" y="445862"/>
                  </a:cubicBezTo>
                  <a:lnTo>
                    <a:pt x="0" y="16011"/>
                  </a:lnTo>
                  <a:cubicBezTo>
                    <a:pt x="0" y="11764"/>
                    <a:pt x="1687" y="7692"/>
                    <a:pt x="4689" y="4689"/>
                  </a:cubicBezTo>
                  <a:cubicBezTo>
                    <a:pt x="7692" y="1687"/>
                    <a:pt x="11764" y="0"/>
                    <a:pt x="16011" y="0"/>
                  </a:cubicBezTo>
                  <a:close/>
                </a:path>
              </a:pathLst>
            </a:custGeom>
            <a:solidFill>
              <a:srgbClr val="134161"/>
            </a:solidFill>
          </p:spPr>
        </p:sp>
        <p:sp>
          <p:nvSpPr>
            <p:cNvPr name="TextBox 31" id="31"/>
            <p:cNvSpPr txBox="true"/>
            <p:nvPr/>
          </p:nvSpPr>
          <p:spPr>
            <a:xfrm>
              <a:off x="0" y="-66675"/>
              <a:ext cx="2165000" cy="528548"/>
            </a:xfrm>
            <a:prstGeom prst="rect">
              <a:avLst/>
            </a:prstGeom>
          </p:spPr>
          <p:txBody>
            <a:bodyPr anchor="ctr" rtlCol="false" tIns="50800" lIns="50800" bIns="50800" rIns="50800"/>
            <a:lstStyle/>
            <a:p>
              <a:pPr algn="ctr">
                <a:lnSpc>
                  <a:spcPts val="3010"/>
                </a:lnSpc>
              </a:pPr>
              <a:r>
                <a:rPr lang="en-US" sz="2150" b="true">
                  <a:solidFill>
                    <a:srgbClr val="FFFFFF"/>
                  </a:solidFill>
                  <a:latin typeface="Poppins Bold"/>
                  <a:ea typeface="Poppins Bold"/>
                  <a:cs typeface="Poppins Bold"/>
                  <a:sym typeface="Poppins Bold"/>
                </a:rPr>
                <a:t>Anomaly score calculation</a:t>
              </a:r>
            </a:p>
            <a:p>
              <a:pPr algn="ctr">
                <a:lnSpc>
                  <a:spcPts val="3010"/>
                </a:lnSpc>
              </a:pPr>
              <a:r>
                <a:rPr lang="en-US" sz="2150" b="true">
                  <a:solidFill>
                    <a:srgbClr val="FFFFFF"/>
                  </a:solidFill>
                  <a:latin typeface="Poppins Bold"/>
                  <a:ea typeface="Poppins Bold"/>
                  <a:cs typeface="Poppins Bold"/>
                  <a:sym typeface="Poppins Bold"/>
                </a:rPr>
                <a:t>Volume Scaled=Trading Volume/1,000,000</a:t>
              </a:r>
            </a:p>
            <a:p>
              <a:pPr algn="ctr">
                <a:lnSpc>
                  <a:spcPts val="3010"/>
                </a:lnSpc>
              </a:pPr>
              <a:r>
                <a:rPr lang="en-US" sz="2150" b="true">
                  <a:solidFill>
                    <a:srgbClr val="FFFFFF"/>
                  </a:solidFill>
                  <a:latin typeface="Poppins Bold"/>
                  <a:ea typeface="Poppins Bold"/>
                  <a:cs typeface="Poppins Bold"/>
                  <a:sym typeface="Poppins Bold"/>
                </a:rPr>
                <a:t>Anomaly Score=(Absolute Deviation) /(Volume Scaled+ϵ​)</a:t>
              </a:r>
            </a:p>
            <a:p>
              <a:pPr algn="ctr">
                <a:lnSpc>
                  <a:spcPts val="3010"/>
                </a:lnSpc>
              </a:pPr>
            </a:p>
          </p:txBody>
        </p:sp>
      </p:grpSp>
      <p:grpSp>
        <p:nvGrpSpPr>
          <p:cNvPr name="Group 32" id="32"/>
          <p:cNvGrpSpPr/>
          <p:nvPr/>
        </p:nvGrpSpPr>
        <p:grpSpPr>
          <a:xfrm rot="0">
            <a:off x="3082025" y="6138080"/>
            <a:ext cx="6898951" cy="4039675"/>
            <a:chOff x="0" y="0"/>
            <a:chExt cx="1817008" cy="1063947"/>
          </a:xfrm>
        </p:grpSpPr>
        <p:sp>
          <p:nvSpPr>
            <p:cNvPr name="Freeform 33" id="33"/>
            <p:cNvSpPr/>
            <p:nvPr/>
          </p:nvSpPr>
          <p:spPr>
            <a:xfrm flipH="false" flipV="false" rot="0">
              <a:off x="0" y="0"/>
              <a:ext cx="1817008" cy="1063947"/>
            </a:xfrm>
            <a:custGeom>
              <a:avLst/>
              <a:gdLst/>
              <a:ahLst/>
              <a:cxnLst/>
              <a:rect r="r" b="b" t="t" l="l"/>
              <a:pathLst>
                <a:path h="1063947" w="1817008">
                  <a:moveTo>
                    <a:pt x="19077" y="0"/>
                  </a:moveTo>
                  <a:lnTo>
                    <a:pt x="1797931" y="0"/>
                  </a:lnTo>
                  <a:cubicBezTo>
                    <a:pt x="1808467" y="0"/>
                    <a:pt x="1817008" y="8541"/>
                    <a:pt x="1817008" y="19077"/>
                  </a:cubicBezTo>
                  <a:lnTo>
                    <a:pt x="1817008" y="1044870"/>
                  </a:lnTo>
                  <a:cubicBezTo>
                    <a:pt x="1817008" y="1055406"/>
                    <a:pt x="1808467" y="1063947"/>
                    <a:pt x="1797931" y="1063947"/>
                  </a:cubicBezTo>
                  <a:lnTo>
                    <a:pt x="19077" y="1063947"/>
                  </a:lnTo>
                  <a:cubicBezTo>
                    <a:pt x="8541" y="1063947"/>
                    <a:pt x="0" y="1055406"/>
                    <a:pt x="0" y="1044870"/>
                  </a:cubicBezTo>
                  <a:lnTo>
                    <a:pt x="0" y="19077"/>
                  </a:lnTo>
                  <a:cubicBezTo>
                    <a:pt x="0" y="8541"/>
                    <a:pt x="8541" y="0"/>
                    <a:pt x="19077" y="0"/>
                  </a:cubicBezTo>
                  <a:close/>
                </a:path>
              </a:pathLst>
            </a:custGeom>
            <a:solidFill>
              <a:srgbClr val="134161"/>
            </a:solidFill>
          </p:spPr>
        </p:sp>
        <p:sp>
          <p:nvSpPr>
            <p:cNvPr name="TextBox 34" id="34"/>
            <p:cNvSpPr txBox="true"/>
            <p:nvPr/>
          </p:nvSpPr>
          <p:spPr>
            <a:xfrm>
              <a:off x="0" y="-66675"/>
              <a:ext cx="1817008" cy="1130622"/>
            </a:xfrm>
            <a:prstGeom prst="rect">
              <a:avLst/>
            </a:prstGeom>
          </p:spPr>
          <p:txBody>
            <a:bodyPr anchor="ctr" rtlCol="false" tIns="50800" lIns="50800" bIns="50800" rIns="50800"/>
            <a:lstStyle/>
            <a:p>
              <a:pPr algn="ctr">
                <a:lnSpc>
                  <a:spcPts val="3010"/>
                </a:lnSpc>
              </a:pPr>
              <a:r>
                <a:rPr lang="en-US" sz="2150" b="true">
                  <a:solidFill>
                    <a:srgbClr val="FFFFFF"/>
                  </a:solidFill>
                  <a:latin typeface="Poppins Bold"/>
                  <a:ea typeface="Poppins Bold"/>
                  <a:cs typeface="Poppins Bold"/>
                  <a:sym typeface="Poppins Bold"/>
                </a:rPr>
                <a:t>Ex:-JKH Actual Price     = Rs. 19.5000</a:t>
              </a:r>
            </a:p>
            <a:p>
              <a:pPr algn="ctr">
                <a:lnSpc>
                  <a:spcPts val="3010"/>
                </a:lnSpc>
              </a:pPr>
              <a:r>
                <a:rPr lang="en-US" sz="2150" b="true">
                  <a:solidFill>
                    <a:srgbClr val="FFFFFF"/>
                  </a:solidFill>
                  <a:latin typeface="Poppins Bold"/>
                  <a:ea typeface="Poppins Bold"/>
                  <a:cs typeface="Poppins Bold"/>
                  <a:sym typeface="Poppins Bold"/>
                </a:rPr>
                <a:t>Expected Price       = Rs. 19.4813</a:t>
              </a:r>
            </a:p>
            <a:p>
              <a:pPr algn="ctr">
                <a:lnSpc>
                  <a:spcPts val="3010"/>
                </a:lnSpc>
              </a:pPr>
              <a:r>
                <a:rPr lang="en-US" sz="2150" b="true">
                  <a:solidFill>
                    <a:srgbClr val="FFFFFF"/>
                  </a:solidFill>
                  <a:latin typeface="Poppins Bold"/>
                  <a:ea typeface="Poppins Bold"/>
                  <a:cs typeface="Poppins Bold"/>
                  <a:sym typeface="Poppins Bold"/>
                </a:rPr>
                <a:t>Absolute Deviation   = Rs. 0.0187</a:t>
              </a:r>
            </a:p>
            <a:p>
              <a:pPr algn="ctr">
                <a:lnSpc>
                  <a:spcPts val="3010"/>
                </a:lnSpc>
              </a:pPr>
              <a:r>
                <a:rPr lang="en-US" sz="2150" b="true">
                  <a:solidFill>
                    <a:srgbClr val="FFFFFF"/>
                  </a:solidFill>
                  <a:latin typeface="Poppins Bold"/>
                  <a:ea typeface="Poppins Bold"/>
                  <a:cs typeface="Poppins Bold"/>
                  <a:sym typeface="Poppins Bold"/>
                </a:rPr>
                <a:t>Volume               = 7.972722 million</a:t>
              </a:r>
            </a:p>
            <a:p>
              <a:pPr algn="ctr">
                <a:lnSpc>
                  <a:spcPts val="3010"/>
                </a:lnSpc>
              </a:pPr>
            </a:p>
            <a:p>
              <a:pPr algn="ctr">
                <a:lnSpc>
                  <a:spcPts val="3010"/>
                </a:lnSpc>
              </a:pPr>
              <a:r>
                <a:rPr lang="en-US" sz="2150" b="true">
                  <a:solidFill>
                    <a:srgbClr val="FFFFFF"/>
                  </a:solidFill>
                  <a:latin typeface="Poppins Bold"/>
                  <a:ea typeface="Poppins Bold"/>
                  <a:cs typeface="Poppins Bold"/>
                  <a:sym typeface="Poppins Bold"/>
                </a:rPr>
                <a:t>Anomaly Score = 0.0187 / 7.972722</a:t>
              </a:r>
            </a:p>
            <a:p>
              <a:pPr algn="ctr">
                <a:lnSpc>
                  <a:spcPts val="3010"/>
                </a:lnSpc>
              </a:pPr>
              <a:r>
                <a:rPr lang="en-US" sz="2150" b="true">
                  <a:solidFill>
                    <a:srgbClr val="FFFFFF"/>
                  </a:solidFill>
                  <a:latin typeface="Poppins Bold"/>
                  <a:ea typeface="Poppins Bold"/>
                  <a:cs typeface="Poppins Bold"/>
                  <a:sym typeface="Poppins Bold"/>
                </a:rPr>
                <a:t>              = 0.002345</a:t>
              </a:r>
            </a:p>
            <a:p>
              <a:pPr algn="ctr">
                <a:lnSpc>
                  <a:spcPts val="3010"/>
                </a:lnSpc>
              </a:pPr>
            </a:p>
            <a:p>
              <a:pPr algn="ctr">
                <a:lnSpc>
                  <a:spcPts val="3010"/>
                </a:lnSpc>
              </a:pPr>
              <a:r>
                <a:rPr lang="en-US" sz="2150" b="true">
                  <a:solidFill>
                    <a:srgbClr val="FFFFFF"/>
                  </a:solidFill>
                  <a:latin typeface="Poppins Bold"/>
                  <a:ea typeface="Poppins Bold"/>
                  <a:cs typeface="Poppins Bold"/>
                  <a:sym typeface="Poppins Bold"/>
                </a:rPr>
                <a:t>0.002345 &lt; 0.446011 threshold</a:t>
              </a:r>
            </a:p>
            <a:p>
              <a:pPr algn="ctr">
                <a:lnSpc>
                  <a:spcPts val="3010"/>
                </a:lnSpc>
              </a:pPr>
              <a:r>
                <a:rPr lang="en-US" b="true" sz="2150">
                  <a:solidFill>
                    <a:srgbClr val="FFFFFF"/>
                  </a:solidFill>
                  <a:latin typeface="Poppins Bold"/>
                  <a:ea typeface="Poppins Bold"/>
                  <a:cs typeface="Poppins Bold"/>
                  <a:sym typeface="Poppins Bold"/>
                </a:rPr>
                <a:t>Result: No anomaly</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true" rot="0">
            <a:off x="-356742" y="-443118"/>
            <a:ext cx="3499528" cy="2895860"/>
          </a:xfrm>
          <a:custGeom>
            <a:avLst/>
            <a:gdLst/>
            <a:ahLst/>
            <a:cxnLst/>
            <a:rect r="r" b="b" t="t" l="l"/>
            <a:pathLst>
              <a:path h="2895860" w="3499528">
                <a:moveTo>
                  <a:pt x="0" y="2895859"/>
                </a:moveTo>
                <a:lnTo>
                  <a:pt x="3499528" y="2895859"/>
                </a:lnTo>
                <a:lnTo>
                  <a:pt x="3499528" y="0"/>
                </a:lnTo>
                <a:lnTo>
                  <a:pt x="0" y="0"/>
                </a:lnTo>
                <a:lnTo>
                  <a:pt x="0" y="289585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3604942" y="6731093"/>
            <a:ext cx="4604428" cy="3810164"/>
          </a:xfrm>
          <a:custGeom>
            <a:avLst/>
            <a:gdLst/>
            <a:ahLst/>
            <a:cxnLst/>
            <a:rect r="r" b="b" t="t" l="l"/>
            <a:pathLst>
              <a:path h="3810164" w="4604428">
                <a:moveTo>
                  <a:pt x="4604429" y="0"/>
                </a:moveTo>
                <a:lnTo>
                  <a:pt x="0" y="0"/>
                </a:lnTo>
                <a:lnTo>
                  <a:pt x="0" y="3810164"/>
                </a:lnTo>
                <a:lnTo>
                  <a:pt x="4604429" y="3810164"/>
                </a:lnTo>
                <a:lnTo>
                  <a:pt x="460442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577484" y="2721747"/>
            <a:ext cx="11872077" cy="577780"/>
            <a:chOff x="0" y="0"/>
            <a:chExt cx="3126802" cy="152173"/>
          </a:xfrm>
        </p:grpSpPr>
        <p:sp>
          <p:nvSpPr>
            <p:cNvPr name="Freeform 6" id="6"/>
            <p:cNvSpPr/>
            <p:nvPr/>
          </p:nvSpPr>
          <p:spPr>
            <a:xfrm flipH="false" flipV="false" rot="0">
              <a:off x="0" y="0"/>
              <a:ext cx="3126802" cy="152173"/>
            </a:xfrm>
            <a:custGeom>
              <a:avLst/>
              <a:gdLst/>
              <a:ahLst/>
              <a:cxnLst/>
              <a:rect r="r" b="b" t="t" l="l"/>
              <a:pathLst>
                <a:path h="152173" w="3126802">
                  <a:moveTo>
                    <a:pt x="33013" y="0"/>
                  </a:moveTo>
                  <a:lnTo>
                    <a:pt x="3093789" y="0"/>
                  </a:lnTo>
                  <a:cubicBezTo>
                    <a:pt x="3102545" y="0"/>
                    <a:pt x="3110942" y="3478"/>
                    <a:pt x="3117133" y="9669"/>
                  </a:cubicBezTo>
                  <a:cubicBezTo>
                    <a:pt x="3123324" y="15860"/>
                    <a:pt x="3126802" y="24258"/>
                    <a:pt x="3126802" y="33013"/>
                  </a:cubicBezTo>
                  <a:lnTo>
                    <a:pt x="3126802" y="119159"/>
                  </a:lnTo>
                  <a:cubicBezTo>
                    <a:pt x="3126802" y="127915"/>
                    <a:pt x="3123324" y="136312"/>
                    <a:pt x="3117133" y="142503"/>
                  </a:cubicBezTo>
                  <a:cubicBezTo>
                    <a:pt x="3110942" y="148694"/>
                    <a:pt x="3102545" y="152173"/>
                    <a:pt x="3093789" y="152173"/>
                  </a:cubicBezTo>
                  <a:lnTo>
                    <a:pt x="33013" y="152173"/>
                  </a:lnTo>
                  <a:cubicBezTo>
                    <a:pt x="14780" y="152173"/>
                    <a:pt x="0" y="137392"/>
                    <a:pt x="0" y="119159"/>
                  </a:cubicBezTo>
                  <a:lnTo>
                    <a:pt x="0" y="33013"/>
                  </a:lnTo>
                  <a:cubicBezTo>
                    <a:pt x="0" y="14780"/>
                    <a:pt x="14780" y="0"/>
                    <a:pt x="33013" y="0"/>
                  </a:cubicBezTo>
                  <a:close/>
                </a:path>
              </a:pathLst>
            </a:custGeom>
            <a:solidFill>
              <a:srgbClr val="134161"/>
            </a:solidFill>
          </p:spPr>
        </p:sp>
        <p:sp>
          <p:nvSpPr>
            <p:cNvPr name="TextBox 7" id="7"/>
            <p:cNvSpPr txBox="true"/>
            <p:nvPr/>
          </p:nvSpPr>
          <p:spPr>
            <a:xfrm>
              <a:off x="0" y="-57150"/>
              <a:ext cx="3126802" cy="209323"/>
            </a:xfrm>
            <a:prstGeom prst="rect">
              <a:avLst/>
            </a:prstGeom>
          </p:spPr>
          <p:txBody>
            <a:bodyPr anchor="ctr" rtlCol="false" tIns="50800" lIns="50800" bIns="50800" rIns="50800"/>
            <a:lstStyle/>
            <a:p>
              <a:pPr algn="ctr">
                <a:lnSpc>
                  <a:spcPts val="2379"/>
                </a:lnSpc>
              </a:pPr>
            </a:p>
          </p:txBody>
        </p:sp>
      </p:grpSp>
      <p:grpSp>
        <p:nvGrpSpPr>
          <p:cNvPr name="Group 8" id="8"/>
          <p:cNvGrpSpPr/>
          <p:nvPr/>
        </p:nvGrpSpPr>
        <p:grpSpPr>
          <a:xfrm rot="0">
            <a:off x="1495851" y="5252152"/>
            <a:ext cx="4636496" cy="659791"/>
            <a:chOff x="0" y="0"/>
            <a:chExt cx="885013" cy="125941"/>
          </a:xfrm>
        </p:grpSpPr>
        <p:sp>
          <p:nvSpPr>
            <p:cNvPr name="Freeform 9" id="9"/>
            <p:cNvSpPr/>
            <p:nvPr/>
          </p:nvSpPr>
          <p:spPr>
            <a:xfrm flipH="false" flipV="false" rot="0">
              <a:off x="0" y="0"/>
              <a:ext cx="885013" cy="125941"/>
            </a:xfrm>
            <a:custGeom>
              <a:avLst/>
              <a:gdLst/>
              <a:ahLst/>
              <a:cxnLst/>
              <a:rect r="r" b="b" t="t" l="l"/>
              <a:pathLst>
                <a:path h="125941" w="885013">
                  <a:moveTo>
                    <a:pt x="62970" y="0"/>
                  </a:moveTo>
                  <a:lnTo>
                    <a:pt x="822043" y="0"/>
                  </a:lnTo>
                  <a:cubicBezTo>
                    <a:pt x="856821" y="0"/>
                    <a:pt x="885013" y="28193"/>
                    <a:pt x="885013" y="62970"/>
                  </a:cubicBezTo>
                  <a:lnTo>
                    <a:pt x="885013" y="62970"/>
                  </a:lnTo>
                  <a:cubicBezTo>
                    <a:pt x="885013" y="79671"/>
                    <a:pt x="878379" y="95688"/>
                    <a:pt x="866570" y="107497"/>
                  </a:cubicBezTo>
                  <a:cubicBezTo>
                    <a:pt x="854761" y="119306"/>
                    <a:pt x="838744" y="125941"/>
                    <a:pt x="822043" y="125941"/>
                  </a:cubicBezTo>
                  <a:lnTo>
                    <a:pt x="62970" y="125941"/>
                  </a:lnTo>
                  <a:cubicBezTo>
                    <a:pt x="28193" y="125941"/>
                    <a:pt x="0" y="97748"/>
                    <a:pt x="0" y="62970"/>
                  </a:cubicBezTo>
                  <a:lnTo>
                    <a:pt x="0" y="62970"/>
                  </a:lnTo>
                  <a:cubicBezTo>
                    <a:pt x="0" y="28193"/>
                    <a:pt x="28193" y="0"/>
                    <a:pt x="62970" y="0"/>
                  </a:cubicBezTo>
                  <a:close/>
                </a:path>
              </a:pathLst>
            </a:custGeom>
            <a:solidFill>
              <a:srgbClr val="134161"/>
            </a:solidFill>
          </p:spPr>
        </p:sp>
        <p:sp>
          <p:nvSpPr>
            <p:cNvPr name="TextBox 10" id="10"/>
            <p:cNvSpPr txBox="true"/>
            <p:nvPr/>
          </p:nvSpPr>
          <p:spPr>
            <a:xfrm>
              <a:off x="0" y="-57150"/>
              <a:ext cx="885013" cy="183091"/>
            </a:xfrm>
            <a:prstGeom prst="rect">
              <a:avLst/>
            </a:prstGeom>
          </p:spPr>
          <p:txBody>
            <a:bodyPr anchor="ctr" rtlCol="false" tIns="50800" lIns="50800" bIns="50800" rIns="50800"/>
            <a:lstStyle/>
            <a:p>
              <a:pPr algn="ctr">
                <a:lnSpc>
                  <a:spcPts val="2379"/>
                </a:lnSpc>
              </a:pPr>
            </a:p>
          </p:txBody>
        </p:sp>
      </p:grpSp>
      <p:sp>
        <p:nvSpPr>
          <p:cNvPr name="Freeform 11" id="11"/>
          <p:cNvSpPr/>
          <p:nvPr/>
        </p:nvSpPr>
        <p:spPr>
          <a:xfrm flipH="false" flipV="false" rot="0">
            <a:off x="16706843" y="362135"/>
            <a:ext cx="2157541" cy="187266"/>
          </a:xfrm>
          <a:custGeom>
            <a:avLst/>
            <a:gdLst/>
            <a:ahLst/>
            <a:cxnLst/>
            <a:rect r="r" b="b" t="t" l="l"/>
            <a:pathLst>
              <a:path h="187266" w="2157541">
                <a:moveTo>
                  <a:pt x="0" y="0"/>
                </a:moveTo>
                <a:lnTo>
                  <a:pt x="2157541" y="0"/>
                </a:lnTo>
                <a:lnTo>
                  <a:pt x="2157541" y="187266"/>
                </a:lnTo>
                <a:lnTo>
                  <a:pt x="0" y="187266"/>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sp>
        <p:nvSpPr>
          <p:cNvPr name="Freeform 12" id="12"/>
          <p:cNvSpPr/>
          <p:nvPr/>
        </p:nvSpPr>
        <p:spPr>
          <a:xfrm flipH="false" flipV="false" rot="0">
            <a:off x="6160983" y="9380013"/>
            <a:ext cx="2157541" cy="187266"/>
          </a:xfrm>
          <a:custGeom>
            <a:avLst/>
            <a:gdLst/>
            <a:ahLst/>
            <a:cxnLst/>
            <a:rect r="r" b="b" t="t" l="l"/>
            <a:pathLst>
              <a:path h="187266" w="2157541">
                <a:moveTo>
                  <a:pt x="0" y="0"/>
                </a:moveTo>
                <a:lnTo>
                  <a:pt x="2157541" y="0"/>
                </a:lnTo>
                <a:lnTo>
                  <a:pt x="2157541" y="187266"/>
                </a:lnTo>
                <a:lnTo>
                  <a:pt x="0" y="187266"/>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grpSp>
        <p:nvGrpSpPr>
          <p:cNvPr name="Group 13" id="13"/>
          <p:cNvGrpSpPr/>
          <p:nvPr/>
        </p:nvGrpSpPr>
        <p:grpSpPr>
          <a:xfrm rot="0">
            <a:off x="9047076" y="5252152"/>
            <a:ext cx="5182457" cy="659791"/>
            <a:chOff x="0" y="0"/>
            <a:chExt cx="989226" cy="125941"/>
          </a:xfrm>
        </p:grpSpPr>
        <p:sp>
          <p:nvSpPr>
            <p:cNvPr name="Freeform 14" id="14"/>
            <p:cNvSpPr/>
            <p:nvPr/>
          </p:nvSpPr>
          <p:spPr>
            <a:xfrm flipH="false" flipV="false" rot="0">
              <a:off x="0" y="0"/>
              <a:ext cx="989226" cy="125941"/>
            </a:xfrm>
            <a:custGeom>
              <a:avLst/>
              <a:gdLst/>
              <a:ahLst/>
              <a:cxnLst/>
              <a:rect r="r" b="b" t="t" l="l"/>
              <a:pathLst>
                <a:path h="125941" w="989226">
                  <a:moveTo>
                    <a:pt x="62970" y="0"/>
                  </a:moveTo>
                  <a:lnTo>
                    <a:pt x="926256" y="0"/>
                  </a:lnTo>
                  <a:cubicBezTo>
                    <a:pt x="961033" y="0"/>
                    <a:pt x="989226" y="28193"/>
                    <a:pt x="989226" y="62970"/>
                  </a:cubicBezTo>
                  <a:lnTo>
                    <a:pt x="989226" y="62970"/>
                  </a:lnTo>
                  <a:cubicBezTo>
                    <a:pt x="989226" y="79671"/>
                    <a:pt x="982592" y="95688"/>
                    <a:pt x="970783" y="107497"/>
                  </a:cubicBezTo>
                  <a:cubicBezTo>
                    <a:pt x="958973" y="119306"/>
                    <a:pt x="942957" y="125941"/>
                    <a:pt x="926256" y="125941"/>
                  </a:cubicBezTo>
                  <a:lnTo>
                    <a:pt x="62970" y="125941"/>
                  </a:lnTo>
                  <a:cubicBezTo>
                    <a:pt x="28193" y="125941"/>
                    <a:pt x="0" y="97748"/>
                    <a:pt x="0" y="62970"/>
                  </a:cubicBezTo>
                  <a:lnTo>
                    <a:pt x="0" y="62970"/>
                  </a:lnTo>
                  <a:cubicBezTo>
                    <a:pt x="0" y="28193"/>
                    <a:pt x="28193" y="0"/>
                    <a:pt x="62970" y="0"/>
                  </a:cubicBezTo>
                  <a:close/>
                </a:path>
              </a:pathLst>
            </a:custGeom>
            <a:solidFill>
              <a:srgbClr val="134161"/>
            </a:solidFill>
          </p:spPr>
        </p:sp>
        <p:sp>
          <p:nvSpPr>
            <p:cNvPr name="TextBox 15" id="15"/>
            <p:cNvSpPr txBox="true"/>
            <p:nvPr/>
          </p:nvSpPr>
          <p:spPr>
            <a:xfrm>
              <a:off x="0" y="-57150"/>
              <a:ext cx="989226" cy="183091"/>
            </a:xfrm>
            <a:prstGeom prst="rect">
              <a:avLst/>
            </a:prstGeom>
          </p:spPr>
          <p:txBody>
            <a:bodyPr anchor="ctr" rtlCol="false" tIns="50800" lIns="50800" bIns="50800" rIns="50800"/>
            <a:lstStyle/>
            <a:p>
              <a:pPr algn="ctr">
                <a:lnSpc>
                  <a:spcPts val="2379"/>
                </a:lnSpc>
              </a:pPr>
            </a:p>
          </p:txBody>
        </p:sp>
      </p:grpSp>
      <p:sp>
        <p:nvSpPr>
          <p:cNvPr name="Freeform 16" id="16"/>
          <p:cNvSpPr/>
          <p:nvPr/>
        </p:nvSpPr>
        <p:spPr>
          <a:xfrm flipH="false" flipV="false" rot="0">
            <a:off x="14711881" y="628459"/>
            <a:ext cx="3472514" cy="2940143"/>
          </a:xfrm>
          <a:custGeom>
            <a:avLst/>
            <a:gdLst/>
            <a:ahLst/>
            <a:cxnLst/>
            <a:rect r="r" b="b" t="t" l="l"/>
            <a:pathLst>
              <a:path h="2940143" w="3472514">
                <a:moveTo>
                  <a:pt x="0" y="0"/>
                </a:moveTo>
                <a:lnTo>
                  <a:pt x="3472514" y="0"/>
                </a:lnTo>
                <a:lnTo>
                  <a:pt x="3472514" y="2940143"/>
                </a:lnTo>
                <a:lnTo>
                  <a:pt x="0" y="2940143"/>
                </a:lnTo>
                <a:lnTo>
                  <a:pt x="0" y="0"/>
                </a:lnTo>
                <a:close/>
              </a:path>
            </a:pathLst>
          </a:custGeom>
          <a:blipFill>
            <a:blip r:embed="rId7"/>
            <a:stretch>
              <a:fillRect l="0" t="0" r="0" b="0"/>
            </a:stretch>
          </a:blipFill>
        </p:spPr>
      </p:sp>
      <p:sp>
        <p:nvSpPr>
          <p:cNvPr name="TextBox 17" id="17"/>
          <p:cNvSpPr txBox="true"/>
          <p:nvPr/>
        </p:nvSpPr>
        <p:spPr>
          <a:xfrm rot="0">
            <a:off x="1135270" y="1235427"/>
            <a:ext cx="14244685" cy="1124947"/>
          </a:xfrm>
          <a:prstGeom prst="rect">
            <a:avLst/>
          </a:prstGeom>
        </p:spPr>
        <p:txBody>
          <a:bodyPr anchor="t" rtlCol="false" tIns="0" lIns="0" bIns="0" rIns="0">
            <a:spAutoFit/>
          </a:bodyPr>
          <a:lstStyle/>
          <a:p>
            <a:pPr algn="l">
              <a:lnSpc>
                <a:spcPts val="9155"/>
              </a:lnSpc>
              <a:spcBef>
                <a:spcPct val="0"/>
              </a:spcBef>
            </a:pPr>
            <a:r>
              <a:rPr lang="en-US" sz="6539">
                <a:solidFill>
                  <a:srgbClr val="FFFFFF"/>
                </a:solidFill>
                <a:latin typeface="Archivo Black"/>
                <a:ea typeface="Archivo Black"/>
                <a:cs typeface="Archivo Black"/>
                <a:sym typeface="Archivo Black"/>
              </a:rPr>
              <a:t>Fernando K C S | IT21471162</a:t>
            </a:r>
          </a:p>
        </p:txBody>
      </p:sp>
      <p:sp>
        <p:nvSpPr>
          <p:cNvPr name="TextBox 18" id="18"/>
          <p:cNvSpPr txBox="true"/>
          <p:nvPr/>
        </p:nvSpPr>
        <p:spPr>
          <a:xfrm rot="0">
            <a:off x="1899488" y="2782671"/>
            <a:ext cx="13042138" cy="398781"/>
          </a:xfrm>
          <a:prstGeom prst="rect">
            <a:avLst/>
          </a:prstGeom>
        </p:spPr>
        <p:txBody>
          <a:bodyPr anchor="t" rtlCol="false" tIns="0" lIns="0" bIns="0" rIns="0">
            <a:spAutoFit/>
          </a:bodyPr>
          <a:lstStyle/>
          <a:p>
            <a:pPr algn="l">
              <a:lnSpc>
                <a:spcPts val="3219"/>
              </a:lnSpc>
            </a:pPr>
            <a:r>
              <a:rPr lang="en-US" b="true" sz="2299">
                <a:solidFill>
                  <a:srgbClr val="FFFFFF"/>
                </a:solidFill>
                <a:latin typeface="Poppins Bold"/>
                <a:ea typeface="Poppins Bold"/>
                <a:cs typeface="Poppins Bold"/>
                <a:sym typeface="Poppins Bold"/>
              </a:rPr>
              <a:t>Financial Docum</a:t>
            </a:r>
            <a:r>
              <a:rPr lang="en-US" b="true" sz="2299">
                <a:solidFill>
                  <a:srgbClr val="FFFFFF"/>
                </a:solidFill>
                <a:latin typeface="Poppins Bold"/>
                <a:ea typeface="Poppins Bold"/>
                <a:cs typeface="Poppins Bold"/>
                <a:sym typeface="Poppins Bold"/>
              </a:rPr>
              <a:t>ent Understanding and Language-Driven Insight Extraction</a:t>
            </a:r>
          </a:p>
        </p:txBody>
      </p:sp>
      <p:sp>
        <p:nvSpPr>
          <p:cNvPr name="TextBox 19" id="19"/>
          <p:cNvSpPr txBox="true"/>
          <p:nvPr/>
        </p:nvSpPr>
        <p:spPr>
          <a:xfrm rot="0">
            <a:off x="1574480" y="5269327"/>
            <a:ext cx="4479238" cy="492648"/>
          </a:xfrm>
          <a:prstGeom prst="rect">
            <a:avLst/>
          </a:prstGeom>
        </p:spPr>
        <p:txBody>
          <a:bodyPr anchor="t" rtlCol="false" tIns="0" lIns="0" bIns="0" rIns="0">
            <a:spAutoFit/>
          </a:bodyPr>
          <a:lstStyle/>
          <a:p>
            <a:pPr algn="ctr">
              <a:lnSpc>
                <a:spcPts val="3821"/>
              </a:lnSpc>
              <a:spcBef>
                <a:spcPct val="0"/>
              </a:spcBef>
            </a:pPr>
            <a:r>
              <a:rPr lang="en-US" b="true" sz="2729">
                <a:solidFill>
                  <a:srgbClr val="FFFFFF"/>
                </a:solidFill>
                <a:latin typeface="Poppins Bold"/>
                <a:ea typeface="Poppins Bold"/>
                <a:cs typeface="Poppins Bold"/>
                <a:sym typeface="Poppins Bold"/>
              </a:rPr>
              <a:t>Novelty </a:t>
            </a:r>
          </a:p>
        </p:txBody>
      </p:sp>
      <p:sp>
        <p:nvSpPr>
          <p:cNvPr name="TextBox 20" id="20"/>
          <p:cNvSpPr txBox="true"/>
          <p:nvPr/>
        </p:nvSpPr>
        <p:spPr>
          <a:xfrm rot="0">
            <a:off x="1577484" y="6029678"/>
            <a:ext cx="4476234" cy="2825907"/>
          </a:xfrm>
          <a:prstGeom prst="rect">
            <a:avLst/>
          </a:prstGeom>
        </p:spPr>
        <p:txBody>
          <a:bodyPr anchor="t" rtlCol="false" tIns="0" lIns="0" bIns="0" rIns="0">
            <a:spAutoFit/>
          </a:bodyPr>
          <a:lstStyle/>
          <a:p>
            <a:pPr algn="ctr">
              <a:lnSpc>
                <a:spcPts val="2791"/>
              </a:lnSpc>
              <a:spcBef>
                <a:spcPct val="0"/>
              </a:spcBef>
            </a:pPr>
            <a:r>
              <a:rPr lang="en-US" sz="1993">
                <a:solidFill>
                  <a:srgbClr val="FFFFFF"/>
                </a:solidFill>
                <a:latin typeface="Poppins"/>
                <a:ea typeface="Poppins"/>
                <a:cs typeface="Poppins"/>
                <a:sym typeface="Poppins"/>
              </a:rPr>
              <a:t>A source-grounded prompt-engineering framework for financial reports that compares ten prompt</a:t>
            </a:r>
            <a:r>
              <a:rPr lang="en-US" sz="1993">
                <a:solidFill>
                  <a:srgbClr val="FFFFFF"/>
                </a:solidFill>
                <a:latin typeface="Poppins"/>
                <a:ea typeface="Poppins"/>
                <a:cs typeface="Poppins"/>
                <a:sym typeface="Poppins"/>
              </a:rPr>
              <a:t> strategies, evaluates their performance, and selects the best prompt to generate traceable, beginner-friendly investor insights with page-level evidence.</a:t>
            </a:r>
          </a:p>
        </p:txBody>
      </p:sp>
      <p:sp>
        <p:nvSpPr>
          <p:cNvPr name="TextBox 21" id="21"/>
          <p:cNvSpPr txBox="true"/>
          <p:nvPr/>
        </p:nvSpPr>
        <p:spPr>
          <a:xfrm rot="0">
            <a:off x="9116180" y="5359218"/>
            <a:ext cx="5103828" cy="407558"/>
          </a:xfrm>
          <a:prstGeom prst="rect">
            <a:avLst/>
          </a:prstGeom>
        </p:spPr>
        <p:txBody>
          <a:bodyPr anchor="t" rtlCol="false" tIns="0" lIns="0" bIns="0" rIns="0">
            <a:spAutoFit/>
          </a:bodyPr>
          <a:lstStyle/>
          <a:p>
            <a:pPr algn="ctr">
              <a:lnSpc>
                <a:spcPts val="3261"/>
              </a:lnSpc>
              <a:spcBef>
                <a:spcPct val="0"/>
              </a:spcBef>
            </a:pPr>
            <a:r>
              <a:rPr lang="en-US" b="true" sz="2329">
                <a:solidFill>
                  <a:srgbClr val="FFFFFF"/>
                </a:solidFill>
                <a:latin typeface="Poppins Bold"/>
                <a:ea typeface="Poppins Bold"/>
                <a:cs typeface="Poppins Bold"/>
                <a:sym typeface="Poppins Bold"/>
              </a:rPr>
              <a:t>Contribution to Overall Solution</a:t>
            </a:r>
          </a:p>
        </p:txBody>
      </p:sp>
      <p:sp>
        <p:nvSpPr>
          <p:cNvPr name="TextBox 22" id="22"/>
          <p:cNvSpPr txBox="true"/>
          <p:nvPr/>
        </p:nvSpPr>
        <p:spPr>
          <a:xfrm rot="0">
            <a:off x="9429977" y="6029678"/>
            <a:ext cx="4476234" cy="2825907"/>
          </a:xfrm>
          <a:prstGeom prst="rect">
            <a:avLst/>
          </a:prstGeom>
        </p:spPr>
        <p:txBody>
          <a:bodyPr anchor="t" rtlCol="false" tIns="0" lIns="0" bIns="0" rIns="0">
            <a:spAutoFit/>
          </a:bodyPr>
          <a:lstStyle/>
          <a:p>
            <a:pPr algn="ctr">
              <a:lnSpc>
                <a:spcPts val="2791"/>
              </a:lnSpc>
              <a:spcBef>
                <a:spcPct val="0"/>
              </a:spcBef>
            </a:pPr>
            <a:r>
              <a:rPr lang="en-US" sz="1993">
                <a:solidFill>
                  <a:srgbClr val="FFFFFF"/>
                </a:solidFill>
                <a:latin typeface="Poppins"/>
                <a:ea typeface="Poppins"/>
                <a:cs typeface="Poppins"/>
                <a:sym typeface="Poppins"/>
              </a:rPr>
              <a:t>Provides verified financial-report insights, including company performance, financial</a:t>
            </a:r>
            <a:r>
              <a:rPr lang="en-US" sz="1993">
                <a:solidFill>
                  <a:srgbClr val="FFFFFF"/>
                </a:solidFill>
                <a:latin typeface="Poppins"/>
                <a:ea typeface="Poppins"/>
                <a:cs typeface="Poppins"/>
                <a:sym typeface="Poppins"/>
              </a:rPr>
              <a:t> position, cash flow, risks, ratios, and future outlook, which are combined with market, news, sentiment, and risk analysis to produce the final integrated stock insight.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true" flipV="false" rot="0">
            <a:off x="14924349" y="7410120"/>
            <a:ext cx="3634918" cy="3300681"/>
          </a:xfrm>
          <a:custGeom>
            <a:avLst/>
            <a:gdLst/>
            <a:ahLst/>
            <a:cxnLst/>
            <a:rect r="r" b="b" t="t" l="l"/>
            <a:pathLst>
              <a:path h="3300681" w="3634918">
                <a:moveTo>
                  <a:pt x="3634918" y="0"/>
                </a:moveTo>
                <a:lnTo>
                  <a:pt x="0" y="0"/>
                </a:lnTo>
                <a:lnTo>
                  <a:pt x="0" y="3300681"/>
                </a:lnTo>
                <a:lnTo>
                  <a:pt x="3634918" y="3300681"/>
                </a:lnTo>
                <a:lnTo>
                  <a:pt x="3634918" y="0"/>
                </a:lnTo>
                <a:close/>
              </a:path>
            </a:pathLst>
          </a:custGeom>
          <a:blipFill>
            <a:blip r:embed="rId3">
              <a:extLst>
                <a:ext uri="{96DAC541-7B7A-43D3-8B79-37D633B846F1}">
                  <asvg:svgBlip xmlns:asvg="http://schemas.microsoft.com/office/drawing/2016/SVG/main" r:embed="rId4"/>
                </a:ext>
              </a:extLst>
            </a:blip>
            <a:stretch>
              <a:fillRect l="0" t="0" r="0" b="-10126"/>
            </a:stretch>
          </a:blipFill>
        </p:spPr>
      </p:sp>
      <p:sp>
        <p:nvSpPr>
          <p:cNvPr name="Freeform 4" id="4"/>
          <p:cNvSpPr/>
          <p:nvPr/>
        </p:nvSpPr>
        <p:spPr>
          <a:xfrm flipH="false" flipV="false" rot="0">
            <a:off x="-312426" y="7205417"/>
            <a:ext cx="3673321" cy="3335553"/>
          </a:xfrm>
          <a:custGeom>
            <a:avLst/>
            <a:gdLst/>
            <a:ahLst/>
            <a:cxnLst/>
            <a:rect r="r" b="b" t="t" l="l"/>
            <a:pathLst>
              <a:path h="3335553" w="3673321">
                <a:moveTo>
                  <a:pt x="0" y="0"/>
                </a:moveTo>
                <a:lnTo>
                  <a:pt x="3673322" y="0"/>
                </a:lnTo>
                <a:lnTo>
                  <a:pt x="3673322" y="3335554"/>
                </a:lnTo>
                <a:lnTo>
                  <a:pt x="0" y="3335554"/>
                </a:lnTo>
                <a:lnTo>
                  <a:pt x="0" y="0"/>
                </a:lnTo>
                <a:close/>
              </a:path>
            </a:pathLst>
          </a:custGeom>
          <a:blipFill>
            <a:blip r:embed="rId3">
              <a:extLst>
                <a:ext uri="{96DAC541-7B7A-43D3-8B79-37D633B846F1}">
                  <asvg:svgBlip xmlns:asvg="http://schemas.microsoft.com/office/drawing/2016/SVG/main" r:embed="rId4"/>
                </a:ext>
              </a:extLst>
            </a:blip>
            <a:stretch>
              <a:fillRect l="0" t="0" r="0" b="-10126"/>
            </a:stretch>
          </a:blipFill>
        </p:spPr>
      </p:sp>
      <p:grpSp>
        <p:nvGrpSpPr>
          <p:cNvPr name="Group 5" id="5"/>
          <p:cNvGrpSpPr/>
          <p:nvPr/>
        </p:nvGrpSpPr>
        <p:grpSpPr>
          <a:xfrm rot="0">
            <a:off x="9311855" y="269499"/>
            <a:ext cx="9893488" cy="717097"/>
            <a:chOff x="0" y="0"/>
            <a:chExt cx="13191318" cy="956129"/>
          </a:xfrm>
        </p:grpSpPr>
        <p:grpSp>
          <p:nvGrpSpPr>
            <p:cNvPr name="Group 6" id="6"/>
            <p:cNvGrpSpPr/>
            <p:nvPr/>
          </p:nvGrpSpPr>
          <p:grpSpPr>
            <a:xfrm rot="0">
              <a:off x="0" y="0"/>
              <a:ext cx="9626990" cy="676416"/>
              <a:chOff x="0" y="0"/>
              <a:chExt cx="1901628" cy="133613"/>
            </a:xfrm>
          </p:grpSpPr>
          <p:sp>
            <p:nvSpPr>
              <p:cNvPr name="Freeform 7" id="7"/>
              <p:cNvSpPr/>
              <p:nvPr/>
            </p:nvSpPr>
            <p:spPr>
              <a:xfrm flipH="false" flipV="false" rot="0">
                <a:off x="0" y="0"/>
                <a:ext cx="1901628" cy="133613"/>
              </a:xfrm>
              <a:custGeom>
                <a:avLst/>
                <a:gdLst/>
                <a:ahLst/>
                <a:cxnLst/>
                <a:rect r="r" b="b" t="t" l="l"/>
                <a:pathLst>
                  <a:path h="133613" w="1901628">
                    <a:moveTo>
                      <a:pt x="54283" y="0"/>
                    </a:moveTo>
                    <a:lnTo>
                      <a:pt x="1847345" y="0"/>
                    </a:lnTo>
                    <a:cubicBezTo>
                      <a:pt x="1877325" y="0"/>
                      <a:pt x="1901628" y="24303"/>
                      <a:pt x="1901628" y="54283"/>
                    </a:cubicBezTo>
                    <a:lnTo>
                      <a:pt x="1901628" y="79330"/>
                    </a:lnTo>
                    <a:cubicBezTo>
                      <a:pt x="1901628" y="93727"/>
                      <a:pt x="1895909" y="107534"/>
                      <a:pt x="1885729" y="117714"/>
                    </a:cubicBezTo>
                    <a:cubicBezTo>
                      <a:pt x="1875549" y="127894"/>
                      <a:pt x="1861742" y="133613"/>
                      <a:pt x="1847345" y="133613"/>
                    </a:cubicBezTo>
                    <a:lnTo>
                      <a:pt x="54283" y="133613"/>
                    </a:lnTo>
                    <a:cubicBezTo>
                      <a:pt x="24303" y="133613"/>
                      <a:pt x="0" y="109310"/>
                      <a:pt x="0" y="79330"/>
                    </a:cubicBezTo>
                    <a:lnTo>
                      <a:pt x="0" y="54283"/>
                    </a:lnTo>
                    <a:cubicBezTo>
                      <a:pt x="0" y="24303"/>
                      <a:pt x="24303" y="0"/>
                      <a:pt x="54283" y="0"/>
                    </a:cubicBezTo>
                    <a:close/>
                  </a:path>
                </a:pathLst>
              </a:custGeom>
              <a:solidFill>
                <a:srgbClr val="134161"/>
              </a:solidFill>
            </p:spPr>
          </p:sp>
          <p:sp>
            <p:nvSpPr>
              <p:cNvPr name="TextBox 8" id="8"/>
              <p:cNvSpPr txBox="true"/>
              <p:nvPr/>
            </p:nvSpPr>
            <p:spPr>
              <a:xfrm>
                <a:off x="0" y="-38100"/>
                <a:ext cx="1901628" cy="171713"/>
              </a:xfrm>
              <a:prstGeom prst="rect">
                <a:avLst/>
              </a:prstGeom>
            </p:spPr>
            <p:txBody>
              <a:bodyPr anchor="ctr" rtlCol="false" tIns="50800" lIns="50800" bIns="50800" rIns="50800"/>
              <a:lstStyle/>
              <a:p>
                <a:pPr algn="ctr">
                  <a:lnSpc>
                    <a:spcPts val="1540"/>
                  </a:lnSpc>
                </a:pPr>
              </a:p>
            </p:txBody>
          </p:sp>
        </p:grpSp>
        <p:sp>
          <p:nvSpPr>
            <p:cNvPr name="TextBox 9" id="9"/>
            <p:cNvSpPr txBox="true"/>
            <p:nvPr/>
          </p:nvSpPr>
          <p:spPr>
            <a:xfrm rot="0">
              <a:off x="267620" y="74325"/>
              <a:ext cx="12923698" cy="881804"/>
            </a:xfrm>
            <a:prstGeom prst="rect">
              <a:avLst/>
            </a:prstGeom>
          </p:spPr>
          <p:txBody>
            <a:bodyPr anchor="t" rtlCol="false" tIns="0" lIns="0" bIns="0" rIns="0">
              <a:spAutoFit/>
            </a:bodyPr>
            <a:lstStyle/>
            <a:p>
              <a:pPr algn="l">
                <a:lnSpc>
                  <a:spcPts val="2659"/>
                </a:lnSpc>
              </a:pPr>
              <a:r>
                <a:rPr lang="en-US" sz="1899" b="true">
                  <a:solidFill>
                    <a:srgbClr val="FFFFFF"/>
                  </a:solidFill>
                  <a:latin typeface="Poppins Bold"/>
                  <a:ea typeface="Poppins Bold"/>
                  <a:cs typeface="Poppins Bold"/>
                  <a:sym typeface="Poppins Bold"/>
                </a:rPr>
                <a:t>Financial Document Understanding and Language Driven insight</a:t>
              </a:r>
            </a:p>
            <a:p>
              <a:pPr algn="l">
                <a:lnSpc>
                  <a:spcPts val="2659"/>
                </a:lnSpc>
              </a:pPr>
              <a:r>
                <a:rPr lang="en-US" sz="1899" b="true">
                  <a:solidFill>
                    <a:srgbClr val="FFFFFF"/>
                  </a:solidFill>
                  <a:latin typeface="Poppins Bold"/>
                  <a:ea typeface="Poppins Bold"/>
                  <a:cs typeface="Poppins Bold"/>
                  <a:sym typeface="Poppins Bold"/>
                </a:rPr>
                <a:t> Extraction</a:t>
              </a:r>
            </a:p>
            <a:p>
              <a:pPr algn="l">
                <a:lnSpc>
                  <a:spcPts val="2659"/>
                </a:lnSpc>
              </a:pPr>
            </a:p>
          </p:txBody>
        </p:sp>
      </p:grpSp>
      <p:sp>
        <p:nvSpPr>
          <p:cNvPr name="TextBox 10" id="10"/>
          <p:cNvSpPr txBox="true"/>
          <p:nvPr/>
        </p:nvSpPr>
        <p:spPr>
          <a:xfrm rot="0">
            <a:off x="235860" y="231399"/>
            <a:ext cx="3909850" cy="333101"/>
          </a:xfrm>
          <a:prstGeom prst="rect">
            <a:avLst/>
          </a:prstGeom>
        </p:spPr>
        <p:txBody>
          <a:bodyPr anchor="t" rtlCol="false" tIns="0" lIns="0" bIns="0" rIns="0">
            <a:spAutoFit/>
          </a:bodyPr>
          <a:lstStyle/>
          <a:p>
            <a:pPr algn="l">
              <a:lnSpc>
                <a:spcPts val="2723"/>
              </a:lnSpc>
              <a:spcBef>
                <a:spcPct val="0"/>
              </a:spcBef>
            </a:pPr>
            <a:r>
              <a:rPr lang="en-US" sz="1945">
                <a:solidFill>
                  <a:srgbClr val="FFFFFF"/>
                </a:solidFill>
                <a:latin typeface="Archivo Black"/>
                <a:ea typeface="Archivo Black"/>
                <a:cs typeface="Archivo Black"/>
                <a:sym typeface="Archivo Black"/>
              </a:rPr>
              <a:t>Fernando K C S  IT21471162</a:t>
            </a:r>
          </a:p>
        </p:txBody>
      </p:sp>
      <p:grpSp>
        <p:nvGrpSpPr>
          <p:cNvPr name="Group 11" id="11"/>
          <p:cNvGrpSpPr/>
          <p:nvPr/>
        </p:nvGrpSpPr>
        <p:grpSpPr>
          <a:xfrm rot="0">
            <a:off x="6337297" y="1951532"/>
            <a:ext cx="5225000" cy="2760340"/>
            <a:chOff x="0" y="0"/>
            <a:chExt cx="1376132" cy="727003"/>
          </a:xfrm>
        </p:grpSpPr>
        <p:sp>
          <p:nvSpPr>
            <p:cNvPr name="Freeform 12" id="12"/>
            <p:cNvSpPr/>
            <p:nvPr/>
          </p:nvSpPr>
          <p:spPr>
            <a:xfrm flipH="false" flipV="false" rot="0">
              <a:off x="0" y="0"/>
              <a:ext cx="1376132" cy="727003"/>
            </a:xfrm>
            <a:custGeom>
              <a:avLst/>
              <a:gdLst/>
              <a:ahLst/>
              <a:cxnLst/>
              <a:rect r="r" b="b" t="t" l="l"/>
              <a:pathLst>
                <a:path h="727003" w="1376132">
                  <a:moveTo>
                    <a:pt x="75567" y="0"/>
                  </a:moveTo>
                  <a:lnTo>
                    <a:pt x="1300565" y="0"/>
                  </a:lnTo>
                  <a:cubicBezTo>
                    <a:pt x="1342299" y="0"/>
                    <a:pt x="1376132" y="33833"/>
                    <a:pt x="1376132" y="75567"/>
                  </a:cubicBezTo>
                  <a:lnTo>
                    <a:pt x="1376132" y="651436"/>
                  </a:lnTo>
                  <a:cubicBezTo>
                    <a:pt x="1376132" y="693171"/>
                    <a:pt x="1342299" y="727003"/>
                    <a:pt x="1300565" y="727003"/>
                  </a:cubicBezTo>
                  <a:lnTo>
                    <a:pt x="75567" y="727003"/>
                  </a:lnTo>
                  <a:cubicBezTo>
                    <a:pt x="55525" y="727003"/>
                    <a:pt x="36305" y="719042"/>
                    <a:pt x="22133" y="704870"/>
                  </a:cubicBezTo>
                  <a:cubicBezTo>
                    <a:pt x="7962" y="690698"/>
                    <a:pt x="0" y="671478"/>
                    <a:pt x="0" y="651436"/>
                  </a:cubicBezTo>
                  <a:lnTo>
                    <a:pt x="0" y="75567"/>
                  </a:lnTo>
                  <a:cubicBezTo>
                    <a:pt x="0" y="55525"/>
                    <a:pt x="7962" y="36305"/>
                    <a:pt x="22133" y="22133"/>
                  </a:cubicBezTo>
                  <a:cubicBezTo>
                    <a:pt x="36305" y="7962"/>
                    <a:pt x="55525" y="0"/>
                    <a:pt x="75567" y="0"/>
                  </a:cubicBezTo>
                  <a:close/>
                </a:path>
              </a:pathLst>
            </a:custGeom>
            <a:solidFill>
              <a:srgbClr val="134161">
                <a:alpha val="52941"/>
              </a:srgbClr>
            </a:solidFill>
            <a:ln w="38100" cap="rnd">
              <a:solidFill>
                <a:srgbClr val="FFFFFF">
                  <a:alpha val="52941"/>
                </a:srgbClr>
              </a:solidFill>
              <a:prstDash val="solid"/>
              <a:round/>
            </a:ln>
          </p:spPr>
        </p:sp>
        <p:sp>
          <p:nvSpPr>
            <p:cNvPr name="TextBox 13" id="13"/>
            <p:cNvSpPr txBox="true"/>
            <p:nvPr/>
          </p:nvSpPr>
          <p:spPr>
            <a:xfrm>
              <a:off x="0" y="-57150"/>
              <a:ext cx="1376132" cy="784153"/>
            </a:xfrm>
            <a:prstGeom prst="rect">
              <a:avLst/>
            </a:prstGeom>
          </p:spPr>
          <p:txBody>
            <a:bodyPr anchor="ctr" rtlCol="false" tIns="50800" lIns="50800" bIns="50800" rIns="50800"/>
            <a:lstStyle/>
            <a:p>
              <a:pPr algn="ctr">
                <a:lnSpc>
                  <a:spcPts val="2379"/>
                </a:lnSpc>
              </a:pPr>
            </a:p>
          </p:txBody>
        </p:sp>
      </p:grpSp>
      <p:grpSp>
        <p:nvGrpSpPr>
          <p:cNvPr name="Group 14" id="14"/>
          <p:cNvGrpSpPr/>
          <p:nvPr/>
        </p:nvGrpSpPr>
        <p:grpSpPr>
          <a:xfrm rot="0">
            <a:off x="12438597" y="1951532"/>
            <a:ext cx="5225000" cy="2760340"/>
            <a:chOff x="0" y="0"/>
            <a:chExt cx="1376132" cy="727003"/>
          </a:xfrm>
        </p:grpSpPr>
        <p:sp>
          <p:nvSpPr>
            <p:cNvPr name="Freeform 15" id="15"/>
            <p:cNvSpPr/>
            <p:nvPr/>
          </p:nvSpPr>
          <p:spPr>
            <a:xfrm flipH="false" flipV="false" rot="0">
              <a:off x="0" y="0"/>
              <a:ext cx="1376132" cy="727003"/>
            </a:xfrm>
            <a:custGeom>
              <a:avLst/>
              <a:gdLst/>
              <a:ahLst/>
              <a:cxnLst/>
              <a:rect r="r" b="b" t="t" l="l"/>
              <a:pathLst>
                <a:path h="727003" w="1376132">
                  <a:moveTo>
                    <a:pt x="75567" y="0"/>
                  </a:moveTo>
                  <a:lnTo>
                    <a:pt x="1300565" y="0"/>
                  </a:lnTo>
                  <a:cubicBezTo>
                    <a:pt x="1342299" y="0"/>
                    <a:pt x="1376132" y="33833"/>
                    <a:pt x="1376132" y="75567"/>
                  </a:cubicBezTo>
                  <a:lnTo>
                    <a:pt x="1376132" y="651436"/>
                  </a:lnTo>
                  <a:cubicBezTo>
                    <a:pt x="1376132" y="693171"/>
                    <a:pt x="1342299" y="727003"/>
                    <a:pt x="1300565" y="727003"/>
                  </a:cubicBezTo>
                  <a:lnTo>
                    <a:pt x="75567" y="727003"/>
                  </a:lnTo>
                  <a:cubicBezTo>
                    <a:pt x="55525" y="727003"/>
                    <a:pt x="36305" y="719042"/>
                    <a:pt x="22133" y="704870"/>
                  </a:cubicBezTo>
                  <a:cubicBezTo>
                    <a:pt x="7962" y="690698"/>
                    <a:pt x="0" y="671478"/>
                    <a:pt x="0" y="651436"/>
                  </a:cubicBezTo>
                  <a:lnTo>
                    <a:pt x="0" y="75567"/>
                  </a:lnTo>
                  <a:cubicBezTo>
                    <a:pt x="0" y="55525"/>
                    <a:pt x="7962" y="36305"/>
                    <a:pt x="22133" y="22133"/>
                  </a:cubicBezTo>
                  <a:cubicBezTo>
                    <a:pt x="36305" y="7962"/>
                    <a:pt x="55525" y="0"/>
                    <a:pt x="75567" y="0"/>
                  </a:cubicBezTo>
                  <a:close/>
                </a:path>
              </a:pathLst>
            </a:custGeom>
            <a:solidFill>
              <a:srgbClr val="134161">
                <a:alpha val="52941"/>
              </a:srgbClr>
            </a:solidFill>
            <a:ln w="38100" cap="rnd">
              <a:solidFill>
                <a:srgbClr val="FFFFFF">
                  <a:alpha val="52941"/>
                </a:srgbClr>
              </a:solidFill>
              <a:prstDash val="solid"/>
              <a:round/>
            </a:ln>
          </p:spPr>
        </p:sp>
        <p:sp>
          <p:nvSpPr>
            <p:cNvPr name="TextBox 16" id="16"/>
            <p:cNvSpPr txBox="true"/>
            <p:nvPr/>
          </p:nvSpPr>
          <p:spPr>
            <a:xfrm>
              <a:off x="0" y="-57150"/>
              <a:ext cx="1376132" cy="784153"/>
            </a:xfrm>
            <a:prstGeom prst="rect">
              <a:avLst/>
            </a:prstGeom>
          </p:spPr>
          <p:txBody>
            <a:bodyPr anchor="ctr" rtlCol="false" tIns="50800" lIns="50800" bIns="50800" rIns="50800"/>
            <a:lstStyle/>
            <a:p>
              <a:pPr algn="ctr">
                <a:lnSpc>
                  <a:spcPts val="2379"/>
                </a:lnSpc>
              </a:pPr>
            </a:p>
          </p:txBody>
        </p:sp>
      </p:grpSp>
      <p:sp>
        <p:nvSpPr>
          <p:cNvPr name="TextBox 17" id="17"/>
          <p:cNvSpPr txBox="true"/>
          <p:nvPr/>
        </p:nvSpPr>
        <p:spPr>
          <a:xfrm rot="0">
            <a:off x="464642" y="1262821"/>
            <a:ext cx="5240139" cy="398781"/>
          </a:xfrm>
          <a:prstGeom prst="rect">
            <a:avLst/>
          </a:prstGeom>
        </p:spPr>
        <p:txBody>
          <a:bodyPr anchor="t" rtlCol="false" tIns="0" lIns="0" bIns="0" rIns="0">
            <a:spAutoFit/>
          </a:bodyPr>
          <a:lstStyle/>
          <a:p>
            <a:pPr algn="ctr">
              <a:lnSpc>
                <a:spcPts val="3219"/>
              </a:lnSpc>
              <a:spcBef>
                <a:spcPct val="0"/>
              </a:spcBef>
            </a:pPr>
            <a:r>
              <a:rPr lang="en-US" b="true" sz="2299">
                <a:solidFill>
                  <a:srgbClr val="FFFFFF"/>
                </a:solidFill>
                <a:latin typeface="Poppins Bold"/>
                <a:ea typeface="Poppins Bold"/>
                <a:cs typeface="Poppins Bold"/>
                <a:sym typeface="Poppins Bold"/>
              </a:rPr>
              <a:t>Problem</a:t>
            </a:r>
          </a:p>
        </p:txBody>
      </p:sp>
      <p:sp>
        <p:nvSpPr>
          <p:cNvPr name="TextBox 18" id="18"/>
          <p:cNvSpPr txBox="true"/>
          <p:nvPr/>
        </p:nvSpPr>
        <p:spPr>
          <a:xfrm rot="0">
            <a:off x="6523931" y="1286316"/>
            <a:ext cx="5240139" cy="375286"/>
          </a:xfrm>
          <a:prstGeom prst="rect">
            <a:avLst/>
          </a:prstGeom>
        </p:spPr>
        <p:txBody>
          <a:bodyPr anchor="t" rtlCol="false" tIns="0" lIns="0" bIns="0" rIns="0">
            <a:spAutoFit/>
          </a:bodyPr>
          <a:lstStyle/>
          <a:p>
            <a:pPr algn="ctr">
              <a:lnSpc>
                <a:spcPts val="2939"/>
              </a:lnSpc>
              <a:spcBef>
                <a:spcPct val="0"/>
              </a:spcBef>
            </a:pPr>
            <a:r>
              <a:rPr lang="en-US" b="true" sz="2099">
                <a:solidFill>
                  <a:srgbClr val="FFFFFF"/>
                </a:solidFill>
                <a:latin typeface="Poppins Bold"/>
                <a:ea typeface="Poppins Bold"/>
                <a:cs typeface="Poppins Bold"/>
                <a:sym typeface="Poppins Bold"/>
              </a:rPr>
              <a:t>Solut</a:t>
            </a:r>
            <a:r>
              <a:rPr lang="en-US" b="true" sz="2099">
                <a:solidFill>
                  <a:srgbClr val="FFFFFF"/>
                </a:solidFill>
                <a:latin typeface="Poppins Bold"/>
                <a:ea typeface="Poppins Bold"/>
                <a:cs typeface="Poppins Bold"/>
                <a:sym typeface="Poppins Bold"/>
              </a:rPr>
              <a:t>ion Approach</a:t>
            </a:r>
          </a:p>
        </p:txBody>
      </p:sp>
      <p:sp>
        <p:nvSpPr>
          <p:cNvPr name="TextBox 19" id="19"/>
          <p:cNvSpPr txBox="true"/>
          <p:nvPr/>
        </p:nvSpPr>
        <p:spPr>
          <a:xfrm rot="0">
            <a:off x="12583087" y="1286316"/>
            <a:ext cx="5240139" cy="375286"/>
          </a:xfrm>
          <a:prstGeom prst="rect">
            <a:avLst/>
          </a:prstGeom>
        </p:spPr>
        <p:txBody>
          <a:bodyPr anchor="t" rtlCol="false" tIns="0" lIns="0" bIns="0" rIns="0">
            <a:spAutoFit/>
          </a:bodyPr>
          <a:lstStyle/>
          <a:p>
            <a:pPr algn="ctr">
              <a:lnSpc>
                <a:spcPts val="2939"/>
              </a:lnSpc>
              <a:spcBef>
                <a:spcPct val="0"/>
              </a:spcBef>
            </a:pPr>
            <a:r>
              <a:rPr lang="en-US" b="true" sz="2099">
                <a:solidFill>
                  <a:srgbClr val="FFFFFF"/>
                </a:solidFill>
                <a:latin typeface="Poppins Bold"/>
                <a:ea typeface="Poppins Bold"/>
                <a:cs typeface="Poppins Bold"/>
                <a:sym typeface="Poppins Bold"/>
              </a:rPr>
              <a:t>Outputs</a:t>
            </a:r>
          </a:p>
        </p:txBody>
      </p:sp>
      <p:grpSp>
        <p:nvGrpSpPr>
          <p:cNvPr name="Group 20" id="20"/>
          <p:cNvGrpSpPr/>
          <p:nvPr/>
        </p:nvGrpSpPr>
        <p:grpSpPr>
          <a:xfrm rot="0">
            <a:off x="748396" y="1951532"/>
            <a:ext cx="5225000" cy="2760340"/>
            <a:chOff x="0" y="0"/>
            <a:chExt cx="1376132" cy="727003"/>
          </a:xfrm>
        </p:grpSpPr>
        <p:sp>
          <p:nvSpPr>
            <p:cNvPr name="Freeform 21" id="21"/>
            <p:cNvSpPr/>
            <p:nvPr/>
          </p:nvSpPr>
          <p:spPr>
            <a:xfrm flipH="false" flipV="false" rot="0">
              <a:off x="0" y="0"/>
              <a:ext cx="1376132" cy="727003"/>
            </a:xfrm>
            <a:custGeom>
              <a:avLst/>
              <a:gdLst/>
              <a:ahLst/>
              <a:cxnLst/>
              <a:rect r="r" b="b" t="t" l="l"/>
              <a:pathLst>
                <a:path h="727003" w="1376132">
                  <a:moveTo>
                    <a:pt x="75567" y="0"/>
                  </a:moveTo>
                  <a:lnTo>
                    <a:pt x="1300565" y="0"/>
                  </a:lnTo>
                  <a:cubicBezTo>
                    <a:pt x="1342299" y="0"/>
                    <a:pt x="1376132" y="33833"/>
                    <a:pt x="1376132" y="75567"/>
                  </a:cubicBezTo>
                  <a:lnTo>
                    <a:pt x="1376132" y="651436"/>
                  </a:lnTo>
                  <a:cubicBezTo>
                    <a:pt x="1376132" y="693171"/>
                    <a:pt x="1342299" y="727003"/>
                    <a:pt x="1300565" y="727003"/>
                  </a:cubicBezTo>
                  <a:lnTo>
                    <a:pt x="75567" y="727003"/>
                  </a:lnTo>
                  <a:cubicBezTo>
                    <a:pt x="55525" y="727003"/>
                    <a:pt x="36305" y="719042"/>
                    <a:pt x="22133" y="704870"/>
                  </a:cubicBezTo>
                  <a:cubicBezTo>
                    <a:pt x="7962" y="690698"/>
                    <a:pt x="0" y="671478"/>
                    <a:pt x="0" y="651436"/>
                  </a:cubicBezTo>
                  <a:lnTo>
                    <a:pt x="0" y="75567"/>
                  </a:lnTo>
                  <a:cubicBezTo>
                    <a:pt x="0" y="55525"/>
                    <a:pt x="7962" y="36305"/>
                    <a:pt x="22133" y="22133"/>
                  </a:cubicBezTo>
                  <a:cubicBezTo>
                    <a:pt x="36305" y="7962"/>
                    <a:pt x="55525" y="0"/>
                    <a:pt x="75567" y="0"/>
                  </a:cubicBezTo>
                  <a:close/>
                </a:path>
              </a:pathLst>
            </a:custGeom>
            <a:solidFill>
              <a:srgbClr val="134161">
                <a:alpha val="52941"/>
              </a:srgbClr>
            </a:solidFill>
            <a:ln w="38100" cap="rnd">
              <a:solidFill>
                <a:srgbClr val="FFFFFF">
                  <a:alpha val="52941"/>
                </a:srgbClr>
              </a:solidFill>
              <a:prstDash val="solid"/>
              <a:round/>
            </a:ln>
          </p:spPr>
        </p:sp>
        <p:sp>
          <p:nvSpPr>
            <p:cNvPr name="TextBox 22" id="22"/>
            <p:cNvSpPr txBox="true"/>
            <p:nvPr/>
          </p:nvSpPr>
          <p:spPr>
            <a:xfrm>
              <a:off x="0" y="-57150"/>
              <a:ext cx="1376132" cy="784153"/>
            </a:xfrm>
            <a:prstGeom prst="rect">
              <a:avLst/>
            </a:prstGeom>
          </p:spPr>
          <p:txBody>
            <a:bodyPr anchor="ctr" rtlCol="false" tIns="50800" lIns="50800" bIns="50800" rIns="50800"/>
            <a:lstStyle/>
            <a:p>
              <a:pPr algn="ctr">
                <a:lnSpc>
                  <a:spcPts val="2379"/>
                </a:lnSpc>
              </a:pPr>
            </a:p>
          </p:txBody>
        </p:sp>
      </p:grpSp>
      <p:sp>
        <p:nvSpPr>
          <p:cNvPr name="TextBox 23" id="23"/>
          <p:cNvSpPr txBox="true"/>
          <p:nvPr/>
        </p:nvSpPr>
        <p:spPr>
          <a:xfrm rot="0">
            <a:off x="1028700" y="2058250"/>
            <a:ext cx="4626847" cy="2499279"/>
          </a:xfrm>
          <a:prstGeom prst="rect">
            <a:avLst/>
          </a:prstGeom>
        </p:spPr>
        <p:txBody>
          <a:bodyPr anchor="t" rtlCol="false" tIns="0" lIns="0" bIns="0" rIns="0">
            <a:spAutoFit/>
          </a:bodyPr>
          <a:lstStyle/>
          <a:p>
            <a:pPr algn="ctr">
              <a:lnSpc>
                <a:spcPts val="2479"/>
              </a:lnSpc>
              <a:spcBef>
                <a:spcPct val="0"/>
              </a:spcBef>
            </a:pPr>
            <a:r>
              <a:rPr lang="en-US" b="true" sz="1771">
                <a:solidFill>
                  <a:srgbClr val="FFFFFF"/>
                </a:solidFill>
                <a:latin typeface="Poppins Bold"/>
                <a:ea typeface="Poppins Bold"/>
                <a:cs typeface="Poppins Bold"/>
                <a:sym typeface="Poppins Bold"/>
              </a:rPr>
              <a:t>Financial reports are lengthy and difficult for ordinary investors to understand. Important information is spread across financial statements, tables, risk sections, and management discussions. General AI summaries may also include unsupported or inaccurate information.</a:t>
            </a:r>
          </a:p>
        </p:txBody>
      </p:sp>
      <p:sp>
        <p:nvSpPr>
          <p:cNvPr name="TextBox 24" id="24"/>
          <p:cNvSpPr txBox="true"/>
          <p:nvPr/>
        </p:nvSpPr>
        <p:spPr>
          <a:xfrm rot="0">
            <a:off x="6523931" y="2058250"/>
            <a:ext cx="4626847" cy="2499279"/>
          </a:xfrm>
          <a:prstGeom prst="rect">
            <a:avLst/>
          </a:prstGeom>
        </p:spPr>
        <p:txBody>
          <a:bodyPr anchor="t" rtlCol="false" tIns="0" lIns="0" bIns="0" rIns="0">
            <a:spAutoFit/>
          </a:bodyPr>
          <a:lstStyle/>
          <a:p>
            <a:pPr algn="ctr">
              <a:lnSpc>
                <a:spcPts val="2479"/>
              </a:lnSpc>
              <a:spcBef>
                <a:spcPct val="0"/>
              </a:spcBef>
            </a:pPr>
            <a:r>
              <a:rPr lang="en-US" b="true" sz="1771">
                <a:solidFill>
                  <a:srgbClr val="FFFFFF"/>
                </a:solidFill>
                <a:latin typeface="Poppins Bold"/>
                <a:ea typeface="Poppins Bold"/>
                <a:cs typeface="Poppins Bold"/>
                <a:sym typeface="Poppins Bold"/>
              </a:rPr>
              <a:t>The system validates the uploaded report, extracts page-level text and tables, retrieves relevant financial evidence, and applies ten prompt-engineering strategies using the same report context and JSON schema. The prompt outputs are evaluated and the best prompt is selected.</a:t>
            </a:r>
          </a:p>
        </p:txBody>
      </p:sp>
      <p:sp>
        <p:nvSpPr>
          <p:cNvPr name="TextBox 25" id="25"/>
          <p:cNvSpPr txBox="true"/>
          <p:nvPr/>
        </p:nvSpPr>
        <p:spPr>
          <a:xfrm rot="0">
            <a:off x="12712990" y="2048725"/>
            <a:ext cx="4676213" cy="2219552"/>
          </a:xfrm>
          <a:prstGeom prst="rect">
            <a:avLst/>
          </a:prstGeom>
        </p:spPr>
        <p:txBody>
          <a:bodyPr anchor="t" rtlCol="false" tIns="0" lIns="0" bIns="0" rIns="0">
            <a:spAutoFit/>
          </a:bodyPr>
          <a:lstStyle/>
          <a:p>
            <a:pPr algn="ctr">
              <a:lnSpc>
                <a:spcPts val="2505"/>
              </a:lnSpc>
              <a:spcBef>
                <a:spcPct val="0"/>
              </a:spcBef>
            </a:pPr>
            <a:r>
              <a:rPr lang="en-US" b="true" sz="1789">
                <a:solidFill>
                  <a:srgbClr val="FFFFFF"/>
                </a:solidFill>
                <a:latin typeface="Poppins Bold"/>
                <a:ea typeface="Poppins Bold"/>
                <a:cs typeface="Poppins Bold"/>
                <a:sym typeface="Poppins Bold"/>
              </a:rPr>
              <a:t>Structured financial facts, page-level source evidence, company strengths, concerns, risks, ratios, cash-flow information, future outlook, missing fields, and a beginner-friendly investor summary integrated into the final stock insight.</a:t>
            </a:r>
          </a:p>
        </p:txBody>
      </p:sp>
      <p:sp>
        <p:nvSpPr>
          <p:cNvPr name="TextBox 26" id="26"/>
          <p:cNvSpPr txBox="true"/>
          <p:nvPr/>
        </p:nvSpPr>
        <p:spPr>
          <a:xfrm rot="0">
            <a:off x="1148694" y="6045372"/>
            <a:ext cx="4386858" cy="358776"/>
          </a:xfrm>
          <a:prstGeom prst="rect">
            <a:avLst/>
          </a:prstGeom>
        </p:spPr>
        <p:txBody>
          <a:bodyPr anchor="t" rtlCol="false" tIns="0" lIns="0" bIns="0" rIns="0">
            <a:spAutoFit/>
          </a:bodyPr>
          <a:lstStyle/>
          <a:p>
            <a:pPr algn="ctr">
              <a:lnSpc>
                <a:spcPts val="2799"/>
              </a:lnSpc>
              <a:spcBef>
                <a:spcPct val="0"/>
              </a:spcBef>
            </a:pPr>
            <a:r>
              <a:rPr lang="en-US" b="true" sz="1999" u="sng">
                <a:solidFill>
                  <a:srgbClr val="FFFFFF"/>
                </a:solidFill>
                <a:latin typeface="Poppins Bold"/>
                <a:ea typeface="Poppins Bold"/>
                <a:cs typeface="Poppins Bold"/>
                <a:sym typeface="Poppins Bold"/>
              </a:rPr>
              <a:t>Financial Report Insight Workflow</a:t>
            </a:r>
          </a:p>
        </p:txBody>
      </p:sp>
      <p:sp>
        <p:nvSpPr>
          <p:cNvPr name="TextBox 27" id="27"/>
          <p:cNvSpPr txBox="true"/>
          <p:nvPr/>
        </p:nvSpPr>
        <p:spPr>
          <a:xfrm rot="0">
            <a:off x="464642" y="7148267"/>
            <a:ext cx="6283970" cy="2825751"/>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1. Upload annual or interim financial report</a:t>
            </a:r>
          </a:p>
          <a:p>
            <a:pPr algn="l">
              <a:lnSpc>
                <a:spcPts val="2799"/>
              </a:lnSpc>
              <a:spcBef>
                <a:spcPct val="0"/>
              </a:spcBef>
            </a:pPr>
            <a:r>
              <a:rPr lang="en-US" b="true" sz="1999">
                <a:solidFill>
                  <a:srgbClr val="FFFFFF"/>
                </a:solidFill>
                <a:latin typeface="Poppins Bold"/>
                <a:ea typeface="Poppins Bold"/>
                <a:cs typeface="Poppins Bold"/>
                <a:sym typeface="Poppins Bold"/>
              </a:rPr>
              <a:t>2. Validate company and latest reporting period</a:t>
            </a:r>
          </a:p>
          <a:p>
            <a:pPr algn="l">
              <a:lnSpc>
                <a:spcPts val="2799"/>
              </a:lnSpc>
              <a:spcBef>
                <a:spcPct val="0"/>
              </a:spcBef>
            </a:pPr>
            <a:r>
              <a:rPr lang="en-US" b="true" sz="1999">
                <a:solidFill>
                  <a:srgbClr val="FFFFFF"/>
                </a:solidFill>
                <a:latin typeface="Poppins Bold"/>
                <a:ea typeface="Poppins Bold"/>
                <a:cs typeface="Poppins Bold"/>
                <a:sym typeface="Poppins Bold"/>
              </a:rPr>
              <a:t>3. Extract PDF text, tables, and page references</a:t>
            </a:r>
          </a:p>
          <a:p>
            <a:pPr algn="l">
              <a:lnSpc>
                <a:spcPts val="2799"/>
              </a:lnSpc>
              <a:spcBef>
                <a:spcPct val="0"/>
              </a:spcBef>
            </a:pPr>
            <a:r>
              <a:rPr lang="en-US" b="true" sz="1999">
                <a:solidFill>
                  <a:srgbClr val="FFFFFF"/>
                </a:solidFill>
                <a:latin typeface="Poppins Bold"/>
                <a:ea typeface="Poppins Bold"/>
                <a:cs typeface="Poppins Bold"/>
                <a:sym typeface="Poppins Bold"/>
              </a:rPr>
              <a:t>4. Retrieve relevant investor-related pages</a:t>
            </a:r>
          </a:p>
          <a:p>
            <a:pPr algn="l">
              <a:lnSpc>
                <a:spcPts val="2799"/>
              </a:lnSpc>
              <a:spcBef>
                <a:spcPct val="0"/>
              </a:spcBef>
            </a:pPr>
            <a:r>
              <a:rPr lang="en-US" b="true" sz="1999">
                <a:solidFill>
                  <a:srgbClr val="FFFFFF"/>
                </a:solidFill>
                <a:latin typeface="Poppins Bold"/>
                <a:ea typeface="Poppins Bold"/>
                <a:cs typeface="Poppins Bold"/>
                <a:sym typeface="Poppins Bold"/>
              </a:rPr>
              <a:t>5. Generate outputs using ten prompt strategies</a:t>
            </a:r>
          </a:p>
          <a:p>
            <a:pPr algn="l">
              <a:lnSpc>
                <a:spcPts val="2799"/>
              </a:lnSpc>
              <a:spcBef>
                <a:spcPct val="0"/>
              </a:spcBef>
            </a:pPr>
            <a:r>
              <a:rPr lang="en-US" b="true" sz="1999">
                <a:solidFill>
                  <a:srgbClr val="FFFFFF"/>
                </a:solidFill>
                <a:latin typeface="Poppins Bold"/>
                <a:ea typeface="Poppins Bold"/>
                <a:cs typeface="Poppins Bold"/>
                <a:sym typeface="Poppins Bold"/>
              </a:rPr>
              <a:t>6. Evaluate and rank prompt performance</a:t>
            </a:r>
          </a:p>
          <a:p>
            <a:pPr algn="l">
              <a:lnSpc>
                <a:spcPts val="2799"/>
              </a:lnSpc>
              <a:spcBef>
                <a:spcPct val="0"/>
              </a:spcBef>
            </a:pPr>
            <a:r>
              <a:rPr lang="en-US" b="true" sz="1999">
                <a:solidFill>
                  <a:srgbClr val="FFFFFF"/>
                </a:solidFill>
                <a:latin typeface="Poppins Bold"/>
                <a:ea typeface="Poppins Bold"/>
                <a:cs typeface="Poppins Bold"/>
                <a:sym typeface="Poppins Bold"/>
              </a:rPr>
              <a:t>7. Select Prompt 08 and verify source evidence</a:t>
            </a:r>
          </a:p>
          <a:p>
            <a:pPr algn="l">
              <a:lnSpc>
                <a:spcPts val="2799"/>
              </a:lnSpc>
              <a:spcBef>
                <a:spcPct val="0"/>
              </a:spcBef>
            </a:pPr>
            <a:r>
              <a:rPr lang="en-US" b="true" sz="1999">
                <a:solidFill>
                  <a:srgbClr val="FFFFFF"/>
                </a:solidFill>
                <a:latin typeface="Poppins Bold"/>
                <a:ea typeface="Poppins Bold"/>
                <a:cs typeface="Poppins Bold"/>
                <a:sym typeface="Poppins Bold"/>
              </a:rPr>
              <a:t>8. Generate the final investor-friendly insight</a:t>
            </a:r>
          </a:p>
        </p:txBody>
      </p:sp>
      <p:sp>
        <p:nvSpPr>
          <p:cNvPr name="TextBox 28" id="28"/>
          <p:cNvSpPr txBox="true"/>
          <p:nvPr/>
        </p:nvSpPr>
        <p:spPr>
          <a:xfrm rot="0">
            <a:off x="10952374" y="5743746"/>
            <a:ext cx="2426047" cy="358776"/>
          </a:xfrm>
          <a:prstGeom prst="rect">
            <a:avLst/>
          </a:prstGeom>
        </p:spPr>
        <p:txBody>
          <a:bodyPr anchor="t" rtlCol="false" tIns="0" lIns="0" bIns="0" rIns="0">
            <a:spAutoFit/>
          </a:bodyPr>
          <a:lstStyle/>
          <a:p>
            <a:pPr algn="ctr">
              <a:lnSpc>
                <a:spcPts val="2799"/>
              </a:lnSpc>
              <a:spcBef>
                <a:spcPct val="0"/>
              </a:spcBef>
            </a:pPr>
            <a:r>
              <a:rPr lang="en-US" b="true" sz="1999" u="sng">
                <a:solidFill>
                  <a:srgbClr val="FFFFFF"/>
                </a:solidFill>
                <a:latin typeface="Poppins Bold"/>
                <a:ea typeface="Poppins Bold"/>
                <a:cs typeface="Poppins Bold"/>
                <a:sym typeface="Poppins Bold"/>
              </a:rPr>
              <a:t>Prompt Evaluation</a:t>
            </a:r>
          </a:p>
        </p:txBody>
      </p:sp>
      <p:sp>
        <p:nvSpPr>
          <p:cNvPr name="TextBox 29" id="29"/>
          <p:cNvSpPr txBox="true"/>
          <p:nvPr/>
        </p:nvSpPr>
        <p:spPr>
          <a:xfrm rot="0">
            <a:off x="7889101" y="6461297"/>
            <a:ext cx="10087273" cy="3530601"/>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Prompt performance is evaluated using:</a:t>
            </a:r>
          </a:p>
          <a:p>
            <a:pPr algn="l">
              <a:lnSpc>
                <a:spcPts val="2799"/>
              </a:lnSpc>
              <a:spcBef>
                <a:spcPct val="0"/>
              </a:spcBef>
            </a:pPr>
          </a:p>
          <a:p>
            <a:pPr algn="l">
              <a:lnSpc>
                <a:spcPts val="2799"/>
              </a:lnSpc>
              <a:spcBef>
                <a:spcPct val="0"/>
              </a:spcBef>
            </a:pPr>
            <a:r>
              <a:rPr lang="en-US" b="true" sz="1999">
                <a:solidFill>
                  <a:srgbClr val="FFFFFF"/>
                </a:solidFill>
                <a:latin typeface="Poppins Bold"/>
                <a:ea typeface="Poppins Bold"/>
                <a:cs typeface="Poppins Bold"/>
                <a:sym typeface="Poppins Bold"/>
              </a:rPr>
              <a:t>• Coverage – fields successfully extracted</a:t>
            </a:r>
          </a:p>
          <a:p>
            <a:pPr algn="l">
              <a:lnSpc>
                <a:spcPts val="2799"/>
              </a:lnSpc>
              <a:spcBef>
                <a:spcPct val="0"/>
              </a:spcBef>
            </a:pPr>
            <a:r>
              <a:rPr lang="en-US" b="true" sz="1999">
                <a:solidFill>
                  <a:srgbClr val="FFFFFF"/>
                </a:solidFill>
                <a:latin typeface="Poppins Bold"/>
                <a:ea typeface="Poppins Bold"/>
                <a:cs typeface="Poppins Bold"/>
                <a:sym typeface="Poppins Bold"/>
              </a:rPr>
              <a:t>• Numeric accuracy – financial values matched</a:t>
            </a:r>
          </a:p>
          <a:p>
            <a:pPr algn="l">
              <a:lnSpc>
                <a:spcPts val="2799"/>
              </a:lnSpc>
              <a:spcBef>
                <a:spcPct val="0"/>
              </a:spcBef>
            </a:pPr>
            <a:r>
              <a:rPr lang="en-US" b="true" sz="1999">
                <a:solidFill>
                  <a:srgbClr val="FFFFFF"/>
                </a:solidFill>
                <a:latin typeface="Poppins Bold"/>
                <a:ea typeface="Poppins Bold"/>
                <a:cs typeface="Poppins Bold"/>
                <a:sym typeface="Poppins Bold"/>
              </a:rPr>
              <a:t>• Semantic similarity – meaning similarity</a:t>
            </a:r>
          </a:p>
          <a:p>
            <a:pPr algn="l">
              <a:lnSpc>
                <a:spcPts val="2799"/>
              </a:lnSpc>
              <a:spcBef>
                <a:spcPct val="0"/>
              </a:spcBef>
            </a:pPr>
            <a:r>
              <a:rPr lang="en-US" b="true" sz="1999">
                <a:solidFill>
                  <a:srgbClr val="FFFFFF"/>
                </a:solidFill>
                <a:latin typeface="Poppins Bold"/>
                <a:ea typeface="Poppins Bold"/>
                <a:cs typeface="Poppins Bold"/>
                <a:sym typeface="Poppins Bold"/>
              </a:rPr>
              <a:t>• Source faithfulness – quotation and page verification</a:t>
            </a:r>
          </a:p>
          <a:p>
            <a:pPr algn="l">
              <a:lnSpc>
                <a:spcPts val="2799"/>
              </a:lnSpc>
              <a:spcBef>
                <a:spcPct val="0"/>
              </a:spcBef>
            </a:pPr>
            <a:r>
              <a:rPr lang="en-US" b="true" sz="1999">
                <a:solidFill>
                  <a:srgbClr val="FFFFFF"/>
                </a:solidFill>
                <a:latin typeface="Poppins Bold"/>
                <a:ea typeface="Poppins Bold"/>
                <a:cs typeface="Poppins Bold"/>
                <a:sym typeface="Poppins Bold"/>
              </a:rPr>
              <a:t>• Investor relevance – usefulness of the output</a:t>
            </a:r>
          </a:p>
          <a:p>
            <a:pPr algn="l">
              <a:lnSpc>
                <a:spcPts val="2799"/>
              </a:lnSpc>
              <a:spcBef>
                <a:spcPct val="0"/>
              </a:spcBef>
            </a:pPr>
            <a:r>
              <a:rPr lang="en-US" b="true" sz="1999">
                <a:solidFill>
                  <a:srgbClr val="FFFFFF"/>
                </a:solidFill>
                <a:latin typeface="Poppins Bold"/>
                <a:ea typeface="Poppins Bold"/>
                <a:cs typeface="Poppins Bold"/>
                <a:sym typeface="Poppins Bold"/>
              </a:rPr>
              <a:t>• Hallucination penalty – unsupported information</a:t>
            </a:r>
          </a:p>
          <a:p>
            <a:pPr algn="l">
              <a:lnSpc>
                <a:spcPts val="2799"/>
              </a:lnSpc>
              <a:spcBef>
                <a:spcPct val="0"/>
              </a:spcBef>
            </a:pPr>
          </a:p>
          <a:p>
            <a:pPr algn="l">
              <a:lnSpc>
                <a:spcPts val="2799"/>
              </a:lnSpc>
              <a:spcBef>
                <a:spcPct val="0"/>
              </a:spcBef>
            </a:pPr>
            <a:r>
              <a:rPr lang="en-US" b="true" sz="1999">
                <a:solidFill>
                  <a:srgbClr val="FFFFFF"/>
                </a:solidFill>
                <a:latin typeface="Poppins Bold"/>
                <a:ea typeface="Poppins Bold"/>
                <a:cs typeface="Poppins Bold"/>
                <a:sym typeface="Poppins Bold"/>
              </a:rPr>
              <a:t>Prompt 08 achieved the highest average final score: 0.1693 across six reports.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true" rot="0">
            <a:off x="-356742" y="-443118"/>
            <a:ext cx="3499528" cy="2895860"/>
          </a:xfrm>
          <a:custGeom>
            <a:avLst/>
            <a:gdLst/>
            <a:ahLst/>
            <a:cxnLst/>
            <a:rect r="r" b="b" t="t" l="l"/>
            <a:pathLst>
              <a:path h="2895860" w="3499528">
                <a:moveTo>
                  <a:pt x="0" y="2895859"/>
                </a:moveTo>
                <a:lnTo>
                  <a:pt x="3499528" y="2895859"/>
                </a:lnTo>
                <a:lnTo>
                  <a:pt x="3499528" y="0"/>
                </a:lnTo>
                <a:lnTo>
                  <a:pt x="0" y="0"/>
                </a:lnTo>
                <a:lnTo>
                  <a:pt x="0" y="289585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3604942" y="6731093"/>
            <a:ext cx="4604428" cy="3810164"/>
          </a:xfrm>
          <a:custGeom>
            <a:avLst/>
            <a:gdLst/>
            <a:ahLst/>
            <a:cxnLst/>
            <a:rect r="r" b="b" t="t" l="l"/>
            <a:pathLst>
              <a:path h="3810164" w="4604428">
                <a:moveTo>
                  <a:pt x="4604429" y="0"/>
                </a:moveTo>
                <a:lnTo>
                  <a:pt x="0" y="0"/>
                </a:lnTo>
                <a:lnTo>
                  <a:pt x="0" y="3810164"/>
                </a:lnTo>
                <a:lnTo>
                  <a:pt x="4604429" y="3810164"/>
                </a:lnTo>
                <a:lnTo>
                  <a:pt x="460442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580695" y="2862185"/>
            <a:ext cx="10518078" cy="571864"/>
            <a:chOff x="0" y="0"/>
            <a:chExt cx="2770194" cy="150614"/>
          </a:xfrm>
        </p:grpSpPr>
        <p:sp>
          <p:nvSpPr>
            <p:cNvPr name="Freeform 6" id="6"/>
            <p:cNvSpPr/>
            <p:nvPr/>
          </p:nvSpPr>
          <p:spPr>
            <a:xfrm flipH="false" flipV="false" rot="0">
              <a:off x="0" y="0"/>
              <a:ext cx="2770194" cy="150614"/>
            </a:xfrm>
            <a:custGeom>
              <a:avLst/>
              <a:gdLst/>
              <a:ahLst/>
              <a:cxnLst/>
              <a:rect r="r" b="b" t="t" l="l"/>
              <a:pathLst>
                <a:path h="150614" w="2770194">
                  <a:moveTo>
                    <a:pt x="37263" y="0"/>
                  </a:moveTo>
                  <a:lnTo>
                    <a:pt x="2732930" y="0"/>
                  </a:lnTo>
                  <a:cubicBezTo>
                    <a:pt x="2753510" y="0"/>
                    <a:pt x="2770194" y="16683"/>
                    <a:pt x="2770194" y="37263"/>
                  </a:cubicBezTo>
                  <a:lnTo>
                    <a:pt x="2770194" y="113351"/>
                  </a:lnTo>
                  <a:cubicBezTo>
                    <a:pt x="2770194" y="133931"/>
                    <a:pt x="2753510" y="150614"/>
                    <a:pt x="2732930" y="150614"/>
                  </a:cubicBezTo>
                  <a:lnTo>
                    <a:pt x="37263" y="150614"/>
                  </a:lnTo>
                  <a:cubicBezTo>
                    <a:pt x="27380" y="150614"/>
                    <a:pt x="17902" y="146688"/>
                    <a:pt x="10914" y="139700"/>
                  </a:cubicBezTo>
                  <a:cubicBezTo>
                    <a:pt x="3926" y="132712"/>
                    <a:pt x="0" y="123234"/>
                    <a:pt x="0" y="113351"/>
                  </a:cubicBezTo>
                  <a:lnTo>
                    <a:pt x="0" y="37263"/>
                  </a:lnTo>
                  <a:cubicBezTo>
                    <a:pt x="0" y="16683"/>
                    <a:pt x="16683" y="0"/>
                    <a:pt x="37263" y="0"/>
                  </a:cubicBezTo>
                  <a:close/>
                </a:path>
              </a:pathLst>
            </a:custGeom>
            <a:solidFill>
              <a:srgbClr val="134161"/>
            </a:solidFill>
          </p:spPr>
        </p:sp>
        <p:sp>
          <p:nvSpPr>
            <p:cNvPr name="TextBox 7" id="7"/>
            <p:cNvSpPr txBox="true"/>
            <p:nvPr/>
          </p:nvSpPr>
          <p:spPr>
            <a:xfrm>
              <a:off x="0" y="-57150"/>
              <a:ext cx="2770194" cy="207764"/>
            </a:xfrm>
            <a:prstGeom prst="rect">
              <a:avLst/>
            </a:prstGeom>
          </p:spPr>
          <p:txBody>
            <a:bodyPr anchor="ctr" rtlCol="false" tIns="50800" lIns="50800" bIns="50800" rIns="50800"/>
            <a:lstStyle/>
            <a:p>
              <a:pPr algn="ctr">
                <a:lnSpc>
                  <a:spcPts val="2379"/>
                </a:lnSpc>
              </a:pPr>
            </a:p>
          </p:txBody>
        </p:sp>
      </p:grpSp>
      <p:grpSp>
        <p:nvGrpSpPr>
          <p:cNvPr name="Group 8" id="8"/>
          <p:cNvGrpSpPr/>
          <p:nvPr/>
        </p:nvGrpSpPr>
        <p:grpSpPr>
          <a:xfrm rot="0">
            <a:off x="1495851" y="5252152"/>
            <a:ext cx="4636496" cy="659791"/>
            <a:chOff x="0" y="0"/>
            <a:chExt cx="885013" cy="125941"/>
          </a:xfrm>
        </p:grpSpPr>
        <p:sp>
          <p:nvSpPr>
            <p:cNvPr name="Freeform 9" id="9"/>
            <p:cNvSpPr/>
            <p:nvPr/>
          </p:nvSpPr>
          <p:spPr>
            <a:xfrm flipH="false" flipV="false" rot="0">
              <a:off x="0" y="0"/>
              <a:ext cx="885013" cy="125941"/>
            </a:xfrm>
            <a:custGeom>
              <a:avLst/>
              <a:gdLst/>
              <a:ahLst/>
              <a:cxnLst/>
              <a:rect r="r" b="b" t="t" l="l"/>
              <a:pathLst>
                <a:path h="125941" w="885013">
                  <a:moveTo>
                    <a:pt x="62970" y="0"/>
                  </a:moveTo>
                  <a:lnTo>
                    <a:pt x="822043" y="0"/>
                  </a:lnTo>
                  <a:cubicBezTo>
                    <a:pt x="856821" y="0"/>
                    <a:pt x="885013" y="28193"/>
                    <a:pt x="885013" y="62970"/>
                  </a:cubicBezTo>
                  <a:lnTo>
                    <a:pt x="885013" y="62970"/>
                  </a:lnTo>
                  <a:cubicBezTo>
                    <a:pt x="885013" y="79671"/>
                    <a:pt x="878379" y="95688"/>
                    <a:pt x="866570" y="107497"/>
                  </a:cubicBezTo>
                  <a:cubicBezTo>
                    <a:pt x="854761" y="119306"/>
                    <a:pt x="838744" y="125941"/>
                    <a:pt x="822043" y="125941"/>
                  </a:cubicBezTo>
                  <a:lnTo>
                    <a:pt x="62970" y="125941"/>
                  </a:lnTo>
                  <a:cubicBezTo>
                    <a:pt x="28193" y="125941"/>
                    <a:pt x="0" y="97748"/>
                    <a:pt x="0" y="62970"/>
                  </a:cubicBezTo>
                  <a:lnTo>
                    <a:pt x="0" y="62970"/>
                  </a:lnTo>
                  <a:cubicBezTo>
                    <a:pt x="0" y="28193"/>
                    <a:pt x="28193" y="0"/>
                    <a:pt x="62970" y="0"/>
                  </a:cubicBezTo>
                  <a:close/>
                </a:path>
              </a:pathLst>
            </a:custGeom>
            <a:solidFill>
              <a:srgbClr val="134161"/>
            </a:solidFill>
          </p:spPr>
        </p:sp>
        <p:sp>
          <p:nvSpPr>
            <p:cNvPr name="TextBox 10" id="10"/>
            <p:cNvSpPr txBox="true"/>
            <p:nvPr/>
          </p:nvSpPr>
          <p:spPr>
            <a:xfrm>
              <a:off x="0" y="-57150"/>
              <a:ext cx="885013" cy="183091"/>
            </a:xfrm>
            <a:prstGeom prst="rect">
              <a:avLst/>
            </a:prstGeom>
          </p:spPr>
          <p:txBody>
            <a:bodyPr anchor="ctr" rtlCol="false" tIns="50800" lIns="50800" bIns="50800" rIns="50800"/>
            <a:lstStyle/>
            <a:p>
              <a:pPr algn="ctr">
                <a:lnSpc>
                  <a:spcPts val="2379"/>
                </a:lnSpc>
              </a:pPr>
            </a:p>
          </p:txBody>
        </p:sp>
      </p:grpSp>
      <p:sp>
        <p:nvSpPr>
          <p:cNvPr name="Freeform 11" id="11"/>
          <p:cNvSpPr/>
          <p:nvPr/>
        </p:nvSpPr>
        <p:spPr>
          <a:xfrm flipH="false" flipV="false" rot="0">
            <a:off x="16706843" y="362135"/>
            <a:ext cx="2157541" cy="187266"/>
          </a:xfrm>
          <a:custGeom>
            <a:avLst/>
            <a:gdLst/>
            <a:ahLst/>
            <a:cxnLst/>
            <a:rect r="r" b="b" t="t" l="l"/>
            <a:pathLst>
              <a:path h="187266" w="2157541">
                <a:moveTo>
                  <a:pt x="0" y="0"/>
                </a:moveTo>
                <a:lnTo>
                  <a:pt x="2157541" y="0"/>
                </a:lnTo>
                <a:lnTo>
                  <a:pt x="2157541" y="187266"/>
                </a:lnTo>
                <a:lnTo>
                  <a:pt x="0" y="187266"/>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sp>
        <p:nvSpPr>
          <p:cNvPr name="Freeform 12" id="12"/>
          <p:cNvSpPr/>
          <p:nvPr/>
        </p:nvSpPr>
        <p:spPr>
          <a:xfrm flipH="false" flipV="false" rot="0">
            <a:off x="6160983" y="9380013"/>
            <a:ext cx="2157541" cy="187266"/>
          </a:xfrm>
          <a:custGeom>
            <a:avLst/>
            <a:gdLst/>
            <a:ahLst/>
            <a:cxnLst/>
            <a:rect r="r" b="b" t="t" l="l"/>
            <a:pathLst>
              <a:path h="187266" w="2157541">
                <a:moveTo>
                  <a:pt x="0" y="0"/>
                </a:moveTo>
                <a:lnTo>
                  <a:pt x="2157541" y="0"/>
                </a:lnTo>
                <a:lnTo>
                  <a:pt x="2157541" y="187266"/>
                </a:lnTo>
                <a:lnTo>
                  <a:pt x="0" y="187266"/>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sp>
        <p:nvSpPr>
          <p:cNvPr name="Freeform 13" id="13"/>
          <p:cNvSpPr/>
          <p:nvPr/>
        </p:nvSpPr>
        <p:spPr>
          <a:xfrm flipH="false" flipV="false" rot="0">
            <a:off x="15175763" y="707335"/>
            <a:ext cx="2609851" cy="3490813"/>
          </a:xfrm>
          <a:custGeom>
            <a:avLst/>
            <a:gdLst/>
            <a:ahLst/>
            <a:cxnLst/>
            <a:rect r="r" b="b" t="t" l="l"/>
            <a:pathLst>
              <a:path h="3490813" w="2609851">
                <a:moveTo>
                  <a:pt x="0" y="0"/>
                </a:moveTo>
                <a:lnTo>
                  <a:pt x="2609850" y="0"/>
                </a:lnTo>
                <a:lnTo>
                  <a:pt x="2609850" y="3490813"/>
                </a:lnTo>
                <a:lnTo>
                  <a:pt x="0" y="3490813"/>
                </a:lnTo>
                <a:lnTo>
                  <a:pt x="0" y="0"/>
                </a:lnTo>
                <a:close/>
              </a:path>
            </a:pathLst>
          </a:custGeom>
          <a:blipFill>
            <a:blip r:embed="rId7"/>
            <a:stretch>
              <a:fillRect l="0" t="0" r="0" b="0"/>
            </a:stretch>
          </a:blipFill>
        </p:spPr>
      </p:sp>
      <p:sp>
        <p:nvSpPr>
          <p:cNvPr name="TextBox 14" id="14"/>
          <p:cNvSpPr txBox="true"/>
          <p:nvPr/>
        </p:nvSpPr>
        <p:spPr>
          <a:xfrm rot="0">
            <a:off x="1135270" y="1225902"/>
            <a:ext cx="14366508" cy="1226839"/>
          </a:xfrm>
          <a:prstGeom prst="rect">
            <a:avLst/>
          </a:prstGeom>
        </p:spPr>
        <p:txBody>
          <a:bodyPr anchor="t" rtlCol="false" tIns="0" lIns="0" bIns="0" rIns="0">
            <a:spAutoFit/>
          </a:bodyPr>
          <a:lstStyle/>
          <a:p>
            <a:pPr algn="l">
              <a:lnSpc>
                <a:spcPts val="10008"/>
              </a:lnSpc>
              <a:spcBef>
                <a:spcPct val="0"/>
              </a:spcBef>
            </a:pPr>
            <a:r>
              <a:rPr lang="en-US" sz="7149">
                <a:solidFill>
                  <a:srgbClr val="FFFFFF"/>
                </a:solidFill>
                <a:latin typeface="Archivo Black"/>
                <a:ea typeface="Archivo Black"/>
                <a:cs typeface="Archivo Black"/>
                <a:sym typeface="Archivo Black"/>
              </a:rPr>
              <a:t>HARITHRA.K | IT22065308</a:t>
            </a:r>
          </a:p>
        </p:txBody>
      </p:sp>
      <p:sp>
        <p:nvSpPr>
          <p:cNvPr name="TextBox 15" id="15"/>
          <p:cNvSpPr txBox="true"/>
          <p:nvPr/>
        </p:nvSpPr>
        <p:spPr>
          <a:xfrm rot="0">
            <a:off x="3406000" y="2894117"/>
            <a:ext cx="9692774" cy="441326"/>
          </a:xfrm>
          <a:prstGeom prst="rect">
            <a:avLst/>
          </a:prstGeom>
        </p:spPr>
        <p:txBody>
          <a:bodyPr anchor="t" rtlCol="false" tIns="0" lIns="0" bIns="0" rIns="0">
            <a:spAutoFit/>
          </a:bodyPr>
          <a:lstStyle/>
          <a:p>
            <a:pPr algn="l">
              <a:lnSpc>
                <a:spcPts val="3499"/>
              </a:lnSpc>
            </a:pPr>
            <a:r>
              <a:rPr lang="en-US" b="true" sz="2499">
                <a:solidFill>
                  <a:srgbClr val="FFFFFF"/>
                </a:solidFill>
                <a:latin typeface="Poppins Bold"/>
                <a:ea typeface="Poppins Bold"/>
                <a:cs typeface="Poppins Bold"/>
                <a:sym typeface="Poppins Bold"/>
              </a:rPr>
              <a:t>Sentim</a:t>
            </a:r>
            <a:r>
              <a:rPr lang="en-US" b="true" sz="2499">
                <a:solidFill>
                  <a:srgbClr val="FFFFFF"/>
                </a:solidFill>
                <a:latin typeface="Poppins Bold"/>
                <a:ea typeface="Poppins Bold"/>
                <a:cs typeface="Poppins Bold"/>
                <a:sym typeface="Poppins Bold"/>
              </a:rPr>
              <a:t>ent and Event Driven Financial Insight Modeling</a:t>
            </a:r>
          </a:p>
        </p:txBody>
      </p:sp>
      <p:sp>
        <p:nvSpPr>
          <p:cNvPr name="TextBox 16" id="16"/>
          <p:cNvSpPr txBox="true"/>
          <p:nvPr/>
        </p:nvSpPr>
        <p:spPr>
          <a:xfrm rot="0">
            <a:off x="1574480" y="5269327"/>
            <a:ext cx="4479238" cy="492648"/>
          </a:xfrm>
          <a:prstGeom prst="rect">
            <a:avLst/>
          </a:prstGeom>
        </p:spPr>
        <p:txBody>
          <a:bodyPr anchor="t" rtlCol="false" tIns="0" lIns="0" bIns="0" rIns="0">
            <a:spAutoFit/>
          </a:bodyPr>
          <a:lstStyle/>
          <a:p>
            <a:pPr algn="ctr">
              <a:lnSpc>
                <a:spcPts val="3821"/>
              </a:lnSpc>
              <a:spcBef>
                <a:spcPct val="0"/>
              </a:spcBef>
            </a:pPr>
            <a:r>
              <a:rPr lang="en-US" b="true" sz="2729">
                <a:solidFill>
                  <a:srgbClr val="FFFFFF"/>
                </a:solidFill>
                <a:latin typeface="Poppins Bold"/>
                <a:ea typeface="Poppins Bold"/>
                <a:cs typeface="Poppins Bold"/>
                <a:sym typeface="Poppins Bold"/>
              </a:rPr>
              <a:t>Novelty </a:t>
            </a:r>
          </a:p>
        </p:txBody>
      </p:sp>
      <p:sp>
        <p:nvSpPr>
          <p:cNvPr name="TextBox 17" id="17"/>
          <p:cNvSpPr txBox="true"/>
          <p:nvPr/>
        </p:nvSpPr>
        <p:spPr>
          <a:xfrm rot="0">
            <a:off x="1577484" y="6029678"/>
            <a:ext cx="4476234" cy="1400704"/>
          </a:xfrm>
          <a:prstGeom prst="rect">
            <a:avLst/>
          </a:prstGeom>
        </p:spPr>
        <p:txBody>
          <a:bodyPr anchor="t" rtlCol="false" tIns="0" lIns="0" bIns="0" rIns="0">
            <a:spAutoFit/>
          </a:bodyPr>
          <a:lstStyle/>
          <a:p>
            <a:pPr algn="l">
              <a:lnSpc>
                <a:spcPts val="2888"/>
              </a:lnSpc>
              <a:spcBef>
                <a:spcPct val="0"/>
              </a:spcBef>
            </a:pPr>
            <a:r>
              <a:rPr lang="en-US" sz="2062">
                <a:solidFill>
                  <a:srgbClr val="FFFFFF"/>
                </a:solidFill>
                <a:latin typeface="Poppins"/>
                <a:ea typeface="Poppins"/>
                <a:cs typeface="Poppins"/>
                <a:sym typeface="Poppins"/>
              </a:rPr>
              <a:t>Context‑aware sentiment and macro‑event</a:t>
            </a:r>
            <a:r>
              <a:rPr lang="en-US" sz="2062">
                <a:solidFill>
                  <a:srgbClr val="FFFFFF"/>
                </a:solidFill>
                <a:latin typeface="Poppins"/>
                <a:ea typeface="Poppins"/>
                <a:cs typeface="Poppins"/>
                <a:sym typeface="Poppins"/>
              </a:rPr>
              <a:t> driven analysis for interpreting stock behavior.</a:t>
            </a:r>
          </a:p>
          <a:p>
            <a:pPr algn="ctr">
              <a:lnSpc>
                <a:spcPts val="2511"/>
              </a:lnSpc>
              <a:spcBef>
                <a:spcPct val="0"/>
              </a:spcBef>
            </a:pPr>
          </a:p>
        </p:txBody>
      </p:sp>
      <p:grpSp>
        <p:nvGrpSpPr>
          <p:cNvPr name="Group 18" id="18"/>
          <p:cNvGrpSpPr/>
          <p:nvPr/>
        </p:nvGrpSpPr>
        <p:grpSpPr>
          <a:xfrm rot="0">
            <a:off x="9047076" y="5252152"/>
            <a:ext cx="5182457" cy="659791"/>
            <a:chOff x="0" y="0"/>
            <a:chExt cx="989226" cy="125941"/>
          </a:xfrm>
        </p:grpSpPr>
        <p:sp>
          <p:nvSpPr>
            <p:cNvPr name="Freeform 19" id="19"/>
            <p:cNvSpPr/>
            <p:nvPr/>
          </p:nvSpPr>
          <p:spPr>
            <a:xfrm flipH="false" flipV="false" rot="0">
              <a:off x="0" y="0"/>
              <a:ext cx="989226" cy="125941"/>
            </a:xfrm>
            <a:custGeom>
              <a:avLst/>
              <a:gdLst/>
              <a:ahLst/>
              <a:cxnLst/>
              <a:rect r="r" b="b" t="t" l="l"/>
              <a:pathLst>
                <a:path h="125941" w="989226">
                  <a:moveTo>
                    <a:pt x="62970" y="0"/>
                  </a:moveTo>
                  <a:lnTo>
                    <a:pt x="926256" y="0"/>
                  </a:lnTo>
                  <a:cubicBezTo>
                    <a:pt x="961033" y="0"/>
                    <a:pt x="989226" y="28193"/>
                    <a:pt x="989226" y="62970"/>
                  </a:cubicBezTo>
                  <a:lnTo>
                    <a:pt x="989226" y="62970"/>
                  </a:lnTo>
                  <a:cubicBezTo>
                    <a:pt x="989226" y="79671"/>
                    <a:pt x="982592" y="95688"/>
                    <a:pt x="970783" y="107497"/>
                  </a:cubicBezTo>
                  <a:cubicBezTo>
                    <a:pt x="958973" y="119306"/>
                    <a:pt x="942957" y="125941"/>
                    <a:pt x="926256" y="125941"/>
                  </a:cubicBezTo>
                  <a:lnTo>
                    <a:pt x="62970" y="125941"/>
                  </a:lnTo>
                  <a:cubicBezTo>
                    <a:pt x="28193" y="125941"/>
                    <a:pt x="0" y="97748"/>
                    <a:pt x="0" y="62970"/>
                  </a:cubicBezTo>
                  <a:lnTo>
                    <a:pt x="0" y="62970"/>
                  </a:lnTo>
                  <a:cubicBezTo>
                    <a:pt x="0" y="28193"/>
                    <a:pt x="28193" y="0"/>
                    <a:pt x="62970" y="0"/>
                  </a:cubicBezTo>
                  <a:close/>
                </a:path>
              </a:pathLst>
            </a:custGeom>
            <a:solidFill>
              <a:srgbClr val="134161"/>
            </a:solidFill>
          </p:spPr>
        </p:sp>
        <p:sp>
          <p:nvSpPr>
            <p:cNvPr name="TextBox 20" id="20"/>
            <p:cNvSpPr txBox="true"/>
            <p:nvPr/>
          </p:nvSpPr>
          <p:spPr>
            <a:xfrm>
              <a:off x="0" y="-57150"/>
              <a:ext cx="989226" cy="183091"/>
            </a:xfrm>
            <a:prstGeom prst="rect">
              <a:avLst/>
            </a:prstGeom>
          </p:spPr>
          <p:txBody>
            <a:bodyPr anchor="ctr" rtlCol="false" tIns="50800" lIns="50800" bIns="50800" rIns="50800"/>
            <a:lstStyle/>
            <a:p>
              <a:pPr algn="ctr">
                <a:lnSpc>
                  <a:spcPts val="2379"/>
                </a:lnSpc>
              </a:pPr>
            </a:p>
          </p:txBody>
        </p:sp>
      </p:grpSp>
      <p:sp>
        <p:nvSpPr>
          <p:cNvPr name="TextBox 21" id="21"/>
          <p:cNvSpPr txBox="true"/>
          <p:nvPr/>
        </p:nvSpPr>
        <p:spPr>
          <a:xfrm rot="0">
            <a:off x="9116180" y="5359218"/>
            <a:ext cx="5103828" cy="407558"/>
          </a:xfrm>
          <a:prstGeom prst="rect">
            <a:avLst/>
          </a:prstGeom>
        </p:spPr>
        <p:txBody>
          <a:bodyPr anchor="t" rtlCol="false" tIns="0" lIns="0" bIns="0" rIns="0">
            <a:spAutoFit/>
          </a:bodyPr>
          <a:lstStyle/>
          <a:p>
            <a:pPr algn="ctr">
              <a:lnSpc>
                <a:spcPts val="3261"/>
              </a:lnSpc>
              <a:spcBef>
                <a:spcPct val="0"/>
              </a:spcBef>
            </a:pPr>
            <a:r>
              <a:rPr lang="en-US" b="true" sz="2329">
                <a:solidFill>
                  <a:srgbClr val="FFFFFF"/>
                </a:solidFill>
                <a:latin typeface="Poppins Bold"/>
                <a:ea typeface="Poppins Bold"/>
                <a:cs typeface="Poppins Bold"/>
                <a:sym typeface="Poppins Bold"/>
              </a:rPr>
              <a:t>Contribution to Overall Solution</a:t>
            </a:r>
          </a:p>
        </p:txBody>
      </p:sp>
      <p:sp>
        <p:nvSpPr>
          <p:cNvPr name="TextBox 22" id="22"/>
          <p:cNvSpPr txBox="true"/>
          <p:nvPr/>
        </p:nvSpPr>
        <p:spPr>
          <a:xfrm rot="0">
            <a:off x="9429977" y="6029678"/>
            <a:ext cx="4476234" cy="1759516"/>
          </a:xfrm>
          <a:prstGeom prst="rect">
            <a:avLst/>
          </a:prstGeom>
        </p:spPr>
        <p:txBody>
          <a:bodyPr anchor="t" rtlCol="false" tIns="0" lIns="0" bIns="0" rIns="0">
            <a:spAutoFit/>
          </a:bodyPr>
          <a:lstStyle/>
          <a:p>
            <a:pPr algn="l">
              <a:lnSpc>
                <a:spcPts val="2888"/>
              </a:lnSpc>
              <a:spcBef>
                <a:spcPct val="0"/>
              </a:spcBef>
            </a:pPr>
            <a:r>
              <a:rPr lang="en-US" sz="2062">
                <a:solidFill>
                  <a:srgbClr val="FFFFFF"/>
                </a:solidFill>
                <a:latin typeface="Poppins"/>
                <a:ea typeface="Poppins"/>
                <a:cs typeface="Poppins"/>
                <a:sym typeface="Poppins"/>
              </a:rPr>
              <a:t>Provides sentiment and event‑base</a:t>
            </a:r>
            <a:r>
              <a:rPr lang="en-US" sz="2062">
                <a:solidFill>
                  <a:srgbClr val="FFFFFF"/>
                </a:solidFill>
                <a:latin typeface="Poppins"/>
                <a:ea typeface="Poppins"/>
                <a:cs typeface="Poppins"/>
                <a:sym typeface="Poppins"/>
              </a:rPr>
              <a:t>d signals that explain market trends and support the system’s final investor insights.</a:t>
            </a:r>
          </a:p>
          <a:p>
            <a:pPr algn="ctr">
              <a:lnSpc>
                <a:spcPts val="2511"/>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true" flipV="false" rot="0">
            <a:off x="14924349" y="7410120"/>
            <a:ext cx="3634918" cy="3300681"/>
          </a:xfrm>
          <a:custGeom>
            <a:avLst/>
            <a:gdLst/>
            <a:ahLst/>
            <a:cxnLst/>
            <a:rect r="r" b="b" t="t" l="l"/>
            <a:pathLst>
              <a:path h="3300681" w="3634918">
                <a:moveTo>
                  <a:pt x="3634918" y="0"/>
                </a:moveTo>
                <a:lnTo>
                  <a:pt x="0" y="0"/>
                </a:lnTo>
                <a:lnTo>
                  <a:pt x="0" y="3300681"/>
                </a:lnTo>
                <a:lnTo>
                  <a:pt x="3634918" y="3300681"/>
                </a:lnTo>
                <a:lnTo>
                  <a:pt x="3634918" y="0"/>
                </a:lnTo>
                <a:close/>
              </a:path>
            </a:pathLst>
          </a:custGeom>
          <a:blipFill>
            <a:blip r:embed="rId3">
              <a:extLst>
                <a:ext uri="{96DAC541-7B7A-43D3-8B79-37D633B846F1}">
                  <asvg:svgBlip xmlns:asvg="http://schemas.microsoft.com/office/drawing/2016/SVG/main" r:embed="rId4"/>
                </a:ext>
              </a:extLst>
            </a:blip>
            <a:stretch>
              <a:fillRect l="0" t="0" r="0" b="-10126"/>
            </a:stretch>
          </a:blipFill>
        </p:spPr>
      </p:sp>
      <p:sp>
        <p:nvSpPr>
          <p:cNvPr name="Freeform 4" id="4"/>
          <p:cNvSpPr/>
          <p:nvPr/>
        </p:nvSpPr>
        <p:spPr>
          <a:xfrm flipH="false" flipV="false" rot="0">
            <a:off x="-312426" y="7205417"/>
            <a:ext cx="3673321" cy="3335553"/>
          </a:xfrm>
          <a:custGeom>
            <a:avLst/>
            <a:gdLst/>
            <a:ahLst/>
            <a:cxnLst/>
            <a:rect r="r" b="b" t="t" l="l"/>
            <a:pathLst>
              <a:path h="3335553" w="3673321">
                <a:moveTo>
                  <a:pt x="0" y="0"/>
                </a:moveTo>
                <a:lnTo>
                  <a:pt x="3673322" y="0"/>
                </a:lnTo>
                <a:lnTo>
                  <a:pt x="3673322" y="3335554"/>
                </a:lnTo>
                <a:lnTo>
                  <a:pt x="0" y="3335554"/>
                </a:lnTo>
                <a:lnTo>
                  <a:pt x="0" y="0"/>
                </a:lnTo>
                <a:close/>
              </a:path>
            </a:pathLst>
          </a:custGeom>
          <a:blipFill>
            <a:blip r:embed="rId3">
              <a:extLst>
                <a:ext uri="{96DAC541-7B7A-43D3-8B79-37D633B846F1}">
                  <asvg:svgBlip xmlns:asvg="http://schemas.microsoft.com/office/drawing/2016/SVG/main" r:embed="rId4"/>
                </a:ext>
              </a:extLst>
            </a:blip>
            <a:stretch>
              <a:fillRect l="0" t="0" r="0" b="-10126"/>
            </a:stretch>
          </a:blipFill>
        </p:spPr>
      </p:sp>
      <p:grpSp>
        <p:nvGrpSpPr>
          <p:cNvPr name="Group 5" id="5"/>
          <p:cNvGrpSpPr/>
          <p:nvPr/>
        </p:nvGrpSpPr>
        <p:grpSpPr>
          <a:xfrm rot="0">
            <a:off x="10950203" y="163343"/>
            <a:ext cx="9893488" cy="507312"/>
            <a:chOff x="0" y="0"/>
            <a:chExt cx="13191318" cy="676416"/>
          </a:xfrm>
        </p:grpSpPr>
        <p:grpSp>
          <p:nvGrpSpPr>
            <p:cNvPr name="Group 6" id="6"/>
            <p:cNvGrpSpPr/>
            <p:nvPr/>
          </p:nvGrpSpPr>
          <p:grpSpPr>
            <a:xfrm rot="0">
              <a:off x="0" y="0"/>
              <a:ext cx="9626990" cy="676416"/>
              <a:chOff x="0" y="0"/>
              <a:chExt cx="1901628" cy="133613"/>
            </a:xfrm>
          </p:grpSpPr>
          <p:sp>
            <p:nvSpPr>
              <p:cNvPr name="Freeform 7" id="7"/>
              <p:cNvSpPr/>
              <p:nvPr/>
            </p:nvSpPr>
            <p:spPr>
              <a:xfrm flipH="false" flipV="false" rot="0">
                <a:off x="0" y="0"/>
                <a:ext cx="1901628" cy="133613"/>
              </a:xfrm>
              <a:custGeom>
                <a:avLst/>
                <a:gdLst/>
                <a:ahLst/>
                <a:cxnLst/>
                <a:rect r="r" b="b" t="t" l="l"/>
                <a:pathLst>
                  <a:path h="133613" w="1901628">
                    <a:moveTo>
                      <a:pt x="54283" y="0"/>
                    </a:moveTo>
                    <a:lnTo>
                      <a:pt x="1847345" y="0"/>
                    </a:lnTo>
                    <a:cubicBezTo>
                      <a:pt x="1877325" y="0"/>
                      <a:pt x="1901628" y="24303"/>
                      <a:pt x="1901628" y="54283"/>
                    </a:cubicBezTo>
                    <a:lnTo>
                      <a:pt x="1901628" y="79330"/>
                    </a:lnTo>
                    <a:cubicBezTo>
                      <a:pt x="1901628" y="93727"/>
                      <a:pt x="1895909" y="107534"/>
                      <a:pt x="1885729" y="117714"/>
                    </a:cubicBezTo>
                    <a:cubicBezTo>
                      <a:pt x="1875549" y="127894"/>
                      <a:pt x="1861742" y="133613"/>
                      <a:pt x="1847345" y="133613"/>
                    </a:cubicBezTo>
                    <a:lnTo>
                      <a:pt x="54283" y="133613"/>
                    </a:lnTo>
                    <a:cubicBezTo>
                      <a:pt x="24303" y="133613"/>
                      <a:pt x="0" y="109310"/>
                      <a:pt x="0" y="79330"/>
                    </a:cubicBezTo>
                    <a:lnTo>
                      <a:pt x="0" y="54283"/>
                    </a:lnTo>
                    <a:cubicBezTo>
                      <a:pt x="0" y="24303"/>
                      <a:pt x="24303" y="0"/>
                      <a:pt x="54283" y="0"/>
                    </a:cubicBezTo>
                    <a:close/>
                  </a:path>
                </a:pathLst>
              </a:custGeom>
              <a:solidFill>
                <a:srgbClr val="134161"/>
              </a:solidFill>
            </p:spPr>
          </p:sp>
          <p:sp>
            <p:nvSpPr>
              <p:cNvPr name="TextBox 8" id="8"/>
              <p:cNvSpPr txBox="true"/>
              <p:nvPr/>
            </p:nvSpPr>
            <p:spPr>
              <a:xfrm>
                <a:off x="0" y="-38100"/>
                <a:ext cx="1901628" cy="171713"/>
              </a:xfrm>
              <a:prstGeom prst="rect">
                <a:avLst/>
              </a:prstGeom>
            </p:spPr>
            <p:txBody>
              <a:bodyPr anchor="ctr" rtlCol="false" tIns="50800" lIns="50800" bIns="50800" rIns="50800"/>
              <a:lstStyle/>
              <a:p>
                <a:pPr algn="ctr">
                  <a:lnSpc>
                    <a:spcPts val="1540"/>
                  </a:lnSpc>
                </a:pPr>
              </a:p>
            </p:txBody>
          </p:sp>
        </p:grpSp>
        <p:sp>
          <p:nvSpPr>
            <p:cNvPr name="TextBox 9" id="9"/>
            <p:cNvSpPr txBox="true"/>
            <p:nvPr/>
          </p:nvSpPr>
          <p:spPr>
            <a:xfrm rot="0">
              <a:off x="267620" y="74325"/>
              <a:ext cx="12923698" cy="437304"/>
            </a:xfrm>
            <a:prstGeom prst="rect">
              <a:avLst/>
            </a:prstGeom>
          </p:spPr>
          <p:txBody>
            <a:bodyPr anchor="t" rtlCol="false" tIns="0" lIns="0" bIns="0" rIns="0">
              <a:spAutoFit/>
            </a:bodyPr>
            <a:lstStyle/>
            <a:p>
              <a:pPr algn="l">
                <a:lnSpc>
                  <a:spcPts val="2659"/>
                </a:lnSpc>
              </a:pPr>
              <a:r>
                <a:rPr lang="en-US" b="true" sz="1899">
                  <a:solidFill>
                    <a:srgbClr val="FFFFFF"/>
                  </a:solidFill>
                  <a:latin typeface="Poppins Bold"/>
                  <a:ea typeface="Poppins Bold"/>
                  <a:cs typeface="Poppins Bold"/>
                  <a:sym typeface="Poppins Bold"/>
                </a:rPr>
                <a:t>Sentim</a:t>
              </a:r>
              <a:r>
                <a:rPr lang="en-US" b="true" sz="1899">
                  <a:solidFill>
                    <a:srgbClr val="FFFFFF"/>
                  </a:solidFill>
                  <a:latin typeface="Poppins Bold"/>
                  <a:ea typeface="Poppins Bold"/>
                  <a:cs typeface="Poppins Bold"/>
                  <a:sym typeface="Poppins Bold"/>
                </a:rPr>
                <a:t>ent and Event Driven Financial Insight Modeling</a:t>
              </a:r>
            </a:p>
          </p:txBody>
        </p:sp>
      </p:grpSp>
      <p:grpSp>
        <p:nvGrpSpPr>
          <p:cNvPr name="Group 10" id="10"/>
          <p:cNvGrpSpPr/>
          <p:nvPr/>
        </p:nvGrpSpPr>
        <p:grpSpPr>
          <a:xfrm rot="0">
            <a:off x="584922" y="1951532"/>
            <a:ext cx="2986166" cy="2586428"/>
            <a:chOff x="0" y="0"/>
            <a:chExt cx="786480" cy="681199"/>
          </a:xfrm>
        </p:grpSpPr>
        <p:sp>
          <p:nvSpPr>
            <p:cNvPr name="Freeform 11" id="11"/>
            <p:cNvSpPr/>
            <p:nvPr/>
          </p:nvSpPr>
          <p:spPr>
            <a:xfrm flipH="false" flipV="false" rot="0">
              <a:off x="0" y="0"/>
              <a:ext cx="786480" cy="681199"/>
            </a:xfrm>
            <a:custGeom>
              <a:avLst/>
              <a:gdLst/>
              <a:ahLst/>
              <a:cxnLst/>
              <a:rect r="r" b="b" t="t" l="l"/>
              <a:pathLst>
                <a:path h="681199" w="786480">
                  <a:moveTo>
                    <a:pt x="132222" y="0"/>
                  </a:moveTo>
                  <a:lnTo>
                    <a:pt x="654257" y="0"/>
                  </a:lnTo>
                  <a:cubicBezTo>
                    <a:pt x="689325" y="0"/>
                    <a:pt x="722956" y="13931"/>
                    <a:pt x="747753" y="38727"/>
                  </a:cubicBezTo>
                  <a:cubicBezTo>
                    <a:pt x="772549" y="63524"/>
                    <a:pt x="786480" y="97155"/>
                    <a:pt x="786480" y="132222"/>
                  </a:cubicBezTo>
                  <a:lnTo>
                    <a:pt x="786480" y="548977"/>
                  </a:lnTo>
                  <a:cubicBezTo>
                    <a:pt x="786480" y="584044"/>
                    <a:pt x="772549" y="617676"/>
                    <a:pt x="747753" y="642472"/>
                  </a:cubicBezTo>
                  <a:cubicBezTo>
                    <a:pt x="722956" y="667269"/>
                    <a:pt x="689325" y="681199"/>
                    <a:pt x="654257" y="681199"/>
                  </a:cubicBezTo>
                  <a:lnTo>
                    <a:pt x="132222" y="681199"/>
                  </a:lnTo>
                  <a:cubicBezTo>
                    <a:pt x="97155" y="681199"/>
                    <a:pt x="63524" y="667269"/>
                    <a:pt x="38727" y="642472"/>
                  </a:cubicBezTo>
                  <a:cubicBezTo>
                    <a:pt x="13931" y="617676"/>
                    <a:pt x="0" y="584044"/>
                    <a:pt x="0" y="548977"/>
                  </a:cubicBezTo>
                  <a:lnTo>
                    <a:pt x="0" y="132222"/>
                  </a:lnTo>
                  <a:cubicBezTo>
                    <a:pt x="0" y="97155"/>
                    <a:pt x="13931" y="63524"/>
                    <a:pt x="38727" y="38727"/>
                  </a:cubicBezTo>
                  <a:cubicBezTo>
                    <a:pt x="63524" y="13931"/>
                    <a:pt x="97155" y="0"/>
                    <a:pt x="132222" y="0"/>
                  </a:cubicBezTo>
                  <a:close/>
                </a:path>
              </a:pathLst>
            </a:custGeom>
            <a:solidFill>
              <a:srgbClr val="134161">
                <a:alpha val="52941"/>
              </a:srgbClr>
            </a:solidFill>
            <a:ln w="38100" cap="rnd">
              <a:solidFill>
                <a:srgbClr val="FFFFFF">
                  <a:alpha val="52941"/>
                </a:srgbClr>
              </a:solidFill>
              <a:prstDash val="solid"/>
              <a:round/>
            </a:ln>
          </p:spPr>
        </p:sp>
        <p:sp>
          <p:nvSpPr>
            <p:cNvPr name="TextBox 12" id="12"/>
            <p:cNvSpPr txBox="true"/>
            <p:nvPr/>
          </p:nvSpPr>
          <p:spPr>
            <a:xfrm>
              <a:off x="0" y="-57150"/>
              <a:ext cx="786480" cy="738349"/>
            </a:xfrm>
            <a:prstGeom prst="rect">
              <a:avLst/>
            </a:prstGeom>
          </p:spPr>
          <p:txBody>
            <a:bodyPr anchor="ctr" rtlCol="false" tIns="50800" lIns="50800" bIns="50800" rIns="50800"/>
            <a:lstStyle/>
            <a:p>
              <a:pPr algn="ctr">
                <a:lnSpc>
                  <a:spcPts val="2379"/>
                </a:lnSpc>
              </a:pPr>
            </a:p>
          </p:txBody>
        </p:sp>
      </p:grpSp>
      <p:sp>
        <p:nvSpPr>
          <p:cNvPr name="TextBox 13" id="13"/>
          <p:cNvSpPr txBox="true"/>
          <p:nvPr/>
        </p:nvSpPr>
        <p:spPr>
          <a:xfrm rot="0">
            <a:off x="235860" y="231399"/>
            <a:ext cx="3909850" cy="333101"/>
          </a:xfrm>
          <a:prstGeom prst="rect">
            <a:avLst/>
          </a:prstGeom>
        </p:spPr>
        <p:txBody>
          <a:bodyPr anchor="t" rtlCol="false" tIns="0" lIns="0" bIns="0" rIns="0">
            <a:spAutoFit/>
          </a:bodyPr>
          <a:lstStyle/>
          <a:p>
            <a:pPr algn="l">
              <a:lnSpc>
                <a:spcPts val="2723"/>
              </a:lnSpc>
              <a:spcBef>
                <a:spcPct val="0"/>
              </a:spcBef>
            </a:pPr>
            <a:r>
              <a:rPr lang="en-US" sz="1945">
                <a:solidFill>
                  <a:srgbClr val="FFFFFF"/>
                </a:solidFill>
                <a:latin typeface="Archivo Black"/>
                <a:ea typeface="Archivo Black"/>
                <a:cs typeface="Archivo Black"/>
                <a:sym typeface="Archivo Black"/>
              </a:rPr>
              <a:t>HARITHRA.K | IT22065308</a:t>
            </a:r>
          </a:p>
        </p:txBody>
      </p:sp>
      <p:grpSp>
        <p:nvGrpSpPr>
          <p:cNvPr name="Group 14" id="14"/>
          <p:cNvGrpSpPr/>
          <p:nvPr/>
        </p:nvGrpSpPr>
        <p:grpSpPr>
          <a:xfrm rot="0">
            <a:off x="4145710" y="1951532"/>
            <a:ext cx="2986166" cy="2586428"/>
            <a:chOff x="0" y="0"/>
            <a:chExt cx="786480" cy="681199"/>
          </a:xfrm>
        </p:grpSpPr>
        <p:sp>
          <p:nvSpPr>
            <p:cNvPr name="Freeform 15" id="15"/>
            <p:cNvSpPr/>
            <p:nvPr/>
          </p:nvSpPr>
          <p:spPr>
            <a:xfrm flipH="false" flipV="false" rot="0">
              <a:off x="0" y="0"/>
              <a:ext cx="786480" cy="681199"/>
            </a:xfrm>
            <a:custGeom>
              <a:avLst/>
              <a:gdLst/>
              <a:ahLst/>
              <a:cxnLst/>
              <a:rect r="r" b="b" t="t" l="l"/>
              <a:pathLst>
                <a:path h="681199" w="786480">
                  <a:moveTo>
                    <a:pt x="132222" y="0"/>
                  </a:moveTo>
                  <a:lnTo>
                    <a:pt x="654257" y="0"/>
                  </a:lnTo>
                  <a:cubicBezTo>
                    <a:pt x="689325" y="0"/>
                    <a:pt x="722956" y="13931"/>
                    <a:pt x="747753" y="38727"/>
                  </a:cubicBezTo>
                  <a:cubicBezTo>
                    <a:pt x="772549" y="63524"/>
                    <a:pt x="786480" y="97155"/>
                    <a:pt x="786480" y="132222"/>
                  </a:cubicBezTo>
                  <a:lnTo>
                    <a:pt x="786480" y="548977"/>
                  </a:lnTo>
                  <a:cubicBezTo>
                    <a:pt x="786480" y="584044"/>
                    <a:pt x="772549" y="617676"/>
                    <a:pt x="747753" y="642472"/>
                  </a:cubicBezTo>
                  <a:cubicBezTo>
                    <a:pt x="722956" y="667269"/>
                    <a:pt x="689325" y="681199"/>
                    <a:pt x="654257" y="681199"/>
                  </a:cubicBezTo>
                  <a:lnTo>
                    <a:pt x="132222" y="681199"/>
                  </a:lnTo>
                  <a:cubicBezTo>
                    <a:pt x="97155" y="681199"/>
                    <a:pt x="63524" y="667269"/>
                    <a:pt x="38727" y="642472"/>
                  </a:cubicBezTo>
                  <a:cubicBezTo>
                    <a:pt x="13931" y="617676"/>
                    <a:pt x="0" y="584044"/>
                    <a:pt x="0" y="548977"/>
                  </a:cubicBezTo>
                  <a:lnTo>
                    <a:pt x="0" y="132222"/>
                  </a:lnTo>
                  <a:cubicBezTo>
                    <a:pt x="0" y="97155"/>
                    <a:pt x="13931" y="63524"/>
                    <a:pt x="38727" y="38727"/>
                  </a:cubicBezTo>
                  <a:cubicBezTo>
                    <a:pt x="63524" y="13931"/>
                    <a:pt x="97155" y="0"/>
                    <a:pt x="132222" y="0"/>
                  </a:cubicBezTo>
                  <a:close/>
                </a:path>
              </a:pathLst>
            </a:custGeom>
            <a:solidFill>
              <a:srgbClr val="134161">
                <a:alpha val="52941"/>
              </a:srgbClr>
            </a:solidFill>
            <a:ln w="38100" cap="rnd">
              <a:solidFill>
                <a:srgbClr val="FFFFFF">
                  <a:alpha val="52941"/>
                </a:srgbClr>
              </a:solidFill>
              <a:prstDash val="solid"/>
              <a:round/>
            </a:ln>
          </p:spPr>
        </p:sp>
        <p:sp>
          <p:nvSpPr>
            <p:cNvPr name="TextBox 16" id="16"/>
            <p:cNvSpPr txBox="true"/>
            <p:nvPr/>
          </p:nvSpPr>
          <p:spPr>
            <a:xfrm>
              <a:off x="0" y="-57150"/>
              <a:ext cx="786480" cy="738349"/>
            </a:xfrm>
            <a:prstGeom prst="rect">
              <a:avLst/>
            </a:prstGeom>
          </p:spPr>
          <p:txBody>
            <a:bodyPr anchor="ctr" rtlCol="false" tIns="50800" lIns="50800" bIns="50800" rIns="50800"/>
            <a:lstStyle/>
            <a:p>
              <a:pPr algn="ctr">
                <a:lnSpc>
                  <a:spcPts val="2379"/>
                </a:lnSpc>
              </a:pPr>
            </a:p>
          </p:txBody>
        </p:sp>
      </p:grpSp>
      <p:grpSp>
        <p:nvGrpSpPr>
          <p:cNvPr name="Group 17" id="17"/>
          <p:cNvGrpSpPr/>
          <p:nvPr/>
        </p:nvGrpSpPr>
        <p:grpSpPr>
          <a:xfrm rot="0">
            <a:off x="7706499" y="1951532"/>
            <a:ext cx="2986166" cy="2586428"/>
            <a:chOff x="0" y="0"/>
            <a:chExt cx="786480" cy="681199"/>
          </a:xfrm>
        </p:grpSpPr>
        <p:sp>
          <p:nvSpPr>
            <p:cNvPr name="Freeform 18" id="18"/>
            <p:cNvSpPr/>
            <p:nvPr/>
          </p:nvSpPr>
          <p:spPr>
            <a:xfrm flipH="false" flipV="false" rot="0">
              <a:off x="0" y="0"/>
              <a:ext cx="786480" cy="681199"/>
            </a:xfrm>
            <a:custGeom>
              <a:avLst/>
              <a:gdLst/>
              <a:ahLst/>
              <a:cxnLst/>
              <a:rect r="r" b="b" t="t" l="l"/>
              <a:pathLst>
                <a:path h="681199" w="786480">
                  <a:moveTo>
                    <a:pt x="132222" y="0"/>
                  </a:moveTo>
                  <a:lnTo>
                    <a:pt x="654257" y="0"/>
                  </a:lnTo>
                  <a:cubicBezTo>
                    <a:pt x="689325" y="0"/>
                    <a:pt x="722956" y="13931"/>
                    <a:pt x="747753" y="38727"/>
                  </a:cubicBezTo>
                  <a:cubicBezTo>
                    <a:pt x="772549" y="63524"/>
                    <a:pt x="786480" y="97155"/>
                    <a:pt x="786480" y="132222"/>
                  </a:cubicBezTo>
                  <a:lnTo>
                    <a:pt x="786480" y="548977"/>
                  </a:lnTo>
                  <a:cubicBezTo>
                    <a:pt x="786480" y="584044"/>
                    <a:pt x="772549" y="617676"/>
                    <a:pt x="747753" y="642472"/>
                  </a:cubicBezTo>
                  <a:cubicBezTo>
                    <a:pt x="722956" y="667269"/>
                    <a:pt x="689325" y="681199"/>
                    <a:pt x="654257" y="681199"/>
                  </a:cubicBezTo>
                  <a:lnTo>
                    <a:pt x="132222" y="681199"/>
                  </a:lnTo>
                  <a:cubicBezTo>
                    <a:pt x="97155" y="681199"/>
                    <a:pt x="63524" y="667269"/>
                    <a:pt x="38727" y="642472"/>
                  </a:cubicBezTo>
                  <a:cubicBezTo>
                    <a:pt x="13931" y="617676"/>
                    <a:pt x="0" y="584044"/>
                    <a:pt x="0" y="548977"/>
                  </a:cubicBezTo>
                  <a:lnTo>
                    <a:pt x="0" y="132222"/>
                  </a:lnTo>
                  <a:cubicBezTo>
                    <a:pt x="0" y="97155"/>
                    <a:pt x="13931" y="63524"/>
                    <a:pt x="38727" y="38727"/>
                  </a:cubicBezTo>
                  <a:cubicBezTo>
                    <a:pt x="63524" y="13931"/>
                    <a:pt x="97155" y="0"/>
                    <a:pt x="132222" y="0"/>
                  </a:cubicBezTo>
                  <a:close/>
                </a:path>
              </a:pathLst>
            </a:custGeom>
            <a:solidFill>
              <a:srgbClr val="134161">
                <a:alpha val="52941"/>
              </a:srgbClr>
            </a:solidFill>
            <a:ln w="38100" cap="rnd">
              <a:solidFill>
                <a:srgbClr val="FFFFFF">
                  <a:alpha val="52941"/>
                </a:srgbClr>
              </a:solidFill>
              <a:prstDash val="solid"/>
              <a:round/>
            </a:ln>
          </p:spPr>
        </p:sp>
        <p:sp>
          <p:nvSpPr>
            <p:cNvPr name="TextBox 19" id="19"/>
            <p:cNvSpPr txBox="true"/>
            <p:nvPr/>
          </p:nvSpPr>
          <p:spPr>
            <a:xfrm>
              <a:off x="0" y="-57150"/>
              <a:ext cx="786480" cy="738349"/>
            </a:xfrm>
            <a:prstGeom prst="rect">
              <a:avLst/>
            </a:prstGeom>
          </p:spPr>
          <p:txBody>
            <a:bodyPr anchor="ctr" rtlCol="false" tIns="50800" lIns="50800" bIns="50800" rIns="50800"/>
            <a:lstStyle/>
            <a:p>
              <a:pPr algn="ctr">
                <a:lnSpc>
                  <a:spcPts val="2379"/>
                </a:lnSpc>
              </a:pPr>
            </a:p>
          </p:txBody>
        </p:sp>
      </p:grpSp>
      <p:grpSp>
        <p:nvGrpSpPr>
          <p:cNvPr name="Group 20" id="20"/>
          <p:cNvGrpSpPr/>
          <p:nvPr/>
        </p:nvGrpSpPr>
        <p:grpSpPr>
          <a:xfrm rot="0">
            <a:off x="11267287" y="1951532"/>
            <a:ext cx="2986166" cy="2586428"/>
            <a:chOff x="0" y="0"/>
            <a:chExt cx="786480" cy="681199"/>
          </a:xfrm>
        </p:grpSpPr>
        <p:sp>
          <p:nvSpPr>
            <p:cNvPr name="Freeform 21" id="21"/>
            <p:cNvSpPr/>
            <p:nvPr/>
          </p:nvSpPr>
          <p:spPr>
            <a:xfrm flipH="false" flipV="false" rot="0">
              <a:off x="0" y="0"/>
              <a:ext cx="786480" cy="681199"/>
            </a:xfrm>
            <a:custGeom>
              <a:avLst/>
              <a:gdLst/>
              <a:ahLst/>
              <a:cxnLst/>
              <a:rect r="r" b="b" t="t" l="l"/>
              <a:pathLst>
                <a:path h="681199" w="786480">
                  <a:moveTo>
                    <a:pt x="132222" y="0"/>
                  </a:moveTo>
                  <a:lnTo>
                    <a:pt x="654257" y="0"/>
                  </a:lnTo>
                  <a:cubicBezTo>
                    <a:pt x="689325" y="0"/>
                    <a:pt x="722956" y="13931"/>
                    <a:pt x="747753" y="38727"/>
                  </a:cubicBezTo>
                  <a:cubicBezTo>
                    <a:pt x="772549" y="63524"/>
                    <a:pt x="786480" y="97155"/>
                    <a:pt x="786480" y="132222"/>
                  </a:cubicBezTo>
                  <a:lnTo>
                    <a:pt x="786480" y="548977"/>
                  </a:lnTo>
                  <a:cubicBezTo>
                    <a:pt x="786480" y="584044"/>
                    <a:pt x="772549" y="617676"/>
                    <a:pt x="747753" y="642472"/>
                  </a:cubicBezTo>
                  <a:cubicBezTo>
                    <a:pt x="722956" y="667269"/>
                    <a:pt x="689325" y="681199"/>
                    <a:pt x="654257" y="681199"/>
                  </a:cubicBezTo>
                  <a:lnTo>
                    <a:pt x="132222" y="681199"/>
                  </a:lnTo>
                  <a:cubicBezTo>
                    <a:pt x="97155" y="681199"/>
                    <a:pt x="63524" y="667269"/>
                    <a:pt x="38727" y="642472"/>
                  </a:cubicBezTo>
                  <a:cubicBezTo>
                    <a:pt x="13931" y="617676"/>
                    <a:pt x="0" y="584044"/>
                    <a:pt x="0" y="548977"/>
                  </a:cubicBezTo>
                  <a:lnTo>
                    <a:pt x="0" y="132222"/>
                  </a:lnTo>
                  <a:cubicBezTo>
                    <a:pt x="0" y="97155"/>
                    <a:pt x="13931" y="63524"/>
                    <a:pt x="38727" y="38727"/>
                  </a:cubicBezTo>
                  <a:cubicBezTo>
                    <a:pt x="63524" y="13931"/>
                    <a:pt x="97155" y="0"/>
                    <a:pt x="132222" y="0"/>
                  </a:cubicBezTo>
                  <a:close/>
                </a:path>
              </a:pathLst>
            </a:custGeom>
            <a:solidFill>
              <a:srgbClr val="134161">
                <a:alpha val="52941"/>
              </a:srgbClr>
            </a:solidFill>
            <a:ln w="38100" cap="rnd">
              <a:solidFill>
                <a:srgbClr val="FFFFFF">
                  <a:alpha val="52941"/>
                </a:srgbClr>
              </a:solidFill>
              <a:prstDash val="solid"/>
              <a:round/>
            </a:ln>
          </p:spPr>
        </p:sp>
        <p:sp>
          <p:nvSpPr>
            <p:cNvPr name="TextBox 22" id="22"/>
            <p:cNvSpPr txBox="true"/>
            <p:nvPr/>
          </p:nvSpPr>
          <p:spPr>
            <a:xfrm>
              <a:off x="0" y="-57150"/>
              <a:ext cx="786480" cy="738349"/>
            </a:xfrm>
            <a:prstGeom prst="rect">
              <a:avLst/>
            </a:prstGeom>
          </p:spPr>
          <p:txBody>
            <a:bodyPr anchor="ctr" rtlCol="false" tIns="50800" lIns="50800" bIns="50800" rIns="50800"/>
            <a:lstStyle/>
            <a:p>
              <a:pPr algn="ctr">
                <a:lnSpc>
                  <a:spcPts val="2379"/>
                </a:lnSpc>
              </a:pPr>
            </a:p>
          </p:txBody>
        </p:sp>
      </p:grpSp>
      <p:grpSp>
        <p:nvGrpSpPr>
          <p:cNvPr name="Group 23" id="23"/>
          <p:cNvGrpSpPr/>
          <p:nvPr/>
        </p:nvGrpSpPr>
        <p:grpSpPr>
          <a:xfrm rot="0">
            <a:off x="14828076" y="1951532"/>
            <a:ext cx="2986166" cy="2586428"/>
            <a:chOff x="0" y="0"/>
            <a:chExt cx="786480" cy="681199"/>
          </a:xfrm>
        </p:grpSpPr>
        <p:sp>
          <p:nvSpPr>
            <p:cNvPr name="Freeform 24" id="24"/>
            <p:cNvSpPr/>
            <p:nvPr/>
          </p:nvSpPr>
          <p:spPr>
            <a:xfrm flipH="false" flipV="false" rot="0">
              <a:off x="0" y="0"/>
              <a:ext cx="786480" cy="681199"/>
            </a:xfrm>
            <a:custGeom>
              <a:avLst/>
              <a:gdLst/>
              <a:ahLst/>
              <a:cxnLst/>
              <a:rect r="r" b="b" t="t" l="l"/>
              <a:pathLst>
                <a:path h="681199" w="786480">
                  <a:moveTo>
                    <a:pt x="132222" y="0"/>
                  </a:moveTo>
                  <a:lnTo>
                    <a:pt x="654257" y="0"/>
                  </a:lnTo>
                  <a:cubicBezTo>
                    <a:pt x="689325" y="0"/>
                    <a:pt x="722956" y="13931"/>
                    <a:pt x="747753" y="38727"/>
                  </a:cubicBezTo>
                  <a:cubicBezTo>
                    <a:pt x="772549" y="63524"/>
                    <a:pt x="786480" y="97155"/>
                    <a:pt x="786480" y="132222"/>
                  </a:cubicBezTo>
                  <a:lnTo>
                    <a:pt x="786480" y="548977"/>
                  </a:lnTo>
                  <a:cubicBezTo>
                    <a:pt x="786480" y="584044"/>
                    <a:pt x="772549" y="617676"/>
                    <a:pt x="747753" y="642472"/>
                  </a:cubicBezTo>
                  <a:cubicBezTo>
                    <a:pt x="722956" y="667269"/>
                    <a:pt x="689325" y="681199"/>
                    <a:pt x="654257" y="681199"/>
                  </a:cubicBezTo>
                  <a:lnTo>
                    <a:pt x="132222" y="681199"/>
                  </a:lnTo>
                  <a:cubicBezTo>
                    <a:pt x="97155" y="681199"/>
                    <a:pt x="63524" y="667269"/>
                    <a:pt x="38727" y="642472"/>
                  </a:cubicBezTo>
                  <a:cubicBezTo>
                    <a:pt x="13931" y="617676"/>
                    <a:pt x="0" y="584044"/>
                    <a:pt x="0" y="548977"/>
                  </a:cubicBezTo>
                  <a:lnTo>
                    <a:pt x="0" y="132222"/>
                  </a:lnTo>
                  <a:cubicBezTo>
                    <a:pt x="0" y="97155"/>
                    <a:pt x="13931" y="63524"/>
                    <a:pt x="38727" y="38727"/>
                  </a:cubicBezTo>
                  <a:cubicBezTo>
                    <a:pt x="63524" y="13931"/>
                    <a:pt x="97155" y="0"/>
                    <a:pt x="132222" y="0"/>
                  </a:cubicBezTo>
                  <a:close/>
                </a:path>
              </a:pathLst>
            </a:custGeom>
            <a:solidFill>
              <a:srgbClr val="134161">
                <a:alpha val="52941"/>
              </a:srgbClr>
            </a:solidFill>
            <a:ln w="38100" cap="rnd">
              <a:solidFill>
                <a:srgbClr val="FFFFFF">
                  <a:alpha val="52941"/>
                </a:srgbClr>
              </a:solidFill>
              <a:prstDash val="solid"/>
              <a:round/>
            </a:ln>
          </p:spPr>
        </p:sp>
        <p:sp>
          <p:nvSpPr>
            <p:cNvPr name="TextBox 25" id="25"/>
            <p:cNvSpPr txBox="true"/>
            <p:nvPr/>
          </p:nvSpPr>
          <p:spPr>
            <a:xfrm>
              <a:off x="0" y="-57150"/>
              <a:ext cx="786480" cy="738349"/>
            </a:xfrm>
            <a:prstGeom prst="rect">
              <a:avLst/>
            </a:prstGeom>
          </p:spPr>
          <p:txBody>
            <a:bodyPr anchor="ctr" rtlCol="false" tIns="50800" lIns="50800" bIns="50800" rIns="50800"/>
            <a:lstStyle/>
            <a:p>
              <a:pPr algn="ctr">
                <a:lnSpc>
                  <a:spcPts val="2379"/>
                </a:lnSpc>
              </a:pPr>
            </a:p>
          </p:txBody>
        </p:sp>
      </p:grpSp>
      <p:sp>
        <p:nvSpPr>
          <p:cNvPr name="TextBox 26" id="26"/>
          <p:cNvSpPr txBox="true"/>
          <p:nvPr/>
        </p:nvSpPr>
        <p:spPr>
          <a:xfrm rot="0">
            <a:off x="1067495" y="2112171"/>
            <a:ext cx="2021020" cy="711201"/>
          </a:xfrm>
          <a:prstGeom prst="rect">
            <a:avLst/>
          </a:prstGeom>
        </p:spPr>
        <p:txBody>
          <a:bodyPr anchor="t" rtlCol="false" tIns="0" lIns="0" bIns="0" rIns="0">
            <a:spAutoFit/>
          </a:bodyPr>
          <a:lstStyle/>
          <a:p>
            <a:pPr algn="ctr">
              <a:lnSpc>
                <a:spcPts val="2799"/>
              </a:lnSpc>
              <a:spcBef>
                <a:spcPct val="0"/>
              </a:spcBef>
            </a:pPr>
            <a:r>
              <a:rPr lang="en-US" b="true" sz="1999">
                <a:solidFill>
                  <a:srgbClr val="FFFFFF"/>
                </a:solidFill>
                <a:latin typeface="Poppins Bold"/>
                <a:ea typeface="Poppins Bold"/>
                <a:cs typeface="Poppins Bold"/>
                <a:sym typeface="Poppins Bold"/>
              </a:rPr>
              <a:t>Financial News </a:t>
            </a:r>
          </a:p>
          <a:p>
            <a:pPr algn="ctr">
              <a:lnSpc>
                <a:spcPts val="2799"/>
              </a:lnSpc>
              <a:spcBef>
                <a:spcPct val="0"/>
              </a:spcBef>
            </a:pPr>
            <a:r>
              <a:rPr lang="en-US" b="true" sz="1999">
                <a:solidFill>
                  <a:srgbClr val="FFFFFF"/>
                </a:solidFill>
                <a:latin typeface="Poppins Bold"/>
                <a:ea typeface="Poppins Bold"/>
                <a:cs typeface="Poppins Bold"/>
                <a:sym typeface="Poppins Bold"/>
              </a:rPr>
              <a:t>Collection</a:t>
            </a:r>
          </a:p>
        </p:txBody>
      </p:sp>
      <p:sp>
        <p:nvSpPr>
          <p:cNvPr name="TextBox 27" id="27"/>
          <p:cNvSpPr txBox="true"/>
          <p:nvPr/>
        </p:nvSpPr>
        <p:spPr>
          <a:xfrm rot="0">
            <a:off x="533747" y="2959423"/>
            <a:ext cx="3088514" cy="1502337"/>
          </a:xfrm>
          <a:prstGeom prst="rect">
            <a:avLst/>
          </a:prstGeom>
        </p:spPr>
        <p:txBody>
          <a:bodyPr anchor="t" rtlCol="false" tIns="0" lIns="0" bIns="0" rIns="0">
            <a:spAutoFit/>
          </a:bodyPr>
          <a:lstStyle/>
          <a:p>
            <a:pPr algn="ctr">
              <a:lnSpc>
                <a:spcPts val="1973"/>
              </a:lnSpc>
              <a:spcBef>
                <a:spcPct val="0"/>
              </a:spcBef>
            </a:pPr>
            <a:r>
              <a:rPr lang="en-US" sz="1409">
                <a:solidFill>
                  <a:srgbClr val="FFFFFF"/>
                </a:solidFill>
                <a:latin typeface="Poppins"/>
                <a:ea typeface="Poppins"/>
                <a:cs typeface="Poppins"/>
                <a:sym typeface="Poppins"/>
              </a:rPr>
              <a:t>EconomyNext, google news </a:t>
            </a:r>
            <a:r>
              <a:rPr lang="en-US" sz="1409">
                <a:solidFill>
                  <a:srgbClr val="FFFFFF"/>
                </a:solidFill>
                <a:latin typeface="Poppins"/>
                <a:ea typeface="Poppins"/>
                <a:cs typeface="Poppins"/>
                <a:sym typeface="Poppins"/>
              </a:rPr>
              <a:t>, financial announcements, company news, market events and economic updates are collected and prepared for analysis.</a:t>
            </a:r>
          </a:p>
        </p:txBody>
      </p:sp>
      <p:sp>
        <p:nvSpPr>
          <p:cNvPr name="TextBox 28" id="28"/>
          <p:cNvSpPr txBox="true"/>
          <p:nvPr/>
        </p:nvSpPr>
        <p:spPr>
          <a:xfrm rot="0">
            <a:off x="4440694" y="2112171"/>
            <a:ext cx="2396199" cy="1063626"/>
          </a:xfrm>
          <a:prstGeom prst="rect">
            <a:avLst/>
          </a:prstGeom>
        </p:spPr>
        <p:txBody>
          <a:bodyPr anchor="t" rtlCol="false" tIns="0" lIns="0" bIns="0" rIns="0">
            <a:spAutoFit/>
          </a:bodyPr>
          <a:lstStyle/>
          <a:p>
            <a:pPr algn="ctr">
              <a:lnSpc>
                <a:spcPts val="2799"/>
              </a:lnSpc>
            </a:pPr>
            <a:r>
              <a:rPr lang="en-US" sz="1999" b="true">
                <a:solidFill>
                  <a:srgbClr val="FFFFFF"/>
                </a:solidFill>
                <a:latin typeface="Poppins Bold"/>
                <a:ea typeface="Poppins Bold"/>
                <a:cs typeface="Poppins Bold"/>
                <a:sym typeface="Poppins Bold"/>
              </a:rPr>
              <a:t>Text Processing &amp; </a:t>
            </a:r>
          </a:p>
          <a:p>
            <a:pPr algn="ctr">
              <a:lnSpc>
                <a:spcPts val="2799"/>
              </a:lnSpc>
            </a:pPr>
            <a:r>
              <a:rPr lang="en-US" sz="1999" b="true">
                <a:solidFill>
                  <a:srgbClr val="FFFFFF"/>
                </a:solidFill>
                <a:latin typeface="Poppins Bold"/>
                <a:ea typeface="Poppins Bold"/>
                <a:cs typeface="Poppins Bold"/>
                <a:sym typeface="Poppins Bold"/>
              </a:rPr>
              <a:t>Feature Extraction</a:t>
            </a:r>
          </a:p>
          <a:p>
            <a:pPr algn="ctr">
              <a:lnSpc>
                <a:spcPts val="2799"/>
              </a:lnSpc>
              <a:spcBef>
                <a:spcPct val="0"/>
              </a:spcBef>
            </a:pPr>
          </a:p>
        </p:txBody>
      </p:sp>
      <p:sp>
        <p:nvSpPr>
          <p:cNvPr name="TextBox 29" id="29"/>
          <p:cNvSpPr txBox="true"/>
          <p:nvPr/>
        </p:nvSpPr>
        <p:spPr>
          <a:xfrm rot="0">
            <a:off x="4283597" y="3026098"/>
            <a:ext cx="2729442" cy="1250067"/>
          </a:xfrm>
          <a:prstGeom prst="rect">
            <a:avLst/>
          </a:prstGeom>
        </p:spPr>
        <p:txBody>
          <a:bodyPr anchor="t" rtlCol="false" tIns="0" lIns="0" bIns="0" rIns="0">
            <a:spAutoFit/>
          </a:bodyPr>
          <a:lstStyle/>
          <a:p>
            <a:pPr algn="ctr">
              <a:lnSpc>
                <a:spcPts val="1973"/>
              </a:lnSpc>
            </a:pPr>
            <a:r>
              <a:rPr lang="en-US" sz="1409" b="true">
                <a:solidFill>
                  <a:srgbClr val="FFFFFF"/>
                </a:solidFill>
                <a:latin typeface="Poppins Semi-Bold"/>
                <a:ea typeface="Poppins Semi-Bold"/>
                <a:cs typeface="Poppins Semi-Bold"/>
                <a:sym typeface="Poppins Semi-Bold"/>
              </a:rPr>
              <a:t>News preprocessing, </a:t>
            </a:r>
          </a:p>
          <a:p>
            <a:pPr algn="ctr">
              <a:lnSpc>
                <a:spcPts val="1973"/>
              </a:lnSpc>
            </a:pPr>
            <a:r>
              <a:rPr lang="en-US" sz="1409" b="true">
                <a:solidFill>
                  <a:srgbClr val="FFFFFF"/>
                </a:solidFill>
                <a:latin typeface="Poppins Semi-Bold"/>
                <a:ea typeface="Poppins Semi-Bold"/>
                <a:cs typeface="Poppins Semi-Bold"/>
                <a:sym typeface="Poppins Semi-Bold"/>
              </a:rPr>
              <a:t>normalization,</a:t>
            </a:r>
          </a:p>
          <a:p>
            <a:pPr algn="ctr">
              <a:lnSpc>
                <a:spcPts val="1973"/>
              </a:lnSpc>
            </a:pPr>
            <a:r>
              <a:rPr lang="en-US" sz="1409" b="true">
                <a:solidFill>
                  <a:srgbClr val="FFFFFF"/>
                </a:solidFill>
                <a:latin typeface="Poppins Semi-Bold"/>
                <a:ea typeface="Poppins Semi-Bold"/>
                <a:cs typeface="Poppins Semi-Bold"/>
                <a:sym typeface="Poppins Semi-Bold"/>
              </a:rPr>
              <a:t> company identification, </a:t>
            </a:r>
          </a:p>
          <a:p>
            <a:pPr algn="ctr">
              <a:lnSpc>
                <a:spcPts val="1973"/>
              </a:lnSpc>
            </a:pPr>
            <a:r>
              <a:rPr lang="en-US" sz="1409" b="true">
                <a:solidFill>
                  <a:srgbClr val="FFFFFF"/>
                </a:solidFill>
                <a:latin typeface="Poppins Semi-Bold"/>
                <a:ea typeface="Poppins Semi-Bold"/>
                <a:cs typeface="Poppins Semi-Bold"/>
                <a:sym typeface="Poppins Semi-Bold"/>
              </a:rPr>
              <a:t>financial keyword  extraction </a:t>
            </a:r>
          </a:p>
          <a:p>
            <a:pPr algn="ctr">
              <a:lnSpc>
                <a:spcPts val="1973"/>
              </a:lnSpc>
              <a:spcBef>
                <a:spcPct val="0"/>
              </a:spcBef>
            </a:pPr>
            <a:r>
              <a:rPr lang="en-US" b="true" sz="1409">
                <a:solidFill>
                  <a:srgbClr val="FFFFFF"/>
                </a:solidFill>
                <a:latin typeface="Poppins Semi-Bold"/>
                <a:ea typeface="Poppins Semi-Bold"/>
                <a:cs typeface="Poppins Semi-Bold"/>
                <a:sym typeface="Poppins Semi-Bold"/>
              </a:rPr>
              <a:t>and market impact detection.</a:t>
            </a:r>
          </a:p>
        </p:txBody>
      </p:sp>
      <p:sp>
        <p:nvSpPr>
          <p:cNvPr name="TextBox 30" id="30"/>
          <p:cNvSpPr txBox="true"/>
          <p:nvPr/>
        </p:nvSpPr>
        <p:spPr>
          <a:xfrm rot="0">
            <a:off x="8027953" y="2112171"/>
            <a:ext cx="2343415" cy="1063626"/>
          </a:xfrm>
          <a:prstGeom prst="rect">
            <a:avLst/>
          </a:prstGeom>
        </p:spPr>
        <p:txBody>
          <a:bodyPr anchor="t" rtlCol="false" tIns="0" lIns="0" bIns="0" rIns="0">
            <a:spAutoFit/>
          </a:bodyPr>
          <a:lstStyle/>
          <a:p>
            <a:pPr algn="ctr">
              <a:lnSpc>
                <a:spcPts val="2799"/>
              </a:lnSpc>
              <a:spcBef>
                <a:spcPct val="0"/>
              </a:spcBef>
            </a:pPr>
            <a:r>
              <a:rPr lang="en-US" b="true" sz="1999">
                <a:solidFill>
                  <a:srgbClr val="FFFFFF"/>
                </a:solidFill>
                <a:latin typeface="Poppins Bold"/>
                <a:ea typeface="Poppins Bold"/>
                <a:cs typeface="Poppins Bold"/>
                <a:sym typeface="Poppins Bold"/>
              </a:rPr>
              <a:t>H</a:t>
            </a:r>
            <a:r>
              <a:rPr lang="en-US" b="true" sz="1999">
                <a:solidFill>
                  <a:srgbClr val="FFFFFF"/>
                </a:solidFill>
                <a:latin typeface="Poppins Bold"/>
                <a:ea typeface="Poppins Bold"/>
                <a:cs typeface="Poppins Bold"/>
                <a:sym typeface="Poppins Bold"/>
              </a:rPr>
              <a:t>ybrid Sentiment </a:t>
            </a:r>
          </a:p>
          <a:p>
            <a:pPr algn="ctr">
              <a:lnSpc>
                <a:spcPts val="2799"/>
              </a:lnSpc>
              <a:spcBef>
                <a:spcPct val="0"/>
              </a:spcBef>
            </a:pPr>
            <a:r>
              <a:rPr lang="en-US" b="true" sz="1999">
                <a:solidFill>
                  <a:srgbClr val="FFFFFF"/>
                </a:solidFill>
                <a:latin typeface="Poppins Bold"/>
                <a:ea typeface="Poppins Bold"/>
                <a:cs typeface="Poppins Bold"/>
                <a:sym typeface="Poppins Bold"/>
              </a:rPr>
              <a:t>Engine</a:t>
            </a:r>
          </a:p>
          <a:p>
            <a:pPr algn="ctr">
              <a:lnSpc>
                <a:spcPts val="2799"/>
              </a:lnSpc>
              <a:spcBef>
                <a:spcPct val="0"/>
              </a:spcBef>
            </a:pPr>
          </a:p>
        </p:txBody>
      </p:sp>
      <p:sp>
        <p:nvSpPr>
          <p:cNvPr name="TextBox 31" id="31"/>
          <p:cNvSpPr txBox="true"/>
          <p:nvPr/>
        </p:nvSpPr>
        <p:spPr>
          <a:xfrm rot="0">
            <a:off x="7716121" y="2975387"/>
            <a:ext cx="2870818" cy="1502337"/>
          </a:xfrm>
          <a:prstGeom prst="rect">
            <a:avLst/>
          </a:prstGeom>
        </p:spPr>
        <p:txBody>
          <a:bodyPr anchor="t" rtlCol="false" tIns="0" lIns="0" bIns="0" rIns="0">
            <a:spAutoFit/>
          </a:bodyPr>
          <a:lstStyle/>
          <a:p>
            <a:pPr algn="ctr">
              <a:lnSpc>
                <a:spcPts val="1973"/>
              </a:lnSpc>
              <a:spcBef>
                <a:spcPct val="0"/>
              </a:spcBef>
            </a:pPr>
            <a:r>
              <a:rPr lang="en-US" sz="1409">
                <a:solidFill>
                  <a:srgbClr val="FFFFFF"/>
                </a:solidFill>
                <a:latin typeface="Poppins"/>
                <a:ea typeface="Poppins"/>
                <a:cs typeface="Poppins"/>
                <a:sym typeface="Poppins"/>
              </a:rPr>
              <a:t>Rule-Based</a:t>
            </a:r>
            <a:r>
              <a:rPr lang="en-US" sz="1409">
                <a:solidFill>
                  <a:srgbClr val="FFFFFF"/>
                </a:solidFill>
                <a:latin typeface="Poppins"/>
                <a:ea typeface="Poppins"/>
                <a:cs typeface="Poppins"/>
                <a:sym typeface="Poppins"/>
              </a:rPr>
              <a:t> Financial</a:t>
            </a:r>
          </a:p>
          <a:p>
            <a:pPr algn="ctr">
              <a:lnSpc>
                <a:spcPts val="1973"/>
              </a:lnSpc>
              <a:spcBef>
                <a:spcPct val="0"/>
              </a:spcBef>
            </a:pPr>
            <a:r>
              <a:rPr lang="en-US" sz="1409">
                <a:solidFill>
                  <a:srgbClr val="FFFFFF"/>
                </a:solidFill>
                <a:latin typeface="Poppins"/>
                <a:ea typeface="Poppins"/>
                <a:cs typeface="Poppins"/>
                <a:sym typeface="Poppins"/>
              </a:rPr>
              <a:t> Lexicon + Naive Bayes Machine </a:t>
            </a:r>
          </a:p>
          <a:p>
            <a:pPr algn="ctr">
              <a:lnSpc>
                <a:spcPts val="1973"/>
              </a:lnSpc>
              <a:spcBef>
                <a:spcPct val="0"/>
              </a:spcBef>
            </a:pPr>
            <a:r>
              <a:rPr lang="en-US" sz="1409">
                <a:solidFill>
                  <a:srgbClr val="FFFFFF"/>
                </a:solidFill>
                <a:latin typeface="Poppins"/>
                <a:ea typeface="Poppins"/>
                <a:cs typeface="Poppins"/>
                <a:sym typeface="Poppins"/>
              </a:rPr>
              <a:t>Learning classifier classify</a:t>
            </a:r>
          </a:p>
          <a:p>
            <a:pPr algn="ctr">
              <a:lnSpc>
                <a:spcPts val="1973"/>
              </a:lnSpc>
              <a:spcBef>
                <a:spcPct val="0"/>
              </a:spcBef>
            </a:pPr>
            <a:r>
              <a:rPr lang="en-US" sz="1409">
                <a:solidFill>
                  <a:srgbClr val="FFFFFF"/>
                </a:solidFill>
                <a:latin typeface="Poppins"/>
                <a:ea typeface="Poppins"/>
                <a:cs typeface="Poppins"/>
                <a:sym typeface="Poppins"/>
              </a:rPr>
              <a:t> news into Positive, Neutral or </a:t>
            </a:r>
          </a:p>
          <a:p>
            <a:pPr algn="ctr">
              <a:lnSpc>
                <a:spcPts val="1973"/>
              </a:lnSpc>
              <a:spcBef>
                <a:spcPct val="0"/>
              </a:spcBef>
            </a:pPr>
            <a:r>
              <a:rPr lang="en-US" sz="1409">
                <a:solidFill>
                  <a:srgbClr val="FFFFFF"/>
                </a:solidFill>
                <a:latin typeface="Poppins"/>
                <a:ea typeface="Poppins"/>
                <a:cs typeface="Poppins"/>
                <a:sym typeface="Poppins"/>
              </a:rPr>
              <a:t>Negative sentiment with </a:t>
            </a:r>
          </a:p>
          <a:p>
            <a:pPr algn="ctr">
              <a:lnSpc>
                <a:spcPts val="1973"/>
              </a:lnSpc>
              <a:spcBef>
                <a:spcPct val="0"/>
              </a:spcBef>
            </a:pPr>
            <a:r>
              <a:rPr lang="en-US" sz="1409">
                <a:solidFill>
                  <a:srgbClr val="FFFFFF"/>
                </a:solidFill>
                <a:latin typeface="Poppins"/>
                <a:ea typeface="Poppins"/>
                <a:cs typeface="Poppins"/>
                <a:sym typeface="Poppins"/>
              </a:rPr>
              <a:t>confidence estimation.</a:t>
            </a:r>
          </a:p>
        </p:txBody>
      </p:sp>
      <p:sp>
        <p:nvSpPr>
          <p:cNvPr name="TextBox 32" id="32"/>
          <p:cNvSpPr txBox="true"/>
          <p:nvPr/>
        </p:nvSpPr>
        <p:spPr>
          <a:xfrm rot="0">
            <a:off x="11592645" y="2013746"/>
            <a:ext cx="2335609" cy="1063626"/>
          </a:xfrm>
          <a:prstGeom prst="rect">
            <a:avLst/>
          </a:prstGeom>
        </p:spPr>
        <p:txBody>
          <a:bodyPr anchor="t" rtlCol="false" tIns="0" lIns="0" bIns="0" rIns="0">
            <a:spAutoFit/>
          </a:bodyPr>
          <a:lstStyle/>
          <a:p>
            <a:pPr algn="ctr">
              <a:lnSpc>
                <a:spcPts val="2799"/>
              </a:lnSpc>
              <a:spcBef>
                <a:spcPct val="0"/>
              </a:spcBef>
            </a:pPr>
            <a:r>
              <a:rPr lang="en-US" b="true" sz="1999">
                <a:solidFill>
                  <a:srgbClr val="FFFFFF"/>
                </a:solidFill>
                <a:latin typeface="Poppins Bold"/>
                <a:ea typeface="Poppins Bold"/>
                <a:cs typeface="Poppins Bold"/>
                <a:sym typeface="Poppins Bold"/>
              </a:rPr>
              <a:t>Expl</a:t>
            </a:r>
            <a:r>
              <a:rPr lang="en-US" b="true" sz="1999">
                <a:solidFill>
                  <a:srgbClr val="FFFFFF"/>
                </a:solidFill>
                <a:latin typeface="Poppins Bold"/>
                <a:ea typeface="Poppins Bold"/>
                <a:cs typeface="Poppins Bold"/>
                <a:sym typeface="Poppins Bold"/>
              </a:rPr>
              <a:t>ainable </a:t>
            </a:r>
          </a:p>
          <a:p>
            <a:pPr algn="ctr">
              <a:lnSpc>
                <a:spcPts val="2799"/>
              </a:lnSpc>
              <a:spcBef>
                <a:spcPct val="0"/>
              </a:spcBef>
            </a:pPr>
            <a:r>
              <a:rPr lang="en-US" b="true" sz="1999">
                <a:solidFill>
                  <a:srgbClr val="FFFFFF"/>
                </a:solidFill>
                <a:latin typeface="Poppins Bold"/>
                <a:ea typeface="Poppins Bold"/>
                <a:cs typeface="Poppins Bold"/>
                <a:sym typeface="Poppins Bold"/>
              </a:rPr>
              <a:t>Sentiment Output</a:t>
            </a:r>
          </a:p>
          <a:p>
            <a:pPr algn="ctr">
              <a:lnSpc>
                <a:spcPts val="2799"/>
              </a:lnSpc>
              <a:spcBef>
                <a:spcPct val="0"/>
              </a:spcBef>
            </a:pPr>
          </a:p>
        </p:txBody>
      </p:sp>
      <p:sp>
        <p:nvSpPr>
          <p:cNvPr name="TextBox 33" id="33"/>
          <p:cNvSpPr txBox="true"/>
          <p:nvPr/>
        </p:nvSpPr>
        <p:spPr>
          <a:xfrm rot="0">
            <a:off x="11450572" y="3083633"/>
            <a:ext cx="2619597" cy="1253917"/>
          </a:xfrm>
          <a:prstGeom prst="rect">
            <a:avLst/>
          </a:prstGeom>
        </p:spPr>
        <p:txBody>
          <a:bodyPr anchor="t" rtlCol="false" tIns="0" lIns="0" bIns="0" rIns="0">
            <a:spAutoFit/>
          </a:bodyPr>
          <a:lstStyle/>
          <a:p>
            <a:pPr algn="ctr">
              <a:lnSpc>
                <a:spcPts val="1973"/>
              </a:lnSpc>
              <a:spcBef>
                <a:spcPct val="0"/>
              </a:spcBef>
            </a:pPr>
            <a:r>
              <a:rPr lang="en-US" sz="1409">
                <a:solidFill>
                  <a:srgbClr val="FFFFFF"/>
                </a:solidFill>
                <a:latin typeface="Poppins"/>
                <a:ea typeface="Poppins"/>
                <a:cs typeface="Poppins"/>
                <a:sym typeface="Poppins"/>
              </a:rPr>
              <a:t>Generates se</a:t>
            </a:r>
            <a:r>
              <a:rPr lang="en-US" sz="1409">
                <a:solidFill>
                  <a:srgbClr val="FFFFFF"/>
                </a:solidFill>
                <a:latin typeface="Poppins"/>
                <a:ea typeface="Poppins"/>
                <a:cs typeface="Poppins"/>
                <a:sym typeface="Poppins"/>
              </a:rPr>
              <a:t>ntiment score, confidence score, market impact, company-specific news filtering and investor-friendly explanations.</a:t>
            </a:r>
          </a:p>
        </p:txBody>
      </p:sp>
      <p:sp>
        <p:nvSpPr>
          <p:cNvPr name="TextBox 34" id="34"/>
          <p:cNvSpPr txBox="true"/>
          <p:nvPr/>
        </p:nvSpPr>
        <p:spPr>
          <a:xfrm rot="0">
            <a:off x="15606003" y="1961358"/>
            <a:ext cx="1457590" cy="711201"/>
          </a:xfrm>
          <a:prstGeom prst="rect">
            <a:avLst/>
          </a:prstGeom>
        </p:spPr>
        <p:txBody>
          <a:bodyPr anchor="t" rtlCol="false" tIns="0" lIns="0" bIns="0" rIns="0">
            <a:spAutoFit/>
          </a:bodyPr>
          <a:lstStyle/>
          <a:p>
            <a:pPr algn="ctr">
              <a:lnSpc>
                <a:spcPts val="2799"/>
              </a:lnSpc>
            </a:pPr>
            <a:r>
              <a:rPr lang="en-US" sz="1999" b="true">
                <a:solidFill>
                  <a:srgbClr val="FFFFFF"/>
                </a:solidFill>
                <a:latin typeface="Poppins Bold"/>
                <a:ea typeface="Poppins Bold"/>
                <a:cs typeface="Poppins Bold"/>
                <a:sym typeface="Poppins Bold"/>
              </a:rPr>
              <a:t>Interactive</a:t>
            </a:r>
          </a:p>
          <a:p>
            <a:pPr algn="ctr">
              <a:lnSpc>
                <a:spcPts val="2799"/>
              </a:lnSpc>
              <a:spcBef>
                <a:spcPct val="0"/>
              </a:spcBef>
            </a:pPr>
            <a:r>
              <a:rPr lang="en-US" b="true" sz="1999">
                <a:solidFill>
                  <a:srgbClr val="FFFFFF"/>
                </a:solidFill>
                <a:latin typeface="Poppins Bold"/>
                <a:ea typeface="Poppins Bold"/>
                <a:cs typeface="Poppins Bold"/>
                <a:sym typeface="Poppins Bold"/>
              </a:rPr>
              <a:t>Dashboard</a:t>
            </a:r>
          </a:p>
        </p:txBody>
      </p:sp>
      <p:sp>
        <p:nvSpPr>
          <p:cNvPr name="TextBox 35" id="35"/>
          <p:cNvSpPr txBox="true"/>
          <p:nvPr/>
        </p:nvSpPr>
        <p:spPr>
          <a:xfrm rot="0">
            <a:off x="14977911" y="3128172"/>
            <a:ext cx="2713774" cy="1253917"/>
          </a:xfrm>
          <a:prstGeom prst="rect">
            <a:avLst/>
          </a:prstGeom>
        </p:spPr>
        <p:txBody>
          <a:bodyPr anchor="t" rtlCol="false" tIns="0" lIns="0" bIns="0" rIns="0">
            <a:spAutoFit/>
          </a:bodyPr>
          <a:lstStyle/>
          <a:p>
            <a:pPr algn="ctr">
              <a:lnSpc>
                <a:spcPts val="1973"/>
              </a:lnSpc>
              <a:spcBef>
                <a:spcPct val="0"/>
              </a:spcBef>
            </a:pPr>
            <a:r>
              <a:rPr lang="en-US" sz="1409">
                <a:solidFill>
                  <a:srgbClr val="FFFFFF"/>
                </a:solidFill>
                <a:latin typeface="Poppins"/>
                <a:ea typeface="Poppins"/>
                <a:cs typeface="Poppins"/>
                <a:sym typeface="Poppins"/>
              </a:rPr>
              <a:t>Results </a:t>
            </a:r>
            <a:r>
              <a:rPr lang="en-US" sz="1409">
                <a:solidFill>
                  <a:srgbClr val="FFFFFF"/>
                </a:solidFill>
                <a:latin typeface="Poppins"/>
                <a:ea typeface="Poppins"/>
                <a:cs typeface="Poppins"/>
                <a:sym typeface="Poppins"/>
              </a:rPr>
              <a:t>are visualized through the Sentiment Analysis page and integrated into the Insight Preview dashboard to support investment decisions.</a:t>
            </a:r>
          </a:p>
        </p:txBody>
      </p:sp>
      <p:sp>
        <p:nvSpPr>
          <p:cNvPr name="TextBox 36" id="36"/>
          <p:cNvSpPr txBox="true"/>
          <p:nvPr/>
        </p:nvSpPr>
        <p:spPr>
          <a:xfrm rot="0">
            <a:off x="938912" y="5233614"/>
            <a:ext cx="5803059" cy="633803"/>
          </a:xfrm>
          <a:prstGeom prst="rect">
            <a:avLst/>
          </a:prstGeom>
        </p:spPr>
        <p:txBody>
          <a:bodyPr anchor="t" rtlCol="false" tIns="0" lIns="0" bIns="0" rIns="0">
            <a:spAutoFit/>
          </a:bodyPr>
          <a:lstStyle/>
          <a:p>
            <a:pPr algn="ctr">
              <a:lnSpc>
                <a:spcPts val="4915"/>
              </a:lnSpc>
              <a:spcBef>
                <a:spcPct val="0"/>
              </a:spcBef>
            </a:pPr>
            <a:r>
              <a:rPr lang="en-US" b="true" sz="3511" u="sng">
                <a:solidFill>
                  <a:srgbClr val="FFFFFF"/>
                </a:solidFill>
                <a:latin typeface="Poppins Bold"/>
                <a:ea typeface="Poppins Bold"/>
                <a:cs typeface="Poppins Bold"/>
                <a:sym typeface="Poppins Bold"/>
              </a:rPr>
              <a:t>Novelty</a:t>
            </a:r>
          </a:p>
        </p:txBody>
      </p:sp>
      <p:sp>
        <p:nvSpPr>
          <p:cNvPr name="TextBox 37" id="37"/>
          <p:cNvSpPr txBox="true"/>
          <p:nvPr/>
        </p:nvSpPr>
        <p:spPr>
          <a:xfrm rot="0">
            <a:off x="584922" y="5990795"/>
            <a:ext cx="6720590" cy="1999367"/>
          </a:xfrm>
          <a:prstGeom prst="rect">
            <a:avLst/>
          </a:prstGeom>
        </p:spPr>
        <p:txBody>
          <a:bodyPr anchor="t" rtlCol="false" tIns="0" lIns="0" bIns="0" rIns="0">
            <a:spAutoFit/>
          </a:bodyPr>
          <a:lstStyle/>
          <a:p>
            <a:pPr algn="ctr">
              <a:lnSpc>
                <a:spcPts val="2673"/>
              </a:lnSpc>
              <a:spcBef>
                <a:spcPct val="0"/>
              </a:spcBef>
            </a:pPr>
            <a:r>
              <a:rPr lang="en-US" b="true" sz="1909">
                <a:solidFill>
                  <a:srgbClr val="FFFFFF"/>
                </a:solidFill>
                <a:latin typeface="Poppins Semi-Bold"/>
                <a:ea typeface="Poppins Semi-Bold"/>
                <a:cs typeface="Poppins Semi-Bold"/>
                <a:sym typeface="Poppins Semi-Bold"/>
              </a:rPr>
              <a:t>Hybrid financial sentiment analysis combining domain-specific financial rules with Naive Bayes machine learning, explainable confidence scoring, market impact detection and seamless integration into an AI-powered CSE investment decision support system.</a:t>
            </a:r>
          </a:p>
        </p:txBody>
      </p:sp>
      <p:sp>
        <p:nvSpPr>
          <p:cNvPr name="TextBox 38" id="38"/>
          <p:cNvSpPr txBox="true"/>
          <p:nvPr/>
        </p:nvSpPr>
        <p:spPr>
          <a:xfrm rot="0">
            <a:off x="10933899" y="5111376"/>
            <a:ext cx="3264158" cy="516891"/>
          </a:xfrm>
          <a:prstGeom prst="rect">
            <a:avLst/>
          </a:prstGeom>
        </p:spPr>
        <p:txBody>
          <a:bodyPr anchor="t" rtlCol="false" tIns="0" lIns="0" bIns="0" rIns="0">
            <a:spAutoFit/>
          </a:bodyPr>
          <a:lstStyle/>
          <a:p>
            <a:pPr algn="ctr">
              <a:lnSpc>
                <a:spcPts val="4059"/>
              </a:lnSpc>
              <a:spcBef>
                <a:spcPct val="0"/>
              </a:spcBef>
            </a:pPr>
            <a:r>
              <a:rPr lang="en-US" b="true" sz="2899" u="sng">
                <a:solidFill>
                  <a:srgbClr val="FFFFFF"/>
                </a:solidFill>
                <a:latin typeface="Poppins Bold"/>
                <a:ea typeface="Poppins Bold"/>
                <a:cs typeface="Poppins Bold"/>
                <a:sym typeface="Poppins Bold"/>
              </a:rPr>
              <a:t>Model </a:t>
            </a:r>
            <a:r>
              <a:rPr lang="en-US" b="true" sz="2899" u="sng">
                <a:solidFill>
                  <a:srgbClr val="FFFFFF"/>
                </a:solidFill>
                <a:latin typeface="Poppins Bold"/>
                <a:ea typeface="Poppins Bold"/>
                <a:cs typeface="Poppins Bold"/>
                <a:sym typeface="Poppins Bold"/>
              </a:rPr>
              <a:t>Evaluation</a:t>
            </a:r>
          </a:p>
        </p:txBody>
      </p:sp>
      <p:sp>
        <p:nvSpPr>
          <p:cNvPr name="TextBox 39" id="39"/>
          <p:cNvSpPr txBox="true"/>
          <p:nvPr/>
        </p:nvSpPr>
        <p:spPr>
          <a:xfrm rot="0">
            <a:off x="8722066" y="5810267"/>
            <a:ext cx="8969619" cy="367667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Poppins Bold"/>
                <a:ea typeface="Poppins Bold"/>
                <a:cs typeface="Poppins Bold"/>
                <a:sym typeface="Poppins Bold"/>
              </a:rPr>
              <a:t>Model performance is evaluated using:</a:t>
            </a:r>
          </a:p>
          <a:p>
            <a:pPr algn="l">
              <a:lnSpc>
                <a:spcPts val="2659"/>
              </a:lnSpc>
              <a:spcBef>
                <a:spcPct val="0"/>
              </a:spcBef>
            </a:pPr>
          </a:p>
          <a:p>
            <a:pPr algn="l" marL="410206" indent="-205103" lvl="1">
              <a:lnSpc>
                <a:spcPts val="2659"/>
              </a:lnSpc>
              <a:buFont typeface="Arial"/>
              <a:buChar char="•"/>
            </a:pPr>
            <a:r>
              <a:rPr lang="en-US" b="true" sz="1899">
                <a:solidFill>
                  <a:srgbClr val="FFFFFF"/>
                </a:solidFill>
                <a:latin typeface="Poppins Bold"/>
                <a:ea typeface="Poppins Bold"/>
                <a:cs typeface="Poppins Bold"/>
                <a:sym typeface="Poppins Bold"/>
              </a:rPr>
              <a:t>Accuracy – overall percentage of correctly classified news articles</a:t>
            </a:r>
          </a:p>
          <a:p>
            <a:pPr algn="l" marL="410206" indent="-205103" lvl="1">
              <a:lnSpc>
                <a:spcPts val="2659"/>
              </a:lnSpc>
              <a:buFont typeface="Arial"/>
              <a:buChar char="•"/>
            </a:pPr>
            <a:r>
              <a:rPr lang="en-US" b="true" sz="1899">
                <a:solidFill>
                  <a:srgbClr val="FFFFFF"/>
                </a:solidFill>
                <a:latin typeface="Poppins Bold"/>
                <a:ea typeface="Poppins Bold"/>
                <a:cs typeface="Poppins Bold"/>
                <a:sym typeface="Poppins Bold"/>
              </a:rPr>
              <a:t>Precision – correctness of predicted Positive, Negative, and Neutral classes</a:t>
            </a:r>
          </a:p>
          <a:p>
            <a:pPr algn="l" marL="410206" indent="-205103" lvl="1">
              <a:lnSpc>
                <a:spcPts val="2659"/>
              </a:lnSpc>
              <a:buFont typeface="Arial"/>
              <a:buChar char="•"/>
            </a:pPr>
            <a:r>
              <a:rPr lang="en-US" b="true" sz="1899">
                <a:solidFill>
                  <a:srgbClr val="FFFFFF"/>
                </a:solidFill>
                <a:latin typeface="Poppins Bold"/>
                <a:ea typeface="Poppins Bold"/>
                <a:cs typeface="Poppins Bold"/>
                <a:sym typeface="Poppins Bold"/>
              </a:rPr>
              <a:t>Recall – ability to identify the actual sentiment classes</a:t>
            </a:r>
          </a:p>
          <a:p>
            <a:pPr algn="l" marL="410206" indent="-205103" lvl="1">
              <a:lnSpc>
                <a:spcPts val="2659"/>
              </a:lnSpc>
              <a:buFont typeface="Arial"/>
              <a:buChar char="•"/>
            </a:pPr>
            <a:r>
              <a:rPr lang="en-US" b="true" sz="1899">
                <a:solidFill>
                  <a:srgbClr val="FFFFFF"/>
                </a:solidFill>
                <a:latin typeface="Poppins Bold"/>
                <a:ea typeface="Poppins Bold"/>
                <a:cs typeface="Poppins Bold"/>
                <a:sym typeface="Poppins Bold"/>
              </a:rPr>
              <a:t>F1-Score – balances Precision and Recall for each class</a:t>
            </a:r>
          </a:p>
          <a:p>
            <a:pPr algn="l" marL="410206" indent="-205103" lvl="1">
              <a:lnSpc>
                <a:spcPts val="2659"/>
              </a:lnSpc>
              <a:buFont typeface="Arial"/>
              <a:buChar char="•"/>
            </a:pPr>
            <a:r>
              <a:rPr lang="en-US" b="true" sz="1899">
                <a:solidFill>
                  <a:srgbClr val="FFFFFF"/>
                </a:solidFill>
                <a:latin typeface="Poppins Bold"/>
                <a:ea typeface="Poppins Bold"/>
                <a:cs typeface="Poppins Bold"/>
                <a:sym typeface="Poppins Bold"/>
              </a:rPr>
              <a:t> Confusion Matrix</a:t>
            </a:r>
          </a:p>
          <a:p>
            <a:pPr algn="l">
              <a:lnSpc>
                <a:spcPts val="2659"/>
              </a:lnSpc>
            </a:pPr>
          </a:p>
          <a:p>
            <a:pPr algn="l">
              <a:lnSpc>
                <a:spcPts val="2659"/>
              </a:lnSpc>
              <a:spcBef>
                <a:spcPct val="0"/>
              </a:spcBef>
            </a:pPr>
            <a:r>
              <a:rPr lang="en-US" b="true" sz="1899">
                <a:solidFill>
                  <a:srgbClr val="FFFFFF"/>
                </a:solidFill>
                <a:latin typeface="Poppins Bold"/>
                <a:ea typeface="Poppins Bold"/>
                <a:cs typeface="Poppins Bold"/>
                <a:sym typeface="Poppins Bold"/>
              </a:rPr>
              <a:t>Evaluates the model's ability to classify news sentiment into Positive, Negative and Neutral categories.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true" rot="0">
            <a:off x="-356742" y="-443118"/>
            <a:ext cx="3499528" cy="2895860"/>
          </a:xfrm>
          <a:custGeom>
            <a:avLst/>
            <a:gdLst/>
            <a:ahLst/>
            <a:cxnLst/>
            <a:rect r="r" b="b" t="t" l="l"/>
            <a:pathLst>
              <a:path h="2895860" w="3499528">
                <a:moveTo>
                  <a:pt x="0" y="2895859"/>
                </a:moveTo>
                <a:lnTo>
                  <a:pt x="3499528" y="2895859"/>
                </a:lnTo>
                <a:lnTo>
                  <a:pt x="3499528" y="0"/>
                </a:lnTo>
                <a:lnTo>
                  <a:pt x="0" y="0"/>
                </a:lnTo>
                <a:lnTo>
                  <a:pt x="0" y="289585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3604942" y="6731093"/>
            <a:ext cx="4604428" cy="3810164"/>
          </a:xfrm>
          <a:custGeom>
            <a:avLst/>
            <a:gdLst/>
            <a:ahLst/>
            <a:cxnLst/>
            <a:rect r="r" b="b" t="t" l="l"/>
            <a:pathLst>
              <a:path h="3810164" w="4604428">
                <a:moveTo>
                  <a:pt x="4604429" y="0"/>
                </a:moveTo>
                <a:lnTo>
                  <a:pt x="0" y="0"/>
                </a:lnTo>
                <a:lnTo>
                  <a:pt x="0" y="3810164"/>
                </a:lnTo>
                <a:lnTo>
                  <a:pt x="4604429" y="3810164"/>
                </a:lnTo>
                <a:lnTo>
                  <a:pt x="460442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095695" y="2452741"/>
            <a:ext cx="11947551" cy="508051"/>
            <a:chOff x="0" y="0"/>
            <a:chExt cx="3146680" cy="133808"/>
          </a:xfrm>
        </p:grpSpPr>
        <p:sp>
          <p:nvSpPr>
            <p:cNvPr name="Freeform 6" id="6"/>
            <p:cNvSpPr/>
            <p:nvPr/>
          </p:nvSpPr>
          <p:spPr>
            <a:xfrm flipH="false" flipV="false" rot="0">
              <a:off x="0" y="0"/>
              <a:ext cx="3146680" cy="133808"/>
            </a:xfrm>
            <a:custGeom>
              <a:avLst/>
              <a:gdLst/>
              <a:ahLst/>
              <a:cxnLst/>
              <a:rect r="r" b="b" t="t" l="l"/>
              <a:pathLst>
                <a:path h="133808" w="3146680">
                  <a:moveTo>
                    <a:pt x="32805" y="0"/>
                  </a:moveTo>
                  <a:lnTo>
                    <a:pt x="3113876" y="0"/>
                  </a:lnTo>
                  <a:cubicBezTo>
                    <a:pt x="3122576" y="0"/>
                    <a:pt x="3130920" y="3456"/>
                    <a:pt x="3137072" y="9608"/>
                  </a:cubicBezTo>
                  <a:cubicBezTo>
                    <a:pt x="3143224" y="15760"/>
                    <a:pt x="3146680" y="24104"/>
                    <a:pt x="3146680" y="32805"/>
                  </a:cubicBezTo>
                  <a:lnTo>
                    <a:pt x="3146680" y="101003"/>
                  </a:lnTo>
                  <a:cubicBezTo>
                    <a:pt x="3146680" y="119120"/>
                    <a:pt x="3131993" y="133808"/>
                    <a:pt x="3113876" y="133808"/>
                  </a:cubicBezTo>
                  <a:lnTo>
                    <a:pt x="32805" y="133808"/>
                  </a:lnTo>
                  <a:cubicBezTo>
                    <a:pt x="24104" y="133808"/>
                    <a:pt x="15760" y="130351"/>
                    <a:pt x="9608" y="124199"/>
                  </a:cubicBezTo>
                  <a:cubicBezTo>
                    <a:pt x="3456" y="118047"/>
                    <a:pt x="0" y="109703"/>
                    <a:pt x="0" y="101003"/>
                  </a:cubicBezTo>
                  <a:lnTo>
                    <a:pt x="0" y="32805"/>
                  </a:lnTo>
                  <a:cubicBezTo>
                    <a:pt x="0" y="14687"/>
                    <a:pt x="14687" y="0"/>
                    <a:pt x="32805" y="0"/>
                  </a:cubicBezTo>
                  <a:close/>
                </a:path>
              </a:pathLst>
            </a:custGeom>
            <a:solidFill>
              <a:srgbClr val="134161"/>
            </a:solidFill>
          </p:spPr>
        </p:sp>
        <p:sp>
          <p:nvSpPr>
            <p:cNvPr name="TextBox 7" id="7"/>
            <p:cNvSpPr txBox="true"/>
            <p:nvPr/>
          </p:nvSpPr>
          <p:spPr>
            <a:xfrm>
              <a:off x="0" y="-57150"/>
              <a:ext cx="3146680" cy="190958"/>
            </a:xfrm>
            <a:prstGeom prst="rect">
              <a:avLst/>
            </a:prstGeom>
          </p:spPr>
          <p:txBody>
            <a:bodyPr anchor="ctr" rtlCol="false" tIns="50800" lIns="50800" bIns="50800" rIns="50800"/>
            <a:lstStyle/>
            <a:p>
              <a:pPr algn="ctr">
                <a:lnSpc>
                  <a:spcPts val="2379"/>
                </a:lnSpc>
              </a:pPr>
            </a:p>
          </p:txBody>
        </p:sp>
      </p:grpSp>
      <p:grpSp>
        <p:nvGrpSpPr>
          <p:cNvPr name="Group 8" id="8"/>
          <p:cNvGrpSpPr/>
          <p:nvPr/>
        </p:nvGrpSpPr>
        <p:grpSpPr>
          <a:xfrm rot="0">
            <a:off x="1495851" y="5252152"/>
            <a:ext cx="4636496" cy="659791"/>
            <a:chOff x="0" y="0"/>
            <a:chExt cx="885013" cy="125941"/>
          </a:xfrm>
        </p:grpSpPr>
        <p:sp>
          <p:nvSpPr>
            <p:cNvPr name="Freeform 9" id="9"/>
            <p:cNvSpPr/>
            <p:nvPr/>
          </p:nvSpPr>
          <p:spPr>
            <a:xfrm flipH="false" flipV="false" rot="0">
              <a:off x="0" y="0"/>
              <a:ext cx="885013" cy="125941"/>
            </a:xfrm>
            <a:custGeom>
              <a:avLst/>
              <a:gdLst/>
              <a:ahLst/>
              <a:cxnLst/>
              <a:rect r="r" b="b" t="t" l="l"/>
              <a:pathLst>
                <a:path h="125941" w="885013">
                  <a:moveTo>
                    <a:pt x="62970" y="0"/>
                  </a:moveTo>
                  <a:lnTo>
                    <a:pt x="822043" y="0"/>
                  </a:lnTo>
                  <a:cubicBezTo>
                    <a:pt x="856821" y="0"/>
                    <a:pt x="885013" y="28193"/>
                    <a:pt x="885013" y="62970"/>
                  </a:cubicBezTo>
                  <a:lnTo>
                    <a:pt x="885013" y="62970"/>
                  </a:lnTo>
                  <a:cubicBezTo>
                    <a:pt x="885013" y="79671"/>
                    <a:pt x="878379" y="95688"/>
                    <a:pt x="866570" y="107497"/>
                  </a:cubicBezTo>
                  <a:cubicBezTo>
                    <a:pt x="854761" y="119306"/>
                    <a:pt x="838744" y="125941"/>
                    <a:pt x="822043" y="125941"/>
                  </a:cubicBezTo>
                  <a:lnTo>
                    <a:pt x="62970" y="125941"/>
                  </a:lnTo>
                  <a:cubicBezTo>
                    <a:pt x="28193" y="125941"/>
                    <a:pt x="0" y="97748"/>
                    <a:pt x="0" y="62970"/>
                  </a:cubicBezTo>
                  <a:lnTo>
                    <a:pt x="0" y="62970"/>
                  </a:lnTo>
                  <a:cubicBezTo>
                    <a:pt x="0" y="28193"/>
                    <a:pt x="28193" y="0"/>
                    <a:pt x="62970" y="0"/>
                  </a:cubicBezTo>
                  <a:close/>
                </a:path>
              </a:pathLst>
            </a:custGeom>
            <a:solidFill>
              <a:srgbClr val="134161"/>
            </a:solidFill>
          </p:spPr>
        </p:sp>
        <p:sp>
          <p:nvSpPr>
            <p:cNvPr name="TextBox 10" id="10"/>
            <p:cNvSpPr txBox="true"/>
            <p:nvPr/>
          </p:nvSpPr>
          <p:spPr>
            <a:xfrm>
              <a:off x="0" y="-57150"/>
              <a:ext cx="885013" cy="183091"/>
            </a:xfrm>
            <a:prstGeom prst="rect">
              <a:avLst/>
            </a:prstGeom>
          </p:spPr>
          <p:txBody>
            <a:bodyPr anchor="ctr" rtlCol="false" tIns="50800" lIns="50800" bIns="50800" rIns="50800"/>
            <a:lstStyle/>
            <a:p>
              <a:pPr algn="ctr">
                <a:lnSpc>
                  <a:spcPts val="2379"/>
                </a:lnSpc>
              </a:pPr>
            </a:p>
          </p:txBody>
        </p:sp>
      </p:grpSp>
      <p:sp>
        <p:nvSpPr>
          <p:cNvPr name="Freeform 11" id="11"/>
          <p:cNvSpPr/>
          <p:nvPr/>
        </p:nvSpPr>
        <p:spPr>
          <a:xfrm flipH="false" flipV="false" rot="0">
            <a:off x="16706843" y="362135"/>
            <a:ext cx="2157541" cy="187266"/>
          </a:xfrm>
          <a:custGeom>
            <a:avLst/>
            <a:gdLst/>
            <a:ahLst/>
            <a:cxnLst/>
            <a:rect r="r" b="b" t="t" l="l"/>
            <a:pathLst>
              <a:path h="187266" w="2157541">
                <a:moveTo>
                  <a:pt x="0" y="0"/>
                </a:moveTo>
                <a:lnTo>
                  <a:pt x="2157541" y="0"/>
                </a:lnTo>
                <a:lnTo>
                  <a:pt x="2157541" y="187266"/>
                </a:lnTo>
                <a:lnTo>
                  <a:pt x="0" y="187266"/>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sp>
        <p:nvSpPr>
          <p:cNvPr name="Freeform 12" id="12"/>
          <p:cNvSpPr/>
          <p:nvPr/>
        </p:nvSpPr>
        <p:spPr>
          <a:xfrm flipH="false" flipV="false" rot="0">
            <a:off x="6160983" y="9380013"/>
            <a:ext cx="2157541" cy="187266"/>
          </a:xfrm>
          <a:custGeom>
            <a:avLst/>
            <a:gdLst/>
            <a:ahLst/>
            <a:cxnLst/>
            <a:rect r="r" b="b" t="t" l="l"/>
            <a:pathLst>
              <a:path h="187266" w="2157541">
                <a:moveTo>
                  <a:pt x="0" y="0"/>
                </a:moveTo>
                <a:lnTo>
                  <a:pt x="2157541" y="0"/>
                </a:lnTo>
                <a:lnTo>
                  <a:pt x="2157541" y="187266"/>
                </a:lnTo>
                <a:lnTo>
                  <a:pt x="0" y="187266"/>
                </a:lnTo>
                <a:lnTo>
                  <a:pt x="0" y="0"/>
                </a:lnTo>
                <a:close/>
              </a:path>
            </a:pathLst>
          </a:custGeom>
          <a:blipFill>
            <a:blip r:embed="rId5">
              <a:extLst>
                <a:ext uri="{96DAC541-7B7A-43D3-8B79-37D633B846F1}">
                  <asvg:svgBlip xmlns:asvg="http://schemas.microsoft.com/office/drawing/2016/SVG/main" r:embed="rId6"/>
                </a:ext>
              </a:extLst>
            </a:blip>
            <a:stretch>
              <a:fillRect l="0" t="0" r="-11141" b="-1111666"/>
            </a:stretch>
          </a:blipFill>
        </p:spPr>
      </p:sp>
      <p:grpSp>
        <p:nvGrpSpPr>
          <p:cNvPr name="Group 13" id="13"/>
          <p:cNvGrpSpPr/>
          <p:nvPr/>
        </p:nvGrpSpPr>
        <p:grpSpPr>
          <a:xfrm rot="0">
            <a:off x="9047076" y="5252152"/>
            <a:ext cx="5718509" cy="659791"/>
            <a:chOff x="0" y="0"/>
            <a:chExt cx="1091548" cy="125941"/>
          </a:xfrm>
        </p:grpSpPr>
        <p:sp>
          <p:nvSpPr>
            <p:cNvPr name="Freeform 14" id="14"/>
            <p:cNvSpPr/>
            <p:nvPr/>
          </p:nvSpPr>
          <p:spPr>
            <a:xfrm flipH="false" flipV="false" rot="0">
              <a:off x="0" y="0"/>
              <a:ext cx="1091548" cy="125941"/>
            </a:xfrm>
            <a:custGeom>
              <a:avLst/>
              <a:gdLst/>
              <a:ahLst/>
              <a:cxnLst/>
              <a:rect r="r" b="b" t="t" l="l"/>
              <a:pathLst>
                <a:path h="125941" w="1091548">
                  <a:moveTo>
                    <a:pt x="62970" y="0"/>
                  </a:moveTo>
                  <a:lnTo>
                    <a:pt x="1028577" y="0"/>
                  </a:lnTo>
                  <a:cubicBezTo>
                    <a:pt x="1045278" y="0"/>
                    <a:pt x="1061295" y="6634"/>
                    <a:pt x="1073104" y="18444"/>
                  </a:cubicBezTo>
                  <a:cubicBezTo>
                    <a:pt x="1084913" y="30253"/>
                    <a:pt x="1091548" y="46270"/>
                    <a:pt x="1091548" y="62970"/>
                  </a:cubicBezTo>
                  <a:lnTo>
                    <a:pt x="1091548" y="62970"/>
                  </a:lnTo>
                  <a:cubicBezTo>
                    <a:pt x="1091548" y="97748"/>
                    <a:pt x="1063355" y="125941"/>
                    <a:pt x="1028577" y="125941"/>
                  </a:cubicBezTo>
                  <a:lnTo>
                    <a:pt x="62970" y="125941"/>
                  </a:lnTo>
                  <a:cubicBezTo>
                    <a:pt x="28193" y="125941"/>
                    <a:pt x="0" y="97748"/>
                    <a:pt x="0" y="62970"/>
                  </a:cubicBezTo>
                  <a:lnTo>
                    <a:pt x="0" y="62970"/>
                  </a:lnTo>
                  <a:cubicBezTo>
                    <a:pt x="0" y="28193"/>
                    <a:pt x="28193" y="0"/>
                    <a:pt x="62970" y="0"/>
                  </a:cubicBezTo>
                  <a:close/>
                </a:path>
              </a:pathLst>
            </a:custGeom>
            <a:solidFill>
              <a:srgbClr val="134161"/>
            </a:solidFill>
          </p:spPr>
        </p:sp>
        <p:sp>
          <p:nvSpPr>
            <p:cNvPr name="TextBox 15" id="15"/>
            <p:cNvSpPr txBox="true"/>
            <p:nvPr/>
          </p:nvSpPr>
          <p:spPr>
            <a:xfrm>
              <a:off x="0" y="-57150"/>
              <a:ext cx="1091548" cy="183091"/>
            </a:xfrm>
            <a:prstGeom prst="rect">
              <a:avLst/>
            </a:prstGeom>
          </p:spPr>
          <p:txBody>
            <a:bodyPr anchor="ctr" rtlCol="false" tIns="50800" lIns="50800" bIns="50800" rIns="50800"/>
            <a:lstStyle/>
            <a:p>
              <a:pPr algn="ctr">
                <a:lnSpc>
                  <a:spcPts val="2379"/>
                </a:lnSpc>
              </a:pPr>
            </a:p>
          </p:txBody>
        </p:sp>
      </p:grpSp>
      <p:sp>
        <p:nvSpPr>
          <p:cNvPr name="Freeform 16" id="16"/>
          <p:cNvSpPr/>
          <p:nvPr/>
        </p:nvSpPr>
        <p:spPr>
          <a:xfrm flipH="false" flipV="false" rot="0">
            <a:off x="15675596" y="549401"/>
            <a:ext cx="2533775" cy="3022350"/>
          </a:xfrm>
          <a:custGeom>
            <a:avLst/>
            <a:gdLst/>
            <a:ahLst/>
            <a:cxnLst/>
            <a:rect r="r" b="b" t="t" l="l"/>
            <a:pathLst>
              <a:path h="3022350" w="2533775">
                <a:moveTo>
                  <a:pt x="0" y="0"/>
                </a:moveTo>
                <a:lnTo>
                  <a:pt x="2533775" y="0"/>
                </a:lnTo>
                <a:lnTo>
                  <a:pt x="2533775" y="3022350"/>
                </a:lnTo>
                <a:lnTo>
                  <a:pt x="0" y="3022350"/>
                </a:lnTo>
                <a:lnTo>
                  <a:pt x="0" y="0"/>
                </a:lnTo>
                <a:close/>
              </a:path>
            </a:pathLst>
          </a:custGeom>
          <a:blipFill>
            <a:blip r:embed="rId7"/>
            <a:stretch>
              <a:fillRect l="0" t="0" r="0" b="0"/>
            </a:stretch>
          </a:blipFill>
        </p:spPr>
      </p:sp>
      <p:sp>
        <p:nvSpPr>
          <p:cNvPr name="TextBox 17" id="17"/>
          <p:cNvSpPr txBox="true"/>
          <p:nvPr/>
        </p:nvSpPr>
        <p:spPr>
          <a:xfrm rot="0">
            <a:off x="828189" y="962141"/>
            <a:ext cx="15304600" cy="2092095"/>
          </a:xfrm>
          <a:prstGeom prst="rect">
            <a:avLst/>
          </a:prstGeom>
        </p:spPr>
        <p:txBody>
          <a:bodyPr anchor="t" rtlCol="false" tIns="0" lIns="0" bIns="0" rIns="0">
            <a:spAutoFit/>
          </a:bodyPr>
          <a:lstStyle/>
          <a:p>
            <a:pPr algn="l">
              <a:lnSpc>
                <a:spcPts val="7537"/>
              </a:lnSpc>
            </a:pPr>
            <a:r>
              <a:rPr lang="en-US" sz="5383">
                <a:solidFill>
                  <a:srgbClr val="FFFFFF"/>
                </a:solidFill>
                <a:latin typeface="Archivo Black"/>
                <a:ea typeface="Archivo Black"/>
                <a:cs typeface="Archivo Black"/>
                <a:sym typeface="Archivo Black"/>
              </a:rPr>
              <a:t>WIJESOORIYA T G R N S  | IT22547088</a:t>
            </a:r>
          </a:p>
          <a:p>
            <a:pPr algn="l">
              <a:lnSpc>
                <a:spcPts val="9372"/>
              </a:lnSpc>
              <a:spcBef>
                <a:spcPct val="0"/>
              </a:spcBef>
            </a:pPr>
          </a:p>
        </p:txBody>
      </p:sp>
      <p:sp>
        <p:nvSpPr>
          <p:cNvPr name="TextBox 18" id="18"/>
          <p:cNvSpPr txBox="true"/>
          <p:nvPr/>
        </p:nvSpPr>
        <p:spPr>
          <a:xfrm rot="0">
            <a:off x="3472137" y="2452766"/>
            <a:ext cx="9692774" cy="441326"/>
          </a:xfrm>
          <a:prstGeom prst="rect">
            <a:avLst/>
          </a:prstGeom>
        </p:spPr>
        <p:txBody>
          <a:bodyPr anchor="t" rtlCol="false" tIns="0" lIns="0" bIns="0" rIns="0">
            <a:spAutoFit/>
          </a:bodyPr>
          <a:lstStyle/>
          <a:p>
            <a:pPr algn="l">
              <a:lnSpc>
                <a:spcPts val="3499"/>
              </a:lnSpc>
            </a:pPr>
            <a:r>
              <a:rPr lang="en-US" b="true" sz="2499">
                <a:solidFill>
                  <a:srgbClr val="FFFFFF"/>
                </a:solidFill>
                <a:latin typeface="Poppins Bold"/>
                <a:ea typeface="Poppins Bold"/>
                <a:cs typeface="Poppins Bold"/>
                <a:sym typeface="Poppins Bold"/>
              </a:rPr>
              <a:t>Explai</a:t>
            </a:r>
            <a:r>
              <a:rPr lang="en-US" b="true" sz="2499">
                <a:solidFill>
                  <a:srgbClr val="FFFFFF"/>
                </a:solidFill>
                <a:latin typeface="Poppins Bold"/>
                <a:ea typeface="Poppins Bold"/>
                <a:cs typeface="Poppins Bold"/>
                <a:sym typeface="Poppins Bold"/>
              </a:rPr>
              <a:t>nable AI-Based Financial Market Risk Impact Engine</a:t>
            </a:r>
          </a:p>
        </p:txBody>
      </p:sp>
      <p:sp>
        <p:nvSpPr>
          <p:cNvPr name="TextBox 19" id="19"/>
          <p:cNvSpPr txBox="true"/>
          <p:nvPr/>
        </p:nvSpPr>
        <p:spPr>
          <a:xfrm rot="0">
            <a:off x="1574480" y="5269327"/>
            <a:ext cx="4479238" cy="492648"/>
          </a:xfrm>
          <a:prstGeom prst="rect">
            <a:avLst/>
          </a:prstGeom>
        </p:spPr>
        <p:txBody>
          <a:bodyPr anchor="t" rtlCol="false" tIns="0" lIns="0" bIns="0" rIns="0">
            <a:spAutoFit/>
          </a:bodyPr>
          <a:lstStyle/>
          <a:p>
            <a:pPr algn="ctr">
              <a:lnSpc>
                <a:spcPts val="3821"/>
              </a:lnSpc>
              <a:spcBef>
                <a:spcPct val="0"/>
              </a:spcBef>
            </a:pPr>
            <a:r>
              <a:rPr lang="en-US" b="true" sz="2729">
                <a:solidFill>
                  <a:srgbClr val="FFFFFF"/>
                </a:solidFill>
                <a:latin typeface="Poppins Bold"/>
                <a:ea typeface="Poppins Bold"/>
                <a:cs typeface="Poppins Bold"/>
                <a:sym typeface="Poppins Bold"/>
              </a:rPr>
              <a:t>Novelty </a:t>
            </a:r>
          </a:p>
        </p:txBody>
      </p:sp>
      <p:sp>
        <p:nvSpPr>
          <p:cNvPr name="TextBox 20" id="20"/>
          <p:cNvSpPr txBox="true"/>
          <p:nvPr/>
        </p:nvSpPr>
        <p:spPr>
          <a:xfrm rot="0">
            <a:off x="1577484" y="6029678"/>
            <a:ext cx="4476234" cy="1275974"/>
          </a:xfrm>
          <a:prstGeom prst="rect">
            <a:avLst/>
          </a:prstGeom>
        </p:spPr>
        <p:txBody>
          <a:bodyPr anchor="t" rtlCol="false" tIns="0" lIns="0" bIns="0" rIns="0">
            <a:spAutoFit/>
          </a:bodyPr>
          <a:lstStyle/>
          <a:p>
            <a:pPr algn="ctr">
              <a:lnSpc>
                <a:spcPts val="2511"/>
              </a:lnSpc>
              <a:spcBef>
                <a:spcPct val="0"/>
              </a:spcBef>
            </a:pPr>
            <a:r>
              <a:rPr lang="en-US" sz="1793">
                <a:solidFill>
                  <a:srgbClr val="FFFFFF"/>
                </a:solidFill>
                <a:latin typeface="Poppins"/>
                <a:ea typeface="Poppins"/>
                <a:cs typeface="Poppins"/>
                <a:sym typeface="Poppins"/>
              </a:rPr>
              <a:t>Combines stock risk prediction with global financial indicators</a:t>
            </a:r>
            <a:r>
              <a:rPr lang="en-US" sz="1793">
                <a:solidFill>
                  <a:srgbClr val="FFFFFF"/>
                </a:solidFill>
                <a:latin typeface="Poppins"/>
                <a:ea typeface="Poppins"/>
                <a:cs typeface="Poppins"/>
                <a:sym typeface="Poppins"/>
              </a:rPr>
              <a:t> and SHAP-based Explainable AI to identify the factors influencing market risk.</a:t>
            </a:r>
          </a:p>
        </p:txBody>
      </p:sp>
      <p:sp>
        <p:nvSpPr>
          <p:cNvPr name="TextBox 21" id="21"/>
          <p:cNvSpPr txBox="true"/>
          <p:nvPr/>
        </p:nvSpPr>
        <p:spPr>
          <a:xfrm rot="0">
            <a:off x="9354416" y="5354417"/>
            <a:ext cx="5103828" cy="407558"/>
          </a:xfrm>
          <a:prstGeom prst="rect">
            <a:avLst/>
          </a:prstGeom>
        </p:spPr>
        <p:txBody>
          <a:bodyPr anchor="t" rtlCol="false" tIns="0" lIns="0" bIns="0" rIns="0">
            <a:spAutoFit/>
          </a:bodyPr>
          <a:lstStyle/>
          <a:p>
            <a:pPr algn="ctr">
              <a:lnSpc>
                <a:spcPts val="3261"/>
              </a:lnSpc>
              <a:spcBef>
                <a:spcPct val="0"/>
              </a:spcBef>
            </a:pPr>
            <a:r>
              <a:rPr lang="en-US" b="true" sz="2329">
                <a:solidFill>
                  <a:srgbClr val="FFFFFF"/>
                </a:solidFill>
                <a:latin typeface="Poppins Bold"/>
                <a:ea typeface="Poppins Bold"/>
                <a:cs typeface="Poppins Bold"/>
                <a:sym typeface="Poppins Bold"/>
              </a:rPr>
              <a:t>Contribution to Overall Solution</a:t>
            </a:r>
          </a:p>
        </p:txBody>
      </p:sp>
      <p:sp>
        <p:nvSpPr>
          <p:cNvPr name="TextBox 22" id="22"/>
          <p:cNvSpPr txBox="true"/>
          <p:nvPr/>
        </p:nvSpPr>
        <p:spPr>
          <a:xfrm rot="0">
            <a:off x="9429977" y="6029678"/>
            <a:ext cx="5139918" cy="1592070"/>
          </a:xfrm>
          <a:prstGeom prst="rect">
            <a:avLst/>
          </a:prstGeom>
        </p:spPr>
        <p:txBody>
          <a:bodyPr anchor="t" rtlCol="false" tIns="0" lIns="0" bIns="0" rIns="0">
            <a:spAutoFit/>
          </a:bodyPr>
          <a:lstStyle/>
          <a:p>
            <a:pPr algn="ctr">
              <a:lnSpc>
                <a:spcPts val="2511"/>
              </a:lnSpc>
              <a:spcBef>
                <a:spcPct val="0"/>
              </a:spcBef>
            </a:pPr>
            <a:r>
              <a:rPr lang="en-US" sz="1793">
                <a:solidFill>
                  <a:srgbClr val="FFFFFF"/>
                </a:solidFill>
                <a:latin typeface="Poppins"/>
                <a:ea typeface="Poppins"/>
                <a:cs typeface="Poppins"/>
                <a:sym typeface="Poppins"/>
              </a:rPr>
              <a:t>Provides transparent stock risk insights by pre</a:t>
            </a:r>
            <a:r>
              <a:rPr lang="en-US" sz="1793">
                <a:solidFill>
                  <a:srgbClr val="FFFFFF"/>
                </a:solidFill>
                <a:latin typeface="Poppins"/>
                <a:ea typeface="Poppins"/>
                <a:cs typeface="Poppins"/>
                <a:sym typeface="Poppins"/>
              </a:rPr>
              <a:t>dicting LOW, MEDIUM, and HIGH risk levels and explaining the key factors behind the prediction for better financial decision-making.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true" flipV="false" rot="0">
            <a:off x="14924349" y="7410120"/>
            <a:ext cx="3634918" cy="3300681"/>
          </a:xfrm>
          <a:custGeom>
            <a:avLst/>
            <a:gdLst/>
            <a:ahLst/>
            <a:cxnLst/>
            <a:rect r="r" b="b" t="t" l="l"/>
            <a:pathLst>
              <a:path h="3300681" w="3634918">
                <a:moveTo>
                  <a:pt x="3634918" y="0"/>
                </a:moveTo>
                <a:lnTo>
                  <a:pt x="0" y="0"/>
                </a:lnTo>
                <a:lnTo>
                  <a:pt x="0" y="3300681"/>
                </a:lnTo>
                <a:lnTo>
                  <a:pt x="3634918" y="3300681"/>
                </a:lnTo>
                <a:lnTo>
                  <a:pt x="3634918" y="0"/>
                </a:lnTo>
                <a:close/>
              </a:path>
            </a:pathLst>
          </a:custGeom>
          <a:blipFill>
            <a:blip r:embed="rId3">
              <a:extLst>
                <a:ext uri="{96DAC541-7B7A-43D3-8B79-37D633B846F1}">
                  <asvg:svgBlip xmlns:asvg="http://schemas.microsoft.com/office/drawing/2016/SVG/main" r:embed="rId4"/>
                </a:ext>
              </a:extLst>
            </a:blip>
            <a:stretch>
              <a:fillRect l="0" t="0" r="0" b="-10126"/>
            </a:stretch>
          </a:blipFill>
        </p:spPr>
      </p:sp>
      <p:sp>
        <p:nvSpPr>
          <p:cNvPr name="Freeform 4" id="4"/>
          <p:cNvSpPr/>
          <p:nvPr/>
        </p:nvSpPr>
        <p:spPr>
          <a:xfrm flipH="false" flipV="false" rot="0">
            <a:off x="-312426" y="7205417"/>
            <a:ext cx="3673321" cy="3335553"/>
          </a:xfrm>
          <a:custGeom>
            <a:avLst/>
            <a:gdLst/>
            <a:ahLst/>
            <a:cxnLst/>
            <a:rect r="r" b="b" t="t" l="l"/>
            <a:pathLst>
              <a:path h="3335553" w="3673321">
                <a:moveTo>
                  <a:pt x="0" y="0"/>
                </a:moveTo>
                <a:lnTo>
                  <a:pt x="3673322" y="0"/>
                </a:lnTo>
                <a:lnTo>
                  <a:pt x="3673322" y="3335554"/>
                </a:lnTo>
                <a:lnTo>
                  <a:pt x="0" y="3335554"/>
                </a:lnTo>
                <a:lnTo>
                  <a:pt x="0" y="0"/>
                </a:lnTo>
                <a:close/>
              </a:path>
            </a:pathLst>
          </a:custGeom>
          <a:blipFill>
            <a:blip r:embed="rId3">
              <a:extLst>
                <a:ext uri="{96DAC541-7B7A-43D3-8B79-37D633B846F1}">
                  <asvg:svgBlip xmlns:asvg="http://schemas.microsoft.com/office/drawing/2016/SVG/main" r:embed="rId4"/>
                </a:ext>
              </a:extLst>
            </a:blip>
            <a:stretch>
              <a:fillRect l="0" t="0" r="0" b="-10126"/>
            </a:stretch>
          </a:blipFill>
        </p:spPr>
      </p:sp>
      <p:grpSp>
        <p:nvGrpSpPr>
          <p:cNvPr name="Group 5" id="5"/>
          <p:cNvGrpSpPr/>
          <p:nvPr/>
        </p:nvGrpSpPr>
        <p:grpSpPr>
          <a:xfrm rot="0">
            <a:off x="10950203" y="163343"/>
            <a:ext cx="9893488" cy="507312"/>
            <a:chOff x="0" y="0"/>
            <a:chExt cx="13191318" cy="676416"/>
          </a:xfrm>
        </p:grpSpPr>
        <p:grpSp>
          <p:nvGrpSpPr>
            <p:cNvPr name="Group 6" id="6"/>
            <p:cNvGrpSpPr/>
            <p:nvPr/>
          </p:nvGrpSpPr>
          <p:grpSpPr>
            <a:xfrm rot="0">
              <a:off x="0" y="0"/>
              <a:ext cx="9626990" cy="676416"/>
              <a:chOff x="0" y="0"/>
              <a:chExt cx="1901628" cy="133613"/>
            </a:xfrm>
          </p:grpSpPr>
          <p:sp>
            <p:nvSpPr>
              <p:cNvPr name="Freeform 7" id="7"/>
              <p:cNvSpPr/>
              <p:nvPr/>
            </p:nvSpPr>
            <p:spPr>
              <a:xfrm flipH="false" flipV="false" rot="0">
                <a:off x="0" y="0"/>
                <a:ext cx="1901628" cy="133613"/>
              </a:xfrm>
              <a:custGeom>
                <a:avLst/>
                <a:gdLst/>
                <a:ahLst/>
                <a:cxnLst/>
                <a:rect r="r" b="b" t="t" l="l"/>
                <a:pathLst>
                  <a:path h="133613" w="1901628">
                    <a:moveTo>
                      <a:pt x="54283" y="0"/>
                    </a:moveTo>
                    <a:lnTo>
                      <a:pt x="1847345" y="0"/>
                    </a:lnTo>
                    <a:cubicBezTo>
                      <a:pt x="1877325" y="0"/>
                      <a:pt x="1901628" y="24303"/>
                      <a:pt x="1901628" y="54283"/>
                    </a:cubicBezTo>
                    <a:lnTo>
                      <a:pt x="1901628" y="79330"/>
                    </a:lnTo>
                    <a:cubicBezTo>
                      <a:pt x="1901628" y="93727"/>
                      <a:pt x="1895909" y="107534"/>
                      <a:pt x="1885729" y="117714"/>
                    </a:cubicBezTo>
                    <a:cubicBezTo>
                      <a:pt x="1875549" y="127894"/>
                      <a:pt x="1861742" y="133613"/>
                      <a:pt x="1847345" y="133613"/>
                    </a:cubicBezTo>
                    <a:lnTo>
                      <a:pt x="54283" y="133613"/>
                    </a:lnTo>
                    <a:cubicBezTo>
                      <a:pt x="24303" y="133613"/>
                      <a:pt x="0" y="109310"/>
                      <a:pt x="0" y="79330"/>
                    </a:cubicBezTo>
                    <a:lnTo>
                      <a:pt x="0" y="54283"/>
                    </a:lnTo>
                    <a:cubicBezTo>
                      <a:pt x="0" y="24303"/>
                      <a:pt x="24303" y="0"/>
                      <a:pt x="54283" y="0"/>
                    </a:cubicBezTo>
                    <a:close/>
                  </a:path>
                </a:pathLst>
              </a:custGeom>
              <a:solidFill>
                <a:srgbClr val="134161"/>
              </a:solidFill>
            </p:spPr>
          </p:sp>
          <p:sp>
            <p:nvSpPr>
              <p:cNvPr name="TextBox 8" id="8"/>
              <p:cNvSpPr txBox="true"/>
              <p:nvPr/>
            </p:nvSpPr>
            <p:spPr>
              <a:xfrm>
                <a:off x="0" y="-38100"/>
                <a:ext cx="1901628" cy="171713"/>
              </a:xfrm>
              <a:prstGeom prst="rect">
                <a:avLst/>
              </a:prstGeom>
            </p:spPr>
            <p:txBody>
              <a:bodyPr anchor="ctr" rtlCol="false" tIns="50800" lIns="50800" bIns="50800" rIns="50800"/>
              <a:lstStyle/>
              <a:p>
                <a:pPr algn="ctr">
                  <a:lnSpc>
                    <a:spcPts val="1540"/>
                  </a:lnSpc>
                </a:pPr>
              </a:p>
            </p:txBody>
          </p:sp>
        </p:grpSp>
        <p:sp>
          <p:nvSpPr>
            <p:cNvPr name="TextBox 9" id="9"/>
            <p:cNvSpPr txBox="true"/>
            <p:nvPr/>
          </p:nvSpPr>
          <p:spPr>
            <a:xfrm rot="0">
              <a:off x="267620" y="74325"/>
              <a:ext cx="12923698" cy="437304"/>
            </a:xfrm>
            <a:prstGeom prst="rect">
              <a:avLst/>
            </a:prstGeom>
          </p:spPr>
          <p:txBody>
            <a:bodyPr anchor="t" rtlCol="false" tIns="0" lIns="0" bIns="0" rIns="0">
              <a:spAutoFit/>
            </a:bodyPr>
            <a:lstStyle/>
            <a:p>
              <a:pPr algn="l">
                <a:lnSpc>
                  <a:spcPts val="2659"/>
                </a:lnSpc>
              </a:pPr>
              <a:r>
                <a:rPr lang="en-US" b="true" sz="1899">
                  <a:solidFill>
                    <a:srgbClr val="FFFFFF"/>
                  </a:solidFill>
                  <a:latin typeface="Poppins Bold"/>
                  <a:ea typeface="Poppins Bold"/>
                  <a:cs typeface="Poppins Bold"/>
                  <a:sym typeface="Poppins Bold"/>
                </a:rPr>
                <a:t>Explai</a:t>
              </a:r>
              <a:r>
                <a:rPr lang="en-US" b="true" sz="1899">
                  <a:solidFill>
                    <a:srgbClr val="FFFFFF"/>
                  </a:solidFill>
                  <a:latin typeface="Poppins Bold"/>
                  <a:ea typeface="Poppins Bold"/>
                  <a:cs typeface="Poppins Bold"/>
                  <a:sym typeface="Poppins Bold"/>
                </a:rPr>
                <a:t>nable AI-Based Financial Risk Engine</a:t>
              </a:r>
            </a:p>
          </p:txBody>
        </p:sp>
      </p:grpSp>
      <p:grpSp>
        <p:nvGrpSpPr>
          <p:cNvPr name="Group 10" id="10"/>
          <p:cNvGrpSpPr/>
          <p:nvPr/>
        </p:nvGrpSpPr>
        <p:grpSpPr>
          <a:xfrm rot="0">
            <a:off x="238018" y="1951532"/>
            <a:ext cx="6256112" cy="3191968"/>
            <a:chOff x="0" y="0"/>
            <a:chExt cx="1647700" cy="840683"/>
          </a:xfrm>
        </p:grpSpPr>
        <p:sp>
          <p:nvSpPr>
            <p:cNvPr name="Freeform 11" id="11"/>
            <p:cNvSpPr/>
            <p:nvPr/>
          </p:nvSpPr>
          <p:spPr>
            <a:xfrm flipH="false" flipV="false" rot="0">
              <a:off x="0" y="0"/>
              <a:ext cx="1647700" cy="840683"/>
            </a:xfrm>
            <a:custGeom>
              <a:avLst/>
              <a:gdLst/>
              <a:ahLst/>
              <a:cxnLst/>
              <a:rect r="r" b="b" t="t" l="l"/>
              <a:pathLst>
                <a:path h="840683" w="1647700">
                  <a:moveTo>
                    <a:pt x="63112" y="0"/>
                  </a:moveTo>
                  <a:lnTo>
                    <a:pt x="1584588" y="0"/>
                  </a:lnTo>
                  <a:cubicBezTo>
                    <a:pt x="1601326" y="0"/>
                    <a:pt x="1617379" y="6649"/>
                    <a:pt x="1629215" y="18485"/>
                  </a:cubicBezTo>
                  <a:cubicBezTo>
                    <a:pt x="1641051" y="30321"/>
                    <a:pt x="1647700" y="46374"/>
                    <a:pt x="1647700" y="63112"/>
                  </a:cubicBezTo>
                  <a:lnTo>
                    <a:pt x="1647700" y="777571"/>
                  </a:lnTo>
                  <a:cubicBezTo>
                    <a:pt x="1647700" y="812427"/>
                    <a:pt x="1619444" y="840683"/>
                    <a:pt x="1584588" y="840683"/>
                  </a:cubicBezTo>
                  <a:lnTo>
                    <a:pt x="63112" y="840683"/>
                  </a:lnTo>
                  <a:cubicBezTo>
                    <a:pt x="46374" y="840683"/>
                    <a:pt x="30321" y="834034"/>
                    <a:pt x="18485" y="822198"/>
                  </a:cubicBezTo>
                  <a:cubicBezTo>
                    <a:pt x="6649" y="810362"/>
                    <a:pt x="0" y="794309"/>
                    <a:pt x="0" y="777571"/>
                  </a:cubicBezTo>
                  <a:lnTo>
                    <a:pt x="0" y="63112"/>
                  </a:lnTo>
                  <a:cubicBezTo>
                    <a:pt x="0" y="46374"/>
                    <a:pt x="6649" y="30321"/>
                    <a:pt x="18485" y="18485"/>
                  </a:cubicBezTo>
                  <a:cubicBezTo>
                    <a:pt x="30321" y="6649"/>
                    <a:pt x="46374" y="0"/>
                    <a:pt x="63112" y="0"/>
                  </a:cubicBezTo>
                  <a:close/>
                </a:path>
              </a:pathLst>
            </a:custGeom>
            <a:solidFill>
              <a:srgbClr val="134161">
                <a:alpha val="52941"/>
              </a:srgbClr>
            </a:solidFill>
            <a:ln w="38100" cap="rnd">
              <a:solidFill>
                <a:srgbClr val="FFFFFF">
                  <a:alpha val="52941"/>
                </a:srgbClr>
              </a:solidFill>
              <a:prstDash val="solid"/>
              <a:round/>
            </a:ln>
          </p:spPr>
        </p:sp>
        <p:sp>
          <p:nvSpPr>
            <p:cNvPr name="TextBox 12" id="12"/>
            <p:cNvSpPr txBox="true"/>
            <p:nvPr/>
          </p:nvSpPr>
          <p:spPr>
            <a:xfrm>
              <a:off x="0" y="-57150"/>
              <a:ext cx="1647700" cy="897833"/>
            </a:xfrm>
            <a:prstGeom prst="rect">
              <a:avLst/>
            </a:prstGeom>
          </p:spPr>
          <p:txBody>
            <a:bodyPr anchor="ctr" rtlCol="false" tIns="50800" lIns="50800" bIns="50800" rIns="50800"/>
            <a:lstStyle/>
            <a:p>
              <a:pPr algn="ctr">
                <a:lnSpc>
                  <a:spcPts val="2379"/>
                </a:lnSpc>
              </a:pPr>
            </a:p>
          </p:txBody>
        </p:sp>
      </p:grpSp>
      <p:sp>
        <p:nvSpPr>
          <p:cNvPr name="TextBox 13" id="13"/>
          <p:cNvSpPr txBox="true"/>
          <p:nvPr/>
        </p:nvSpPr>
        <p:spPr>
          <a:xfrm rot="0">
            <a:off x="235860" y="231399"/>
            <a:ext cx="6258270" cy="333101"/>
          </a:xfrm>
          <a:prstGeom prst="rect">
            <a:avLst/>
          </a:prstGeom>
        </p:spPr>
        <p:txBody>
          <a:bodyPr anchor="t" rtlCol="false" tIns="0" lIns="0" bIns="0" rIns="0">
            <a:spAutoFit/>
          </a:bodyPr>
          <a:lstStyle/>
          <a:p>
            <a:pPr algn="l">
              <a:lnSpc>
                <a:spcPts val="2723"/>
              </a:lnSpc>
              <a:spcBef>
                <a:spcPct val="0"/>
              </a:spcBef>
            </a:pPr>
            <a:r>
              <a:rPr lang="en-US" sz="1945">
                <a:solidFill>
                  <a:srgbClr val="FFFFFF"/>
                </a:solidFill>
                <a:latin typeface="Archivo Black"/>
                <a:ea typeface="Archivo Black"/>
                <a:cs typeface="Archivo Black"/>
                <a:sym typeface="Archivo Black"/>
              </a:rPr>
              <a:t>Wijesooriya T G R N S  | IT22547088</a:t>
            </a:r>
          </a:p>
        </p:txBody>
      </p:sp>
      <p:grpSp>
        <p:nvGrpSpPr>
          <p:cNvPr name="Group 14" id="14"/>
          <p:cNvGrpSpPr/>
          <p:nvPr/>
        </p:nvGrpSpPr>
        <p:grpSpPr>
          <a:xfrm rot="0">
            <a:off x="8952390" y="5591175"/>
            <a:ext cx="8795846" cy="4424322"/>
            <a:chOff x="0" y="0"/>
            <a:chExt cx="2316601" cy="1165253"/>
          </a:xfrm>
        </p:grpSpPr>
        <p:sp>
          <p:nvSpPr>
            <p:cNvPr name="Freeform 15" id="15"/>
            <p:cNvSpPr/>
            <p:nvPr/>
          </p:nvSpPr>
          <p:spPr>
            <a:xfrm flipH="false" flipV="false" rot="0">
              <a:off x="0" y="0"/>
              <a:ext cx="2316601" cy="1165253"/>
            </a:xfrm>
            <a:custGeom>
              <a:avLst/>
              <a:gdLst/>
              <a:ahLst/>
              <a:cxnLst/>
              <a:rect r="r" b="b" t="t" l="l"/>
              <a:pathLst>
                <a:path h="1165253" w="2316601">
                  <a:moveTo>
                    <a:pt x="44889" y="0"/>
                  </a:moveTo>
                  <a:lnTo>
                    <a:pt x="2271712" y="0"/>
                  </a:lnTo>
                  <a:cubicBezTo>
                    <a:pt x="2283618" y="0"/>
                    <a:pt x="2295035" y="4729"/>
                    <a:pt x="2303454" y="13148"/>
                  </a:cubicBezTo>
                  <a:cubicBezTo>
                    <a:pt x="2311872" y="21566"/>
                    <a:pt x="2316601" y="32984"/>
                    <a:pt x="2316601" y="44889"/>
                  </a:cubicBezTo>
                  <a:lnTo>
                    <a:pt x="2316601" y="1120364"/>
                  </a:lnTo>
                  <a:cubicBezTo>
                    <a:pt x="2316601" y="1145156"/>
                    <a:pt x="2296504" y="1165253"/>
                    <a:pt x="2271712" y="1165253"/>
                  </a:cubicBezTo>
                  <a:lnTo>
                    <a:pt x="44889" y="1165253"/>
                  </a:lnTo>
                  <a:cubicBezTo>
                    <a:pt x="32984" y="1165253"/>
                    <a:pt x="21566" y="1160524"/>
                    <a:pt x="13148" y="1152106"/>
                  </a:cubicBezTo>
                  <a:cubicBezTo>
                    <a:pt x="4729" y="1143687"/>
                    <a:pt x="0" y="1132270"/>
                    <a:pt x="0" y="1120364"/>
                  </a:cubicBezTo>
                  <a:lnTo>
                    <a:pt x="0" y="44889"/>
                  </a:lnTo>
                  <a:cubicBezTo>
                    <a:pt x="0" y="32984"/>
                    <a:pt x="4729" y="21566"/>
                    <a:pt x="13148" y="13148"/>
                  </a:cubicBezTo>
                  <a:cubicBezTo>
                    <a:pt x="21566" y="4729"/>
                    <a:pt x="32984" y="0"/>
                    <a:pt x="44889" y="0"/>
                  </a:cubicBezTo>
                  <a:close/>
                </a:path>
              </a:pathLst>
            </a:custGeom>
            <a:solidFill>
              <a:srgbClr val="134161">
                <a:alpha val="52941"/>
              </a:srgbClr>
            </a:solidFill>
            <a:ln w="38100" cap="rnd">
              <a:solidFill>
                <a:srgbClr val="FFFFFF">
                  <a:alpha val="52941"/>
                </a:srgbClr>
              </a:solidFill>
              <a:prstDash val="solid"/>
              <a:round/>
            </a:ln>
          </p:spPr>
        </p:sp>
        <p:sp>
          <p:nvSpPr>
            <p:cNvPr name="TextBox 16" id="16"/>
            <p:cNvSpPr txBox="true"/>
            <p:nvPr/>
          </p:nvSpPr>
          <p:spPr>
            <a:xfrm>
              <a:off x="0" y="-57150"/>
              <a:ext cx="2316601" cy="1222403"/>
            </a:xfrm>
            <a:prstGeom prst="rect">
              <a:avLst/>
            </a:prstGeom>
          </p:spPr>
          <p:txBody>
            <a:bodyPr anchor="ctr" rtlCol="false" tIns="50800" lIns="50800" bIns="50800" rIns="50800"/>
            <a:lstStyle/>
            <a:p>
              <a:pPr algn="ctr">
                <a:lnSpc>
                  <a:spcPts val="2379"/>
                </a:lnSpc>
              </a:pPr>
            </a:p>
          </p:txBody>
        </p:sp>
      </p:grpSp>
      <p:sp>
        <p:nvSpPr>
          <p:cNvPr name="TextBox 17" id="17"/>
          <p:cNvSpPr txBox="true"/>
          <p:nvPr/>
        </p:nvSpPr>
        <p:spPr>
          <a:xfrm rot="0">
            <a:off x="740826" y="2159145"/>
            <a:ext cx="5240139" cy="398781"/>
          </a:xfrm>
          <a:prstGeom prst="rect">
            <a:avLst/>
          </a:prstGeom>
        </p:spPr>
        <p:txBody>
          <a:bodyPr anchor="t" rtlCol="false" tIns="0" lIns="0" bIns="0" rIns="0">
            <a:spAutoFit/>
          </a:bodyPr>
          <a:lstStyle/>
          <a:p>
            <a:pPr algn="ctr">
              <a:lnSpc>
                <a:spcPts val="3219"/>
              </a:lnSpc>
              <a:spcBef>
                <a:spcPct val="0"/>
              </a:spcBef>
            </a:pPr>
            <a:r>
              <a:rPr lang="en-US" b="true" sz="2299">
                <a:solidFill>
                  <a:srgbClr val="FFFFFF"/>
                </a:solidFill>
                <a:latin typeface="Poppins Bold"/>
                <a:ea typeface="Poppins Bold"/>
                <a:cs typeface="Poppins Bold"/>
                <a:sym typeface="Poppins Bold"/>
              </a:rPr>
              <a:t>Problem</a:t>
            </a:r>
          </a:p>
        </p:txBody>
      </p:sp>
      <p:sp>
        <p:nvSpPr>
          <p:cNvPr name="TextBox 18" id="18"/>
          <p:cNvSpPr txBox="true"/>
          <p:nvPr/>
        </p:nvSpPr>
        <p:spPr>
          <a:xfrm rot="0">
            <a:off x="272381" y="3050262"/>
            <a:ext cx="6177096" cy="1490113"/>
          </a:xfrm>
          <a:prstGeom prst="rect">
            <a:avLst/>
          </a:prstGeom>
        </p:spPr>
        <p:txBody>
          <a:bodyPr anchor="t" rtlCol="false" tIns="0" lIns="0" bIns="0" rIns="0">
            <a:spAutoFit/>
          </a:bodyPr>
          <a:lstStyle/>
          <a:p>
            <a:pPr algn="ctr">
              <a:lnSpc>
                <a:spcPts val="2393"/>
              </a:lnSpc>
              <a:spcBef>
                <a:spcPct val="0"/>
              </a:spcBef>
            </a:pPr>
            <a:r>
              <a:rPr lang="en-US" sz="1709">
                <a:solidFill>
                  <a:srgbClr val="FFFFFF"/>
                </a:solidFill>
                <a:latin typeface="Poppins"/>
                <a:ea typeface="Poppins"/>
                <a:cs typeface="Poppins"/>
                <a:sym typeface="Poppins"/>
              </a:rPr>
              <a:t>Stock markets are influenced by</a:t>
            </a:r>
            <a:r>
              <a:rPr lang="en-US" sz="1709">
                <a:solidFill>
                  <a:srgbClr val="FFFFFF"/>
                </a:solidFill>
                <a:latin typeface="Poppins"/>
                <a:ea typeface="Poppins"/>
                <a:cs typeface="Poppins"/>
                <a:sym typeface="Poppins"/>
              </a:rPr>
              <a:t> multiple internal and external factors. Investors can observe price changes but often cannot understand why the risk level increases or decreases. Traditional ML models provide predictions but lack transparency and explanation.</a:t>
            </a:r>
          </a:p>
        </p:txBody>
      </p:sp>
      <p:sp>
        <p:nvSpPr>
          <p:cNvPr name="TextBox 19" id="19"/>
          <p:cNvSpPr txBox="true"/>
          <p:nvPr/>
        </p:nvSpPr>
        <p:spPr>
          <a:xfrm rot="0">
            <a:off x="10454829" y="5722339"/>
            <a:ext cx="5790969" cy="782321"/>
          </a:xfrm>
          <a:prstGeom prst="rect">
            <a:avLst/>
          </a:prstGeom>
        </p:spPr>
        <p:txBody>
          <a:bodyPr anchor="t" rtlCol="false" tIns="0" lIns="0" bIns="0" rIns="0">
            <a:spAutoFit/>
          </a:bodyPr>
          <a:lstStyle/>
          <a:p>
            <a:pPr algn="ctr">
              <a:lnSpc>
                <a:spcPts val="3079"/>
              </a:lnSpc>
              <a:spcBef>
                <a:spcPct val="0"/>
              </a:spcBef>
            </a:pPr>
            <a:r>
              <a:rPr lang="en-US" b="true" sz="2199">
                <a:solidFill>
                  <a:srgbClr val="FFFFFF"/>
                </a:solidFill>
                <a:latin typeface="Poppins Bold"/>
                <a:ea typeface="Poppins Bold"/>
                <a:cs typeface="Poppins Bold"/>
                <a:sym typeface="Poppins Bold"/>
              </a:rPr>
              <a:t>Model Evaluation</a:t>
            </a:r>
          </a:p>
          <a:p>
            <a:pPr algn="ctr">
              <a:lnSpc>
                <a:spcPts val="3079"/>
              </a:lnSpc>
              <a:spcBef>
                <a:spcPct val="0"/>
              </a:spcBef>
            </a:pPr>
          </a:p>
        </p:txBody>
      </p:sp>
      <p:sp>
        <p:nvSpPr>
          <p:cNvPr name="TextBox 20" id="20"/>
          <p:cNvSpPr txBox="true"/>
          <p:nvPr/>
        </p:nvSpPr>
        <p:spPr>
          <a:xfrm rot="0">
            <a:off x="366965" y="5410200"/>
            <a:ext cx="8585426" cy="633803"/>
          </a:xfrm>
          <a:prstGeom prst="rect">
            <a:avLst/>
          </a:prstGeom>
        </p:spPr>
        <p:txBody>
          <a:bodyPr anchor="t" rtlCol="false" tIns="0" lIns="0" bIns="0" rIns="0">
            <a:spAutoFit/>
          </a:bodyPr>
          <a:lstStyle/>
          <a:p>
            <a:pPr algn="ctr">
              <a:lnSpc>
                <a:spcPts val="4915"/>
              </a:lnSpc>
              <a:spcBef>
                <a:spcPct val="0"/>
              </a:spcBef>
            </a:pPr>
            <a:r>
              <a:rPr lang="en-US" b="true" sz="3511" u="sng">
                <a:solidFill>
                  <a:srgbClr val="FFFFFF"/>
                </a:solidFill>
                <a:latin typeface="Poppins Bold"/>
                <a:ea typeface="Poppins Bold"/>
                <a:cs typeface="Poppins Bold"/>
                <a:sym typeface="Poppins Bold"/>
              </a:rPr>
              <a:t>Financial Risk Analysis Workflow</a:t>
            </a:r>
          </a:p>
        </p:txBody>
      </p:sp>
      <p:sp>
        <p:nvSpPr>
          <p:cNvPr name="TextBox 21" id="21"/>
          <p:cNvSpPr txBox="true"/>
          <p:nvPr/>
        </p:nvSpPr>
        <p:spPr>
          <a:xfrm rot="0">
            <a:off x="1028700" y="6210411"/>
            <a:ext cx="7169073" cy="2494760"/>
          </a:xfrm>
          <a:prstGeom prst="rect">
            <a:avLst/>
          </a:prstGeom>
        </p:spPr>
        <p:txBody>
          <a:bodyPr anchor="t" rtlCol="false" tIns="0" lIns="0" bIns="0" rIns="0">
            <a:spAutoFit/>
          </a:bodyPr>
          <a:lstStyle/>
          <a:p>
            <a:pPr algn="l" marL="439829" indent="-219915" lvl="1">
              <a:lnSpc>
                <a:spcPts val="2852"/>
              </a:lnSpc>
              <a:buAutoNum type="arabicPeriod" startAt="1"/>
            </a:pPr>
            <a:r>
              <a:rPr lang="en-US" b="true" sz="2037">
                <a:solidFill>
                  <a:srgbClr val="FFFFFF"/>
                </a:solidFill>
                <a:latin typeface="Poppins Semi-Bold"/>
                <a:ea typeface="Poppins Semi-Bold"/>
                <a:cs typeface="Poppins Semi-Bold"/>
                <a:sym typeface="Poppins Semi-Bold"/>
              </a:rPr>
              <a:t>Collect Historical Stock Market Data</a:t>
            </a:r>
          </a:p>
          <a:p>
            <a:pPr algn="l" marL="439829" indent="-219915" lvl="1">
              <a:lnSpc>
                <a:spcPts val="2852"/>
              </a:lnSpc>
              <a:buAutoNum type="arabicPeriod" startAt="1"/>
            </a:pPr>
            <a:r>
              <a:rPr lang="en-US" b="true" sz="2037">
                <a:solidFill>
                  <a:srgbClr val="FFFFFF"/>
                </a:solidFill>
                <a:latin typeface="Poppins Semi-Bold"/>
                <a:ea typeface="Poppins Semi-Bold"/>
                <a:cs typeface="Poppins Semi-Bold"/>
                <a:sym typeface="Poppins Semi-Bold"/>
              </a:rPr>
              <a:t>Preprocess and Prepare Financial Features</a:t>
            </a:r>
          </a:p>
          <a:p>
            <a:pPr algn="l" marL="439829" indent="-219915" lvl="1">
              <a:lnSpc>
                <a:spcPts val="2852"/>
              </a:lnSpc>
              <a:buAutoNum type="arabicPeriod" startAt="1"/>
            </a:pPr>
            <a:r>
              <a:rPr lang="en-US" b="true" sz="2037">
                <a:solidFill>
                  <a:srgbClr val="FFFFFF"/>
                </a:solidFill>
                <a:latin typeface="Poppins Semi-Bold"/>
                <a:ea typeface="Poppins Semi-Bold"/>
                <a:cs typeface="Poppins Semi-Bold"/>
                <a:sym typeface="Poppins Semi-Bold"/>
              </a:rPr>
              <a:t>Analyse Stock Data with Global Indicators</a:t>
            </a:r>
          </a:p>
          <a:p>
            <a:pPr algn="l" marL="439829" indent="-219915" lvl="1">
              <a:lnSpc>
                <a:spcPts val="2852"/>
              </a:lnSpc>
              <a:buAutoNum type="arabicPeriod" startAt="1"/>
            </a:pPr>
            <a:r>
              <a:rPr lang="en-US" b="true" sz="2037">
                <a:solidFill>
                  <a:srgbClr val="FFFFFF"/>
                </a:solidFill>
                <a:latin typeface="Poppins Semi-Bold"/>
                <a:ea typeface="Poppins Semi-Bold"/>
                <a:cs typeface="Poppins Semi-Bold"/>
                <a:sym typeface="Poppins Semi-Bold"/>
              </a:rPr>
              <a:t>Train Random Forest Risk Classification Model</a:t>
            </a:r>
          </a:p>
          <a:p>
            <a:pPr algn="l" marL="439829" indent="-219915" lvl="1">
              <a:lnSpc>
                <a:spcPts val="2852"/>
              </a:lnSpc>
              <a:buAutoNum type="arabicPeriod" startAt="1"/>
            </a:pPr>
            <a:r>
              <a:rPr lang="en-US" b="true" sz="2037">
                <a:solidFill>
                  <a:srgbClr val="FFFFFF"/>
                </a:solidFill>
                <a:latin typeface="Poppins Semi-Bold"/>
                <a:ea typeface="Poppins Semi-Bold"/>
                <a:cs typeface="Poppins Semi-Bold"/>
                <a:sym typeface="Poppins Semi-Bold"/>
              </a:rPr>
              <a:t>Predict LOW, MEDIUM, HIGH Risk Levels</a:t>
            </a:r>
          </a:p>
          <a:p>
            <a:pPr algn="l" marL="439829" indent="-219915" lvl="1">
              <a:lnSpc>
                <a:spcPts val="2852"/>
              </a:lnSpc>
              <a:buAutoNum type="arabicPeriod" startAt="1"/>
            </a:pPr>
            <a:r>
              <a:rPr lang="en-US" b="true" sz="2037">
                <a:solidFill>
                  <a:srgbClr val="FFFFFF"/>
                </a:solidFill>
                <a:latin typeface="Poppins Semi-Bold"/>
                <a:ea typeface="Poppins Semi-Bold"/>
                <a:cs typeface="Poppins Semi-Bold"/>
                <a:sym typeface="Poppins Semi-Bold"/>
              </a:rPr>
              <a:t>Apply SHAP Explainable AI Analysis</a:t>
            </a:r>
          </a:p>
          <a:p>
            <a:pPr algn="l" marL="439829" indent="-219915" lvl="1">
              <a:lnSpc>
                <a:spcPts val="2852"/>
              </a:lnSpc>
              <a:buAutoNum type="arabicPeriod" startAt="1"/>
            </a:pPr>
            <a:r>
              <a:rPr lang="en-US" b="true" sz="2037">
                <a:solidFill>
                  <a:srgbClr val="FFFFFF"/>
                </a:solidFill>
                <a:latin typeface="Poppins Semi-Bold"/>
                <a:ea typeface="Poppins Semi-Bold"/>
                <a:cs typeface="Poppins Semi-Bold"/>
                <a:sym typeface="Poppins Semi-Bold"/>
              </a:rPr>
              <a:t>Generate User-Friendly Risk Insights.</a:t>
            </a:r>
          </a:p>
        </p:txBody>
      </p:sp>
      <p:grpSp>
        <p:nvGrpSpPr>
          <p:cNvPr name="Group 22" id="22"/>
          <p:cNvGrpSpPr/>
          <p:nvPr/>
        </p:nvGrpSpPr>
        <p:grpSpPr>
          <a:xfrm rot="0">
            <a:off x="6620928" y="1892947"/>
            <a:ext cx="5260586" cy="3191968"/>
            <a:chOff x="0" y="0"/>
            <a:chExt cx="1385504" cy="840683"/>
          </a:xfrm>
        </p:grpSpPr>
        <p:sp>
          <p:nvSpPr>
            <p:cNvPr name="Freeform 23" id="23"/>
            <p:cNvSpPr/>
            <p:nvPr/>
          </p:nvSpPr>
          <p:spPr>
            <a:xfrm flipH="false" flipV="false" rot="0">
              <a:off x="0" y="0"/>
              <a:ext cx="1385504" cy="840683"/>
            </a:xfrm>
            <a:custGeom>
              <a:avLst/>
              <a:gdLst/>
              <a:ahLst/>
              <a:cxnLst/>
              <a:rect r="r" b="b" t="t" l="l"/>
              <a:pathLst>
                <a:path h="840683" w="1385504">
                  <a:moveTo>
                    <a:pt x="75056" y="0"/>
                  </a:moveTo>
                  <a:lnTo>
                    <a:pt x="1310448" y="0"/>
                  </a:lnTo>
                  <a:cubicBezTo>
                    <a:pt x="1330354" y="0"/>
                    <a:pt x="1349445" y="7908"/>
                    <a:pt x="1363521" y="21983"/>
                  </a:cubicBezTo>
                  <a:cubicBezTo>
                    <a:pt x="1377597" y="36059"/>
                    <a:pt x="1385504" y="55150"/>
                    <a:pt x="1385504" y="75056"/>
                  </a:cubicBezTo>
                  <a:lnTo>
                    <a:pt x="1385504" y="765627"/>
                  </a:lnTo>
                  <a:cubicBezTo>
                    <a:pt x="1385504" y="785533"/>
                    <a:pt x="1377597" y="804624"/>
                    <a:pt x="1363521" y="818700"/>
                  </a:cubicBezTo>
                  <a:cubicBezTo>
                    <a:pt x="1349445" y="832775"/>
                    <a:pt x="1330354" y="840683"/>
                    <a:pt x="1310448" y="840683"/>
                  </a:cubicBezTo>
                  <a:lnTo>
                    <a:pt x="75056" y="840683"/>
                  </a:lnTo>
                  <a:cubicBezTo>
                    <a:pt x="55150" y="840683"/>
                    <a:pt x="36059" y="832775"/>
                    <a:pt x="21983" y="818700"/>
                  </a:cubicBezTo>
                  <a:cubicBezTo>
                    <a:pt x="7908" y="804624"/>
                    <a:pt x="0" y="785533"/>
                    <a:pt x="0" y="765627"/>
                  </a:cubicBezTo>
                  <a:lnTo>
                    <a:pt x="0" y="75056"/>
                  </a:lnTo>
                  <a:cubicBezTo>
                    <a:pt x="0" y="55150"/>
                    <a:pt x="7908" y="36059"/>
                    <a:pt x="21983" y="21983"/>
                  </a:cubicBezTo>
                  <a:cubicBezTo>
                    <a:pt x="36059" y="7908"/>
                    <a:pt x="55150" y="0"/>
                    <a:pt x="75056" y="0"/>
                  </a:cubicBezTo>
                  <a:close/>
                </a:path>
              </a:pathLst>
            </a:custGeom>
            <a:solidFill>
              <a:srgbClr val="134161">
                <a:alpha val="52941"/>
              </a:srgbClr>
            </a:solidFill>
            <a:ln w="38100" cap="rnd">
              <a:solidFill>
                <a:srgbClr val="FFFFFF">
                  <a:alpha val="52941"/>
                </a:srgbClr>
              </a:solidFill>
              <a:prstDash val="solid"/>
              <a:round/>
            </a:ln>
          </p:spPr>
        </p:sp>
        <p:sp>
          <p:nvSpPr>
            <p:cNvPr name="TextBox 24" id="24"/>
            <p:cNvSpPr txBox="true"/>
            <p:nvPr/>
          </p:nvSpPr>
          <p:spPr>
            <a:xfrm>
              <a:off x="0" y="-57150"/>
              <a:ext cx="1385504" cy="897833"/>
            </a:xfrm>
            <a:prstGeom prst="rect">
              <a:avLst/>
            </a:prstGeom>
          </p:spPr>
          <p:txBody>
            <a:bodyPr anchor="ctr" rtlCol="false" tIns="50800" lIns="50800" bIns="50800" rIns="50800"/>
            <a:lstStyle/>
            <a:p>
              <a:pPr algn="ctr">
                <a:lnSpc>
                  <a:spcPts val="2379"/>
                </a:lnSpc>
              </a:pPr>
            </a:p>
          </p:txBody>
        </p:sp>
      </p:grpSp>
      <p:sp>
        <p:nvSpPr>
          <p:cNvPr name="TextBox 25" id="25"/>
          <p:cNvSpPr txBox="true"/>
          <p:nvPr/>
        </p:nvSpPr>
        <p:spPr>
          <a:xfrm rot="0">
            <a:off x="6653477" y="2159145"/>
            <a:ext cx="5240139" cy="375286"/>
          </a:xfrm>
          <a:prstGeom prst="rect">
            <a:avLst/>
          </a:prstGeom>
        </p:spPr>
        <p:txBody>
          <a:bodyPr anchor="t" rtlCol="false" tIns="0" lIns="0" bIns="0" rIns="0">
            <a:spAutoFit/>
          </a:bodyPr>
          <a:lstStyle/>
          <a:p>
            <a:pPr algn="ctr">
              <a:lnSpc>
                <a:spcPts val="2939"/>
              </a:lnSpc>
              <a:spcBef>
                <a:spcPct val="0"/>
              </a:spcBef>
            </a:pPr>
            <a:r>
              <a:rPr lang="en-US" b="true" sz="2099">
                <a:solidFill>
                  <a:srgbClr val="FFFFFF"/>
                </a:solidFill>
                <a:latin typeface="Poppins Bold"/>
                <a:ea typeface="Poppins Bold"/>
                <a:cs typeface="Poppins Bold"/>
                <a:sym typeface="Poppins Bold"/>
              </a:rPr>
              <a:t>Solut</a:t>
            </a:r>
            <a:r>
              <a:rPr lang="en-US" b="true" sz="2099">
                <a:solidFill>
                  <a:srgbClr val="FFFFFF"/>
                </a:solidFill>
                <a:latin typeface="Poppins Bold"/>
                <a:ea typeface="Poppins Bold"/>
                <a:cs typeface="Poppins Bold"/>
                <a:sym typeface="Poppins Bold"/>
              </a:rPr>
              <a:t>ion Approach</a:t>
            </a:r>
          </a:p>
        </p:txBody>
      </p:sp>
      <p:sp>
        <p:nvSpPr>
          <p:cNvPr name="TextBox 26" id="26"/>
          <p:cNvSpPr txBox="true"/>
          <p:nvPr/>
        </p:nvSpPr>
        <p:spPr>
          <a:xfrm rot="0">
            <a:off x="6907410" y="2844055"/>
            <a:ext cx="4723257" cy="1785372"/>
          </a:xfrm>
          <a:prstGeom prst="rect">
            <a:avLst/>
          </a:prstGeom>
        </p:spPr>
        <p:txBody>
          <a:bodyPr anchor="t" rtlCol="false" tIns="0" lIns="0" bIns="0" rIns="0">
            <a:spAutoFit/>
          </a:bodyPr>
          <a:lstStyle/>
          <a:p>
            <a:pPr algn="ctr">
              <a:lnSpc>
                <a:spcPts val="2393"/>
              </a:lnSpc>
              <a:spcBef>
                <a:spcPct val="0"/>
              </a:spcBef>
            </a:pPr>
            <a:r>
              <a:rPr lang="en-US" sz="1709">
                <a:solidFill>
                  <a:srgbClr val="FFFFFF"/>
                </a:solidFill>
                <a:latin typeface="Poppins"/>
                <a:ea typeface="Poppins"/>
                <a:cs typeface="Poppins"/>
                <a:sym typeface="Poppins"/>
              </a:rPr>
              <a:t>Historical stock data and g</a:t>
            </a:r>
            <a:r>
              <a:rPr lang="en-US" sz="1709">
                <a:solidFill>
                  <a:srgbClr val="FFFFFF"/>
                </a:solidFill>
                <a:latin typeface="Poppins"/>
                <a:ea typeface="Poppins"/>
                <a:cs typeface="Poppins"/>
                <a:sym typeface="Poppins"/>
              </a:rPr>
              <a:t>lobal financial indicators (Gold, Oil, and VIX) are analysed using Machine Learning. A Random Forest model predicts stock risk levels, while SHAP Explainable AI identifies the key factors influencing each prediction.</a:t>
            </a:r>
          </a:p>
        </p:txBody>
      </p:sp>
      <p:grpSp>
        <p:nvGrpSpPr>
          <p:cNvPr name="Group 27" id="27"/>
          <p:cNvGrpSpPr/>
          <p:nvPr/>
        </p:nvGrpSpPr>
        <p:grpSpPr>
          <a:xfrm rot="0">
            <a:off x="12052964" y="1951532"/>
            <a:ext cx="5829399" cy="3191968"/>
            <a:chOff x="0" y="0"/>
            <a:chExt cx="1535315" cy="840683"/>
          </a:xfrm>
        </p:grpSpPr>
        <p:sp>
          <p:nvSpPr>
            <p:cNvPr name="Freeform 28" id="28"/>
            <p:cNvSpPr/>
            <p:nvPr/>
          </p:nvSpPr>
          <p:spPr>
            <a:xfrm flipH="false" flipV="false" rot="0">
              <a:off x="0" y="0"/>
              <a:ext cx="1535315" cy="840683"/>
            </a:xfrm>
            <a:custGeom>
              <a:avLst/>
              <a:gdLst/>
              <a:ahLst/>
              <a:cxnLst/>
              <a:rect r="r" b="b" t="t" l="l"/>
              <a:pathLst>
                <a:path h="840683" w="1535315">
                  <a:moveTo>
                    <a:pt x="67732" y="0"/>
                  </a:moveTo>
                  <a:lnTo>
                    <a:pt x="1467583" y="0"/>
                  </a:lnTo>
                  <a:cubicBezTo>
                    <a:pt x="1485546" y="0"/>
                    <a:pt x="1502774" y="7136"/>
                    <a:pt x="1515477" y="19838"/>
                  </a:cubicBezTo>
                  <a:cubicBezTo>
                    <a:pt x="1528179" y="32541"/>
                    <a:pt x="1535315" y="49768"/>
                    <a:pt x="1535315" y="67732"/>
                  </a:cubicBezTo>
                  <a:lnTo>
                    <a:pt x="1535315" y="772951"/>
                  </a:lnTo>
                  <a:cubicBezTo>
                    <a:pt x="1535315" y="810358"/>
                    <a:pt x="1504990" y="840683"/>
                    <a:pt x="1467583" y="840683"/>
                  </a:cubicBezTo>
                  <a:lnTo>
                    <a:pt x="67732" y="840683"/>
                  </a:lnTo>
                  <a:cubicBezTo>
                    <a:pt x="30325" y="840683"/>
                    <a:pt x="0" y="810358"/>
                    <a:pt x="0" y="772951"/>
                  </a:cubicBezTo>
                  <a:lnTo>
                    <a:pt x="0" y="67732"/>
                  </a:lnTo>
                  <a:cubicBezTo>
                    <a:pt x="0" y="30325"/>
                    <a:pt x="30325" y="0"/>
                    <a:pt x="67732" y="0"/>
                  </a:cubicBezTo>
                  <a:close/>
                </a:path>
              </a:pathLst>
            </a:custGeom>
            <a:solidFill>
              <a:srgbClr val="134161">
                <a:alpha val="52941"/>
              </a:srgbClr>
            </a:solidFill>
            <a:ln w="38100" cap="rnd">
              <a:solidFill>
                <a:srgbClr val="FFFFFF">
                  <a:alpha val="52941"/>
                </a:srgbClr>
              </a:solidFill>
              <a:prstDash val="solid"/>
              <a:round/>
            </a:ln>
          </p:spPr>
        </p:sp>
        <p:sp>
          <p:nvSpPr>
            <p:cNvPr name="TextBox 29" id="29"/>
            <p:cNvSpPr txBox="true"/>
            <p:nvPr/>
          </p:nvSpPr>
          <p:spPr>
            <a:xfrm>
              <a:off x="0" y="-57150"/>
              <a:ext cx="1535315" cy="897833"/>
            </a:xfrm>
            <a:prstGeom prst="rect">
              <a:avLst/>
            </a:prstGeom>
          </p:spPr>
          <p:txBody>
            <a:bodyPr anchor="ctr" rtlCol="false" tIns="50800" lIns="50800" bIns="50800" rIns="50800"/>
            <a:lstStyle/>
            <a:p>
              <a:pPr algn="ctr">
                <a:lnSpc>
                  <a:spcPts val="2379"/>
                </a:lnSpc>
              </a:pPr>
            </a:p>
          </p:txBody>
        </p:sp>
      </p:grpSp>
      <p:sp>
        <p:nvSpPr>
          <p:cNvPr name="TextBox 30" id="30"/>
          <p:cNvSpPr txBox="true"/>
          <p:nvPr/>
        </p:nvSpPr>
        <p:spPr>
          <a:xfrm rot="0">
            <a:off x="12055541" y="2159145"/>
            <a:ext cx="5240139" cy="375286"/>
          </a:xfrm>
          <a:prstGeom prst="rect">
            <a:avLst/>
          </a:prstGeom>
        </p:spPr>
        <p:txBody>
          <a:bodyPr anchor="t" rtlCol="false" tIns="0" lIns="0" bIns="0" rIns="0">
            <a:spAutoFit/>
          </a:bodyPr>
          <a:lstStyle/>
          <a:p>
            <a:pPr algn="ctr">
              <a:lnSpc>
                <a:spcPts val="2939"/>
              </a:lnSpc>
              <a:spcBef>
                <a:spcPct val="0"/>
              </a:spcBef>
            </a:pPr>
            <a:r>
              <a:rPr lang="en-US" b="true" sz="2099">
                <a:solidFill>
                  <a:srgbClr val="FFFFFF"/>
                </a:solidFill>
                <a:latin typeface="Poppins Bold"/>
                <a:ea typeface="Poppins Bold"/>
                <a:cs typeface="Poppins Bold"/>
                <a:sym typeface="Poppins Bold"/>
              </a:rPr>
              <a:t>Outputs</a:t>
            </a:r>
          </a:p>
        </p:txBody>
      </p:sp>
      <p:sp>
        <p:nvSpPr>
          <p:cNvPr name="TextBox 31" id="31"/>
          <p:cNvSpPr txBox="true"/>
          <p:nvPr/>
        </p:nvSpPr>
        <p:spPr>
          <a:xfrm rot="0">
            <a:off x="12220076" y="2921530"/>
            <a:ext cx="5528161" cy="1194822"/>
          </a:xfrm>
          <a:prstGeom prst="rect">
            <a:avLst/>
          </a:prstGeom>
        </p:spPr>
        <p:txBody>
          <a:bodyPr anchor="t" rtlCol="false" tIns="0" lIns="0" bIns="0" rIns="0">
            <a:spAutoFit/>
          </a:bodyPr>
          <a:lstStyle/>
          <a:p>
            <a:pPr algn="ctr">
              <a:lnSpc>
                <a:spcPts val="2393"/>
              </a:lnSpc>
              <a:spcBef>
                <a:spcPct val="0"/>
              </a:spcBef>
            </a:pPr>
            <a:r>
              <a:rPr lang="en-US" sz="1709">
                <a:solidFill>
                  <a:srgbClr val="FFFFFF"/>
                </a:solidFill>
                <a:latin typeface="Poppins"/>
                <a:ea typeface="Poppins"/>
                <a:cs typeface="Poppins"/>
                <a:sym typeface="Poppins"/>
              </a:rPr>
              <a:t>Stock risk classifica</a:t>
            </a:r>
            <a:r>
              <a:rPr lang="en-US" sz="1709">
                <a:solidFill>
                  <a:srgbClr val="FFFFFF"/>
                </a:solidFill>
                <a:latin typeface="Poppins"/>
                <a:ea typeface="Poppins"/>
                <a:cs typeface="Poppins"/>
                <a:sym typeface="Poppins"/>
              </a:rPr>
              <a:t>tion (LOW, MEDIUM, HIGH); SHAP-based feature explanations; key risk factors; and user-friendly financial risk insights displayed through the dashboard.</a:t>
            </a:r>
          </a:p>
        </p:txBody>
      </p:sp>
      <p:sp>
        <p:nvSpPr>
          <p:cNvPr name="TextBox 32" id="32"/>
          <p:cNvSpPr txBox="true"/>
          <p:nvPr/>
        </p:nvSpPr>
        <p:spPr>
          <a:xfrm rot="0">
            <a:off x="9144000" y="6305550"/>
            <a:ext cx="8011758" cy="3516531"/>
          </a:xfrm>
          <a:prstGeom prst="rect">
            <a:avLst/>
          </a:prstGeom>
        </p:spPr>
        <p:txBody>
          <a:bodyPr anchor="t" rtlCol="false" tIns="0" lIns="0" bIns="0" rIns="0">
            <a:spAutoFit/>
          </a:bodyPr>
          <a:lstStyle/>
          <a:p>
            <a:pPr algn="l">
              <a:lnSpc>
                <a:spcPts val="3079"/>
              </a:lnSpc>
            </a:pPr>
            <a:r>
              <a:rPr lang="en-US" sz="2199" b="true">
                <a:solidFill>
                  <a:srgbClr val="FFFFFF"/>
                </a:solidFill>
                <a:latin typeface="Poppins Bold"/>
                <a:ea typeface="Poppins Bold"/>
                <a:cs typeface="Poppins Bold"/>
                <a:sym typeface="Poppins Bold"/>
              </a:rPr>
              <a:t>Random Forest Classifier Performance</a:t>
            </a:r>
          </a:p>
          <a:p>
            <a:pPr algn="l" marL="474975" indent="-237487" lvl="1">
              <a:lnSpc>
                <a:spcPts val="3079"/>
              </a:lnSpc>
              <a:buFont typeface="Arial"/>
              <a:buChar char="•"/>
            </a:pPr>
            <a:r>
              <a:rPr lang="en-US" b="true" sz="2199">
                <a:solidFill>
                  <a:srgbClr val="FFFFFF"/>
                </a:solidFill>
                <a:latin typeface="Poppins Bold"/>
                <a:ea typeface="Poppins Bold"/>
                <a:cs typeface="Poppins Bold"/>
                <a:sym typeface="Poppins Bold"/>
              </a:rPr>
              <a:t>Accuracy</a:t>
            </a:r>
            <a:r>
              <a:rPr lang="en-US" b="true" sz="2199">
                <a:solidFill>
                  <a:srgbClr val="FFFFFF"/>
                </a:solidFill>
                <a:latin typeface="Poppins Bold"/>
                <a:ea typeface="Poppins Bold"/>
                <a:cs typeface="Poppins Bold"/>
                <a:sym typeface="Poppins Bold"/>
              </a:rPr>
              <a:t> – Overall correct predictions.</a:t>
            </a:r>
          </a:p>
          <a:p>
            <a:pPr algn="l" marL="474975" indent="-237487" lvl="1">
              <a:lnSpc>
                <a:spcPts val="3079"/>
              </a:lnSpc>
              <a:buFont typeface="Arial"/>
              <a:buChar char="•"/>
            </a:pPr>
            <a:r>
              <a:rPr lang="en-US" b="true" sz="2199">
                <a:solidFill>
                  <a:srgbClr val="FFFFFF"/>
                </a:solidFill>
                <a:latin typeface="Poppins Bold"/>
                <a:ea typeface="Poppins Bold"/>
                <a:cs typeface="Poppins Bold"/>
                <a:sym typeface="Poppins Bold"/>
              </a:rPr>
              <a:t>Precision</a:t>
            </a:r>
            <a:r>
              <a:rPr lang="en-US" b="true" sz="2199">
                <a:solidFill>
                  <a:srgbClr val="FFFFFF"/>
                </a:solidFill>
                <a:latin typeface="Poppins Bold"/>
                <a:ea typeface="Poppins Bold"/>
                <a:cs typeface="Poppins Bold"/>
                <a:sym typeface="Poppins Bold"/>
              </a:rPr>
              <a:t> – Correctness of predicted risk classes.</a:t>
            </a:r>
          </a:p>
          <a:p>
            <a:pPr algn="l" marL="474975" indent="-237487" lvl="1">
              <a:lnSpc>
                <a:spcPts val="3079"/>
              </a:lnSpc>
              <a:buFont typeface="Arial"/>
              <a:buChar char="•"/>
            </a:pPr>
            <a:r>
              <a:rPr lang="en-US" b="true" sz="2199">
                <a:solidFill>
                  <a:srgbClr val="FFFFFF"/>
                </a:solidFill>
                <a:latin typeface="Poppins Bold"/>
                <a:ea typeface="Poppins Bold"/>
                <a:cs typeface="Poppins Bold"/>
                <a:sym typeface="Poppins Bold"/>
              </a:rPr>
              <a:t>Recall</a:t>
            </a:r>
            <a:r>
              <a:rPr lang="en-US" b="true" sz="2199">
                <a:solidFill>
                  <a:srgbClr val="FFFFFF"/>
                </a:solidFill>
                <a:latin typeface="Poppins Bold"/>
                <a:ea typeface="Poppins Bold"/>
                <a:cs typeface="Poppins Bold"/>
                <a:sym typeface="Poppins Bold"/>
              </a:rPr>
              <a:t> – Ability to identify actual risk cases.</a:t>
            </a:r>
          </a:p>
          <a:p>
            <a:pPr algn="l" marL="474975" indent="-237487" lvl="1">
              <a:lnSpc>
                <a:spcPts val="3079"/>
              </a:lnSpc>
              <a:buFont typeface="Arial"/>
              <a:buChar char="•"/>
            </a:pPr>
            <a:r>
              <a:rPr lang="en-US" b="true" sz="2199">
                <a:solidFill>
                  <a:srgbClr val="FFFFFF"/>
                </a:solidFill>
                <a:latin typeface="Poppins Bold"/>
                <a:ea typeface="Poppins Bold"/>
                <a:cs typeface="Poppins Bold"/>
                <a:sym typeface="Poppins Bold"/>
              </a:rPr>
              <a:t>F1-score – Balance between precision and recall.</a:t>
            </a:r>
          </a:p>
          <a:p>
            <a:pPr algn="l" marL="474975" indent="-237487" lvl="1">
              <a:lnSpc>
                <a:spcPts val="3079"/>
              </a:lnSpc>
              <a:buFont typeface="Arial"/>
              <a:buChar char="•"/>
            </a:pPr>
            <a:r>
              <a:rPr lang="en-US" b="true" sz="2199">
                <a:solidFill>
                  <a:srgbClr val="FFFFFF"/>
                </a:solidFill>
                <a:latin typeface="Poppins Bold"/>
                <a:ea typeface="Poppins Bold"/>
                <a:cs typeface="Poppins Bold"/>
                <a:sym typeface="Poppins Bold"/>
              </a:rPr>
              <a:t> </a:t>
            </a:r>
            <a:r>
              <a:rPr lang="en-US" b="true" sz="2199">
                <a:solidFill>
                  <a:srgbClr val="FFFFFF"/>
                </a:solidFill>
                <a:latin typeface="Poppins Bold"/>
                <a:ea typeface="Poppins Bold"/>
                <a:cs typeface="Poppins Bold"/>
                <a:sym typeface="Poppins Bold"/>
              </a:rPr>
              <a:t>Confusion Matrix</a:t>
            </a:r>
          </a:p>
          <a:p>
            <a:pPr algn="l">
              <a:lnSpc>
                <a:spcPts val="3079"/>
              </a:lnSpc>
            </a:pPr>
            <a:r>
              <a:rPr lang="en-US" b="true" sz="2199">
                <a:solidFill>
                  <a:srgbClr val="FFFFFF"/>
                </a:solidFill>
                <a:latin typeface="Poppins Bold"/>
                <a:ea typeface="Poppins Bold"/>
                <a:cs typeface="Poppins Bold"/>
                <a:sym typeface="Poppins Bold"/>
              </a:rPr>
              <a:t>Evaluates the model's ability to classify stock risk into Low, Medium, and High categories.</a:t>
            </a:r>
          </a:p>
          <a:p>
            <a:pPr algn="l">
              <a:lnSpc>
                <a:spcPts val="307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DAHT9sV2RX0</dc:identifier>
  <dcterms:modified xsi:type="dcterms:W3CDTF">2011-08-01T06:04:30Z</dcterms:modified>
  <cp:revision>1</cp:revision>
  <dc:title>Blue Modern Stock Market Presentation</dc:title>
</cp:coreProperties>
</file>